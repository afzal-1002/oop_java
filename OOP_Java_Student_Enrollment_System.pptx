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4" r:id="rId28"/>
    <p:sldId id="285" r:id="rId29"/>
    <p:sldId id="286" r:id="rId30"/>
    <p:sldId id="283" r:id="rId31"/>
    <p:sldId id="288" r:id="rId32"/>
    <p:sldId id="289" r:id="rId33"/>
    <p:sldId id="290" r:id="rId34"/>
    <p:sldId id="291"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1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8971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8906397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afzal-1002/OOP_JAVA"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5193B"/>
          </a:solidFill>
          <a:ln/>
        </p:spPr>
        <p:txBody>
          <a:bodyPr/>
          <a:lstStyle/>
          <a:p>
            <a:endParaRPr lang="en-US"/>
          </a:p>
        </p:txBody>
      </p:sp>
      <p:sp>
        <p:nvSpPr>
          <p:cNvPr id="3" name="Shape 1"/>
          <p:cNvSpPr/>
          <p:nvPr/>
        </p:nvSpPr>
        <p:spPr>
          <a:xfrm>
            <a:off x="-1280160" y="4754880"/>
            <a:ext cx="3291840" cy="3291840"/>
          </a:xfrm>
          <a:prstGeom prst="ellipse">
            <a:avLst/>
          </a:prstGeom>
          <a:solidFill>
            <a:srgbClr val="15193B"/>
          </a:solidFill>
          <a:ln/>
        </p:spPr>
        <p:txBody>
          <a:bodyPr/>
          <a:lstStyle/>
          <a:p>
            <a:endParaRPr lang="en-US"/>
          </a:p>
        </p:txBody>
      </p:sp>
      <p:sp>
        <p:nvSpPr>
          <p:cNvPr id="4" name="Text 2"/>
          <p:cNvSpPr txBox="1"/>
          <p:nvPr/>
        </p:nvSpPr>
        <p:spPr>
          <a:xfrm>
            <a:off x="777240" y="502920"/>
            <a:ext cx="91440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JAVA · OBJECT-ORIENTED PROGRAMMING</a:t>
            </a:r>
            <a:endParaRPr lang="en-US" sz="1400" dirty="0"/>
          </a:p>
        </p:txBody>
      </p:sp>
      <p:sp>
        <p:nvSpPr>
          <p:cNvPr id="5" name="Text 3"/>
          <p:cNvSpPr txBox="1"/>
          <p:nvPr/>
        </p:nvSpPr>
        <p:spPr>
          <a:xfrm>
            <a:off x="731520" y="868680"/>
            <a:ext cx="10515600" cy="91440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Mastering OOP</a:t>
            </a:r>
            <a:endParaRPr lang="en-US" sz="4200" dirty="0"/>
          </a:p>
        </p:txBody>
      </p:sp>
      <p:sp>
        <p:nvSpPr>
          <p:cNvPr id="6" name="Shape 4"/>
          <p:cNvSpPr/>
          <p:nvPr/>
        </p:nvSpPr>
        <p:spPr>
          <a:xfrm>
            <a:off x="777240" y="28803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7" name="Text 5"/>
          <p:cNvSpPr txBox="1"/>
          <p:nvPr/>
        </p:nvSpPr>
        <p:spPr>
          <a:xfrm>
            <a:off x="1005840" y="30632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645920" y="30632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Encapsulation</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Guard an object's data behind the methods it controls.</a:t>
            </a:r>
            <a:endParaRPr lang="en-US" sz="1800" dirty="0"/>
          </a:p>
        </p:txBody>
      </p:sp>
      <p:sp>
        <p:nvSpPr>
          <p:cNvPr id="9" name="Shape 7"/>
          <p:cNvSpPr/>
          <p:nvPr/>
        </p:nvSpPr>
        <p:spPr>
          <a:xfrm>
            <a:off x="6309360" y="2880360"/>
            <a:ext cx="5074920" cy="1417320"/>
          </a:xfrm>
          <a:prstGeom prst="roundRect">
            <a:avLst>
              <a:gd name="adj" fmla="val 5161"/>
            </a:avLst>
          </a:prstGeom>
          <a:solidFill>
            <a:srgbClr val="15193B"/>
          </a:solidFill>
          <a:ln w="12700">
            <a:solidFill>
              <a:srgbClr val="3A4593"/>
            </a:solidFill>
            <a:prstDash val="dash"/>
          </a:ln>
        </p:spPr>
        <p:txBody>
          <a:bodyPr/>
          <a:lstStyle/>
          <a:p>
            <a:endParaRPr lang="en-US"/>
          </a:p>
        </p:txBody>
      </p:sp>
      <p:sp>
        <p:nvSpPr>
          <p:cNvPr id="10" name="Shape 8"/>
          <p:cNvSpPr/>
          <p:nvPr/>
        </p:nvSpPr>
        <p:spPr>
          <a:xfrm>
            <a:off x="777240" y="4709160"/>
            <a:ext cx="5074920" cy="1417320"/>
          </a:xfrm>
          <a:prstGeom prst="roundRect">
            <a:avLst>
              <a:gd name="adj" fmla="val 5161"/>
            </a:avLst>
          </a:prstGeom>
          <a:solidFill>
            <a:srgbClr val="15193B"/>
          </a:solidFill>
          <a:ln w="12700">
            <a:solidFill>
              <a:srgbClr val="3A4593"/>
            </a:solidFill>
            <a:prstDash val="dash"/>
          </a:ln>
        </p:spPr>
        <p:txBody>
          <a:bodyPr/>
          <a:lstStyle/>
          <a:p>
            <a:endParaRPr lang="en-US"/>
          </a:p>
        </p:txBody>
      </p:sp>
      <p:sp>
        <p:nvSpPr>
          <p:cNvPr id="11" name="Shape 9"/>
          <p:cNvSpPr/>
          <p:nvPr/>
        </p:nvSpPr>
        <p:spPr>
          <a:xfrm>
            <a:off x="6309360" y="4709160"/>
            <a:ext cx="5074920" cy="1417320"/>
          </a:xfrm>
          <a:prstGeom prst="roundRect">
            <a:avLst>
              <a:gd name="adj" fmla="val 5161"/>
            </a:avLst>
          </a:prstGeom>
          <a:solidFill>
            <a:srgbClr val="15193B"/>
          </a:solidFill>
          <a:ln w="12700">
            <a:solidFill>
              <a:srgbClr val="3A4593"/>
            </a:solidFill>
            <a:prstDash val="dash"/>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5193B"/>
          </a:solidFill>
          <a:ln/>
        </p:spPr>
        <p:txBody>
          <a:bodyPr/>
          <a:lstStyle/>
          <a:p>
            <a:endParaRPr lang="en-US"/>
          </a:p>
        </p:txBody>
      </p:sp>
      <p:sp>
        <p:nvSpPr>
          <p:cNvPr id="3" name="Shape 1"/>
          <p:cNvSpPr/>
          <p:nvPr/>
        </p:nvSpPr>
        <p:spPr>
          <a:xfrm>
            <a:off x="-1280160" y="4754880"/>
            <a:ext cx="3291840" cy="3291840"/>
          </a:xfrm>
          <a:prstGeom prst="ellipse">
            <a:avLst/>
          </a:prstGeom>
          <a:solidFill>
            <a:srgbClr val="15193B"/>
          </a:solidFill>
          <a:ln/>
        </p:spPr>
        <p:txBody>
          <a:bodyPr/>
          <a:lstStyle/>
          <a:p>
            <a:endParaRPr lang="en-US"/>
          </a:p>
        </p:txBody>
      </p:sp>
      <p:sp>
        <p:nvSpPr>
          <p:cNvPr id="4" name="Text 2"/>
          <p:cNvSpPr txBox="1"/>
          <p:nvPr/>
        </p:nvSpPr>
        <p:spPr>
          <a:xfrm>
            <a:off x="777240" y="502920"/>
            <a:ext cx="91440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JAVA · OBJECT-ORIENTED PROGRAMMING</a:t>
            </a:r>
            <a:endParaRPr lang="en-US" sz="1400" dirty="0"/>
          </a:p>
        </p:txBody>
      </p:sp>
      <p:sp>
        <p:nvSpPr>
          <p:cNvPr id="5" name="Text 3"/>
          <p:cNvSpPr txBox="1"/>
          <p:nvPr/>
        </p:nvSpPr>
        <p:spPr>
          <a:xfrm>
            <a:off x="731520" y="868680"/>
            <a:ext cx="10515600" cy="91440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Mastering OOP</a:t>
            </a:r>
            <a:endParaRPr lang="en-US" sz="4200" dirty="0"/>
          </a:p>
        </p:txBody>
      </p:sp>
      <p:sp>
        <p:nvSpPr>
          <p:cNvPr id="6" name="Shape 4"/>
          <p:cNvSpPr/>
          <p:nvPr/>
        </p:nvSpPr>
        <p:spPr>
          <a:xfrm>
            <a:off x="777240" y="28803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7" name="Text 5"/>
          <p:cNvSpPr txBox="1"/>
          <p:nvPr/>
        </p:nvSpPr>
        <p:spPr>
          <a:xfrm>
            <a:off x="1005840" y="30632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645920" y="30632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Encapsulation</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Guard an object's data behind the methods it controls.</a:t>
            </a:r>
            <a:endParaRPr lang="en-US" sz="1800" dirty="0"/>
          </a:p>
        </p:txBody>
      </p:sp>
      <p:sp>
        <p:nvSpPr>
          <p:cNvPr id="9" name="Shape 7"/>
          <p:cNvSpPr/>
          <p:nvPr/>
        </p:nvSpPr>
        <p:spPr>
          <a:xfrm>
            <a:off x="6309360" y="28803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10" name="Text 8"/>
          <p:cNvSpPr txBox="1"/>
          <p:nvPr/>
        </p:nvSpPr>
        <p:spPr>
          <a:xfrm>
            <a:off x="6537960" y="30632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7178040" y="30632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Inheritance</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Reuse and specialize behavior from a parent class.</a:t>
            </a:r>
            <a:endParaRPr lang="en-US" sz="1800" dirty="0"/>
          </a:p>
        </p:txBody>
      </p:sp>
      <p:sp>
        <p:nvSpPr>
          <p:cNvPr id="12" name="Shape 10"/>
          <p:cNvSpPr/>
          <p:nvPr/>
        </p:nvSpPr>
        <p:spPr>
          <a:xfrm>
            <a:off x="777240" y="4709160"/>
            <a:ext cx="5074920" cy="1417320"/>
          </a:xfrm>
          <a:prstGeom prst="roundRect">
            <a:avLst>
              <a:gd name="adj" fmla="val 5161"/>
            </a:avLst>
          </a:prstGeom>
          <a:solidFill>
            <a:srgbClr val="15193B"/>
          </a:solidFill>
          <a:ln w="12700">
            <a:solidFill>
              <a:srgbClr val="3A4593"/>
            </a:solidFill>
            <a:prstDash val="dash"/>
          </a:ln>
        </p:spPr>
        <p:txBody>
          <a:bodyPr/>
          <a:lstStyle/>
          <a:p>
            <a:endParaRPr lang="en-US"/>
          </a:p>
        </p:txBody>
      </p:sp>
      <p:sp>
        <p:nvSpPr>
          <p:cNvPr id="13" name="Shape 11"/>
          <p:cNvSpPr/>
          <p:nvPr/>
        </p:nvSpPr>
        <p:spPr>
          <a:xfrm>
            <a:off x="6309360" y="4709160"/>
            <a:ext cx="5074920" cy="1417320"/>
          </a:xfrm>
          <a:prstGeom prst="roundRect">
            <a:avLst>
              <a:gd name="adj" fmla="val 5161"/>
            </a:avLst>
          </a:prstGeom>
          <a:solidFill>
            <a:srgbClr val="15193B"/>
          </a:solidFill>
          <a:ln w="12700">
            <a:solidFill>
              <a:srgbClr val="3A4593"/>
            </a:solidFill>
            <a:prstDash val="dash"/>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5193B"/>
          </a:solidFill>
          <a:ln/>
        </p:spPr>
        <p:txBody>
          <a:bodyPr/>
          <a:lstStyle/>
          <a:p>
            <a:endParaRPr lang="en-US"/>
          </a:p>
        </p:txBody>
      </p:sp>
      <p:sp>
        <p:nvSpPr>
          <p:cNvPr id="3" name="Shape 1"/>
          <p:cNvSpPr/>
          <p:nvPr/>
        </p:nvSpPr>
        <p:spPr>
          <a:xfrm>
            <a:off x="-1280160" y="4754880"/>
            <a:ext cx="3291840" cy="3291840"/>
          </a:xfrm>
          <a:prstGeom prst="ellipse">
            <a:avLst/>
          </a:prstGeom>
          <a:solidFill>
            <a:srgbClr val="15193B"/>
          </a:solidFill>
          <a:ln/>
        </p:spPr>
        <p:txBody>
          <a:bodyPr/>
          <a:lstStyle/>
          <a:p>
            <a:endParaRPr lang="en-US"/>
          </a:p>
        </p:txBody>
      </p:sp>
      <p:sp>
        <p:nvSpPr>
          <p:cNvPr id="4" name="Text 2"/>
          <p:cNvSpPr txBox="1"/>
          <p:nvPr/>
        </p:nvSpPr>
        <p:spPr>
          <a:xfrm>
            <a:off x="777240" y="502920"/>
            <a:ext cx="91440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JAVA · OBJECT-ORIENTED PROGRAMMING</a:t>
            </a:r>
            <a:endParaRPr lang="en-US" sz="1400" dirty="0"/>
          </a:p>
        </p:txBody>
      </p:sp>
      <p:sp>
        <p:nvSpPr>
          <p:cNvPr id="5" name="Text 3"/>
          <p:cNvSpPr txBox="1"/>
          <p:nvPr/>
        </p:nvSpPr>
        <p:spPr>
          <a:xfrm>
            <a:off x="731520" y="868680"/>
            <a:ext cx="10515600" cy="91440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Mastering OOP</a:t>
            </a:r>
            <a:endParaRPr lang="en-US" sz="4200" dirty="0"/>
          </a:p>
        </p:txBody>
      </p:sp>
      <p:sp>
        <p:nvSpPr>
          <p:cNvPr id="6" name="Shape 4"/>
          <p:cNvSpPr/>
          <p:nvPr/>
        </p:nvSpPr>
        <p:spPr>
          <a:xfrm>
            <a:off x="777240" y="28803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7" name="Text 5"/>
          <p:cNvSpPr txBox="1"/>
          <p:nvPr/>
        </p:nvSpPr>
        <p:spPr>
          <a:xfrm>
            <a:off x="1005840" y="30632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645920" y="30632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Encapsulation</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Guard an object's data behind the methods it controls.</a:t>
            </a:r>
            <a:endParaRPr lang="en-US" sz="1800" dirty="0"/>
          </a:p>
        </p:txBody>
      </p:sp>
      <p:sp>
        <p:nvSpPr>
          <p:cNvPr id="9" name="Shape 7"/>
          <p:cNvSpPr/>
          <p:nvPr/>
        </p:nvSpPr>
        <p:spPr>
          <a:xfrm>
            <a:off x="6309360" y="28803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10" name="Text 8"/>
          <p:cNvSpPr txBox="1"/>
          <p:nvPr/>
        </p:nvSpPr>
        <p:spPr>
          <a:xfrm>
            <a:off x="6537960" y="30632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7178040" y="30632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Inheritance</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Reuse and specialize behavior from a parent class.</a:t>
            </a:r>
            <a:endParaRPr lang="en-US" sz="1800" dirty="0"/>
          </a:p>
        </p:txBody>
      </p:sp>
      <p:sp>
        <p:nvSpPr>
          <p:cNvPr id="12" name="Shape 10"/>
          <p:cNvSpPr/>
          <p:nvPr/>
        </p:nvSpPr>
        <p:spPr>
          <a:xfrm>
            <a:off x="777240" y="47091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13" name="Text 11"/>
          <p:cNvSpPr txBox="1"/>
          <p:nvPr/>
        </p:nvSpPr>
        <p:spPr>
          <a:xfrm>
            <a:off x="1005840" y="48920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645920" y="48920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Polymorphism</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One method call, many behaviors, decided at runtime.</a:t>
            </a:r>
            <a:endParaRPr lang="en-US" sz="1800" dirty="0"/>
          </a:p>
        </p:txBody>
      </p:sp>
      <p:sp>
        <p:nvSpPr>
          <p:cNvPr id="15" name="Shape 13"/>
          <p:cNvSpPr/>
          <p:nvPr/>
        </p:nvSpPr>
        <p:spPr>
          <a:xfrm>
            <a:off x="6309360" y="4709160"/>
            <a:ext cx="5074920" cy="1417320"/>
          </a:xfrm>
          <a:prstGeom prst="roundRect">
            <a:avLst>
              <a:gd name="adj" fmla="val 5161"/>
            </a:avLst>
          </a:prstGeom>
          <a:solidFill>
            <a:srgbClr val="15193B"/>
          </a:solidFill>
          <a:ln w="12700">
            <a:solidFill>
              <a:srgbClr val="3A4593"/>
            </a:solidFill>
            <a:prstDash val="dash"/>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5193B"/>
          </a:solidFill>
          <a:ln/>
        </p:spPr>
        <p:txBody>
          <a:bodyPr/>
          <a:lstStyle/>
          <a:p>
            <a:endParaRPr lang="en-US"/>
          </a:p>
        </p:txBody>
      </p:sp>
      <p:sp>
        <p:nvSpPr>
          <p:cNvPr id="3" name="Shape 1"/>
          <p:cNvSpPr/>
          <p:nvPr/>
        </p:nvSpPr>
        <p:spPr>
          <a:xfrm>
            <a:off x="-1280160" y="4754880"/>
            <a:ext cx="3291840" cy="3291840"/>
          </a:xfrm>
          <a:prstGeom prst="ellipse">
            <a:avLst/>
          </a:prstGeom>
          <a:solidFill>
            <a:srgbClr val="15193B"/>
          </a:solidFill>
          <a:ln/>
        </p:spPr>
        <p:txBody>
          <a:bodyPr/>
          <a:lstStyle/>
          <a:p>
            <a:endParaRPr lang="en-US"/>
          </a:p>
        </p:txBody>
      </p:sp>
      <p:sp>
        <p:nvSpPr>
          <p:cNvPr id="4" name="Text 2"/>
          <p:cNvSpPr txBox="1"/>
          <p:nvPr/>
        </p:nvSpPr>
        <p:spPr>
          <a:xfrm>
            <a:off x="777240" y="502920"/>
            <a:ext cx="91440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JAVA · OBJECT-ORIENTED PROGRAMMING</a:t>
            </a:r>
            <a:endParaRPr lang="en-US" sz="1400" dirty="0"/>
          </a:p>
        </p:txBody>
      </p:sp>
      <p:sp>
        <p:nvSpPr>
          <p:cNvPr id="5" name="Text 3"/>
          <p:cNvSpPr txBox="1"/>
          <p:nvPr/>
        </p:nvSpPr>
        <p:spPr>
          <a:xfrm>
            <a:off x="731520" y="868680"/>
            <a:ext cx="10515600" cy="91440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Mastering OOP</a:t>
            </a:r>
            <a:endParaRPr lang="en-US" sz="4200" dirty="0"/>
          </a:p>
        </p:txBody>
      </p:sp>
      <p:sp>
        <p:nvSpPr>
          <p:cNvPr id="6" name="Shape 4"/>
          <p:cNvSpPr/>
          <p:nvPr/>
        </p:nvSpPr>
        <p:spPr>
          <a:xfrm>
            <a:off x="777240" y="28803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7" name="Text 5"/>
          <p:cNvSpPr txBox="1"/>
          <p:nvPr/>
        </p:nvSpPr>
        <p:spPr>
          <a:xfrm>
            <a:off x="1005840" y="30632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1</a:t>
            </a:r>
            <a:endParaRPr lang="en-US" sz="2200" dirty="0"/>
          </a:p>
        </p:txBody>
      </p:sp>
      <p:sp>
        <p:nvSpPr>
          <p:cNvPr id="8" name="Text 6"/>
          <p:cNvSpPr txBox="1"/>
          <p:nvPr/>
        </p:nvSpPr>
        <p:spPr>
          <a:xfrm>
            <a:off x="1645920" y="30632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Encapsulation</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Guard an object's data behind the methods it controls.</a:t>
            </a:r>
            <a:endParaRPr lang="en-US" sz="1800" dirty="0"/>
          </a:p>
        </p:txBody>
      </p:sp>
      <p:sp>
        <p:nvSpPr>
          <p:cNvPr id="9" name="Shape 7"/>
          <p:cNvSpPr/>
          <p:nvPr/>
        </p:nvSpPr>
        <p:spPr>
          <a:xfrm>
            <a:off x="6309360" y="28803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10" name="Text 8"/>
          <p:cNvSpPr txBox="1"/>
          <p:nvPr/>
        </p:nvSpPr>
        <p:spPr>
          <a:xfrm>
            <a:off x="6537960" y="30632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7178040" y="30632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Inheritance</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Reuse and specialize behavior from a parent class.</a:t>
            </a:r>
            <a:endParaRPr lang="en-US" sz="1800" dirty="0"/>
          </a:p>
        </p:txBody>
      </p:sp>
      <p:sp>
        <p:nvSpPr>
          <p:cNvPr id="12" name="Shape 10"/>
          <p:cNvSpPr/>
          <p:nvPr/>
        </p:nvSpPr>
        <p:spPr>
          <a:xfrm>
            <a:off x="777240" y="47091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13" name="Text 11"/>
          <p:cNvSpPr txBox="1"/>
          <p:nvPr/>
        </p:nvSpPr>
        <p:spPr>
          <a:xfrm>
            <a:off x="1005840" y="48920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1645920" y="48920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Polymorphism</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One method call, many behaviors, decided at runtime.</a:t>
            </a:r>
            <a:endParaRPr lang="en-US" sz="1800" dirty="0"/>
          </a:p>
        </p:txBody>
      </p:sp>
      <p:sp>
        <p:nvSpPr>
          <p:cNvPr id="15" name="Shape 13"/>
          <p:cNvSpPr/>
          <p:nvPr/>
        </p:nvSpPr>
        <p:spPr>
          <a:xfrm>
            <a:off x="6309360" y="4709160"/>
            <a:ext cx="5074920" cy="1417320"/>
          </a:xfrm>
          <a:prstGeom prst="roundRect">
            <a:avLst>
              <a:gd name="adj" fmla="val 5161"/>
            </a:avLst>
          </a:prstGeom>
          <a:solidFill>
            <a:srgbClr val="15193B"/>
          </a:solidFill>
          <a:ln w="12700">
            <a:solidFill>
              <a:srgbClr val="F2A65A"/>
            </a:solidFill>
            <a:prstDash val="solid"/>
          </a:ln>
        </p:spPr>
        <p:txBody>
          <a:bodyPr/>
          <a:lstStyle/>
          <a:p>
            <a:endParaRPr lang="en-US"/>
          </a:p>
        </p:txBody>
      </p:sp>
      <p:sp>
        <p:nvSpPr>
          <p:cNvPr id="16" name="Text 14"/>
          <p:cNvSpPr txBox="1"/>
          <p:nvPr/>
        </p:nvSpPr>
        <p:spPr>
          <a:xfrm>
            <a:off x="6537960" y="4892040"/>
            <a:ext cx="548640" cy="548640"/>
          </a:xfrm>
          <a:prstGeom prst="rect">
            <a:avLst/>
          </a:prstGeom>
          <a:noFill/>
          <a:ln/>
        </p:spPr>
        <p:txBody>
          <a:bodyPr wrap="square" lIns="0" tIns="0" rIns="0" bIns="0" rtlCol="0" anchor="ctr"/>
          <a:lstStyle/>
          <a:p>
            <a:pPr marL="0" indent="0">
              <a:buNone/>
            </a:pPr>
            <a:r>
              <a:rPr lang="en-US" sz="2200" b="1" dirty="0">
                <a:solidFill>
                  <a:srgbClr val="F2A65A"/>
                </a:solidFill>
                <a:latin typeface="Cambria" pitchFamily="34" charset="0"/>
                <a:ea typeface="Cambria" pitchFamily="34" charset="-122"/>
                <a:cs typeface="Cambria" pitchFamily="34" charset="-120"/>
              </a:rPr>
              <a:t>4</a:t>
            </a:r>
            <a:endParaRPr lang="en-US" sz="2200" dirty="0"/>
          </a:p>
        </p:txBody>
      </p:sp>
      <p:sp>
        <p:nvSpPr>
          <p:cNvPr id="17" name="Text 15"/>
          <p:cNvSpPr txBox="1"/>
          <p:nvPr/>
        </p:nvSpPr>
        <p:spPr>
          <a:xfrm>
            <a:off x="7178040" y="4892040"/>
            <a:ext cx="3977640" cy="1051560"/>
          </a:xfrm>
          <a:prstGeom prst="rect">
            <a:avLst/>
          </a:prstGeom>
          <a:noFill/>
          <a:ln/>
        </p:spPr>
        <p:txBody>
          <a:bodyPr wrap="square" lIns="0" tIns="0" rIns="0" bIns="0" rtlCol="0" anchor="t"/>
          <a:lstStyle/>
          <a:p>
            <a:pPr marL="0" indent="0">
              <a:lnSpc>
                <a:spcPct val="115000"/>
              </a:lnSpc>
              <a:buNone/>
            </a:pPr>
            <a:r>
              <a:rPr lang="en-US" sz="1800" b="1" dirty="0">
                <a:solidFill>
                  <a:srgbClr val="FFFFFF"/>
                </a:solidFill>
                <a:latin typeface="Calibri" pitchFamily="34" charset="0"/>
                <a:ea typeface="Calibri" pitchFamily="34" charset="-122"/>
                <a:cs typeface="Calibri" pitchFamily="34" charset="-120"/>
              </a:rPr>
              <a:t>Abstraction</a:t>
            </a:r>
            <a:endParaRPr lang="en-US" sz="1800" dirty="0"/>
          </a:p>
          <a:p>
            <a:pPr marL="0" indent="0">
              <a:lnSpc>
                <a:spcPct val="115000"/>
              </a:lnSpc>
              <a:buNone/>
            </a:pPr>
            <a:r>
              <a:rPr lang="en-US" sz="1150" dirty="0">
                <a:solidFill>
                  <a:srgbClr val="CADCFC"/>
                </a:solidFill>
                <a:latin typeface="Calibri" pitchFamily="34" charset="0"/>
                <a:ea typeface="Calibri" pitchFamily="34" charset="-122"/>
                <a:cs typeface="Calibri" pitchFamily="34" charset="-120"/>
              </a:rPr>
              <a:t>Expose only what a caller needs; hide the rest.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We'll Cover</a:t>
            </a:r>
            <a:endParaRPr lang="en-US" sz="3200" dirty="0"/>
          </a:p>
        </p:txBody>
      </p:sp>
      <p:sp>
        <p:nvSpPr>
          <p:cNvPr id="4" name="Text 2"/>
          <p:cNvSpPr txBox="1"/>
          <p:nvPr/>
        </p:nvSpPr>
        <p:spPr>
          <a:xfrm>
            <a:off x="548640" y="1783080"/>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01</a:t>
            </a:r>
            <a:endParaRPr lang="en-US" sz="2300" dirty="0"/>
          </a:p>
        </p:txBody>
      </p:sp>
      <p:sp>
        <p:nvSpPr>
          <p:cNvPr id="5" name="Text 3"/>
          <p:cNvSpPr txBox="1"/>
          <p:nvPr/>
        </p:nvSpPr>
        <p:spPr>
          <a:xfrm>
            <a:off x="1325880" y="1783080"/>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Classes, Interfaces &amp; Abstract Classes</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The building blocks</a:t>
            </a:r>
            <a:endParaRPr lang="en-US" sz="1350" dirty="0"/>
          </a:p>
        </p:txBody>
      </p:sp>
      <p:sp>
        <p:nvSpPr>
          <p:cNvPr id="6" name="Text 4"/>
          <p:cNvSpPr txBox="1"/>
          <p:nvPr/>
        </p:nvSpPr>
        <p:spPr>
          <a:xfrm>
            <a:off x="548640" y="2633472"/>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02</a:t>
            </a:r>
            <a:endParaRPr lang="en-US" sz="2300" dirty="0"/>
          </a:p>
        </p:txBody>
      </p:sp>
      <p:sp>
        <p:nvSpPr>
          <p:cNvPr id="7" name="Text 5"/>
          <p:cNvSpPr txBox="1"/>
          <p:nvPr/>
        </p:nvSpPr>
        <p:spPr>
          <a:xfrm>
            <a:off x="1325880" y="2633472"/>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Objects</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Bringing a class to life</a:t>
            </a:r>
            <a:endParaRPr lang="en-US" sz="1350" dirty="0"/>
          </a:p>
        </p:txBody>
      </p:sp>
      <p:sp>
        <p:nvSpPr>
          <p:cNvPr id="8" name="Text 6"/>
          <p:cNvSpPr txBox="1"/>
          <p:nvPr/>
        </p:nvSpPr>
        <p:spPr>
          <a:xfrm>
            <a:off x="548640" y="3483864"/>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03</a:t>
            </a:r>
            <a:endParaRPr lang="en-US" sz="2300" dirty="0"/>
          </a:p>
        </p:txBody>
      </p:sp>
      <p:sp>
        <p:nvSpPr>
          <p:cNvPr id="9" name="Text 7"/>
          <p:cNvSpPr txBox="1"/>
          <p:nvPr/>
        </p:nvSpPr>
        <p:spPr>
          <a:xfrm>
            <a:off x="1325880" y="3483864"/>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Encapsulation</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Problem without it, then the fix</a:t>
            </a:r>
            <a:endParaRPr lang="en-US" sz="1350" dirty="0"/>
          </a:p>
        </p:txBody>
      </p:sp>
      <p:sp>
        <p:nvSpPr>
          <p:cNvPr id="10" name="Text 8"/>
          <p:cNvSpPr txBox="1"/>
          <p:nvPr/>
        </p:nvSpPr>
        <p:spPr>
          <a:xfrm>
            <a:off x="548640" y="4334256"/>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04</a:t>
            </a:r>
            <a:endParaRPr lang="en-US" sz="2300" dirty="0"/>
          </a:p>
        </p:txBody>
      </p:sp>
      <p:sp>
        <p:nvSpPr>
          <p:cNvPr id="11" name="Text 9"/>
          <p:cNvSpPr txBox="1"/>
          <p:nvPr/>
        </p:nvSpPr>
        <p:spPr>
          <a:xfrm>
            <a:off x="1325880" y="4334256"/>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Inheritance</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Problem without it, then the fix</a:t>
            </a:r>
            <a:endParaRPr lang="en-US" sz="1350" dirty="0"/>
          </a:p>
        </p:txBody>
      </p:sp>
      <p:sp>
        <p:nvSpPr>
          <p:cNvPr id="12" name="Text 10"/>
          <p:cNvSpPr txBox="1"/>
          <p:nvPr/>
        </p:nvSpPr>
        <p:spPr>
          <a:xfrm>
            <a:off x="548640" y="5184648"/>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05</a:t>
            </a:r>
            <a:endParaRPr lang="en-US" sz="2300" dirty="0"/>
          </a:p>
        </p:txBody>
      </p:sp>
      <p:sp>
        <p:nvSpPr>
          <p:cNvPr id="13" name="Text 11"/>
          <p:cNvSpPr txBox="1"/>
          <p:nvPr/>
        </p:nvSpPr>
        <p:spPr>
          <a:xfrm>
            <a:off x="1325880" y="5184648"/>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Multiple Inheritance</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The diamond problem, and Java's fix</a:t>
            </a:r>
            <a:endParaRPr lang="en-US" sz="1350" dirty="0"/>
          </a:p>
        </p:txBody>
      </p:sp>
      <p:sp>
        <p:nvSpPr>
          <p:cNvPr id="14" name="Text 12"/>
          <p:cNvSpPr txBox="1"/>
          <p:nvPr/>
        </p:nvSpPr>
        <p:spPr>
          <a:xfrm>
            <a:off x="6126480" y="1783080"/>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06</a:t>
            </a:r>
            <a:endParaRPr lang="en-US" sz="2300" dirty="0"/>
          </a:p>
        </p:txBody>
      </p:sp>
      <p:sp>
        <p:nvSpPr>
          <p:cNvPr id="15" name="Text 13"/>
          <p:cNvSpPr txBox="1"/>
          <p:nvPr/>
        </p:nvSpPr>
        <p:spPr>
          <a:xfrm>
            <a:off x="6903720" y="1783080"/>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Reference Type vs Object Type</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The rule behind the confusion</a:t>
            </a:r>
            <a:endParaRPr lang="en-US" sz="1350" dirty="0"/>
          </a:p>
        </p:txBody>
      </p:sp>
      <p:sp>
        <p:nvSpPr>
          <p:cNvPr id="16" name="Text 14"/>
          <p:cNvSpPr txBox="1"/>
          <p:nvPr/>
        </p:nvSpPr>
        <p:spPr>
          <a:xfrm>
            <a:off x="6126480" y="2633472"/>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07</a:t>
            </a:r>
            <a:endParaRPr lang="en-US" sz="2300" dirty="0"/>
          </a:p>
        </p:txBody>
      </p:sp>
      <p:sp>
        <p:nvSpPr>
          <p:cNvPr id="17" name="Text 15"/>
          <p:cNvSpPr txBox="1"/>
          <p:nvPr/>
        </p:nvSpPr>
        <p:spPr>
          <a:xfrm>
            <a:off x="6903720" y="2633472"/>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Compile Time vs Runtime</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Two different moments</a:t>
            </a:r>
            <a:endParaRPr lang="en-US" sz="1350" dirty="0"/>
          </a:p>
        </p:txBody>
      </p:sp>
      <p:sp>
        <p:nvSpPr>
          <p:cNvPr id="18" name="Text 16"/>
          <p:cNvSpPr txBox="1"/>
          <p:nvPr/>
        </p:nvSpPr>
        <p:spPr>
          <a:xfrm>
            <a:off x="6126480" y="3483864"/>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08</a:t>
            </a:r>
            <a:endParaRPr lang="en-US" sz="2300" dirty="0"/>
          </a:p>
        </p:txBody>
      </p:sp>
      <p:sp>
        <p:nvSpPr>
          <p:cNvPr id="19" name="Text 17"/>
          <p:cNvSpPr txBox="1"/>
          <p:nvPr/>
        </p:nvSpPr>
        <p:spPr>
          <a:xfrm>
            <a:off x="6903720" y="3483864"/>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Polymorphism</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Problem without it, then the fix</a:t>
            </a:r>
            <a:endParaRPr lang="en-US" sz="1350" dirty="0"/>
          </a:p>
        </p:txBody>
      </p:sp>
      <p:sp>
        <p:nvSpPr>
          <p:cNvPr id="20" name="Text 18"/>
          <p:cNvSpPr txBox="1"/>
          <p:nvPr/>
        </p:nvSpPr>
        <p:spPr>
          <a:xfrm>
            <a:off x="6126480" y="4334256"/>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09</a:t>
            </a:r>
            <a:endParaRPr lang="en-US" sz="2300" dirty="0"/>
          </a:p>
        </p:txBody>
      </p:sp>
      <p:sp>
        <p:nvSpPr>
          <p:cNvPr id="21" name="Text 19"/>
          <p:cNvSpPr txBox="1"/>
          <p:nvPr/>
        </p:nvSpPr>
        <p:spPr>
          <a:xfrm>
            <a:off x="6903720" y="4334256"/>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Abstraction</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Problem without it, then the fix</a:t>
            </a:r>
            <a:endParaRPr lang="en-US" sz="1350" dirty="0"/>
          </a:p>
        </p:txBody>
      </p:sp>
      <p:sp>
        <p:nvSpPr>
          <p:cNvPr id="22" name="Text 20"/>
          <p:cNvSpPr txBox="1"/>
          <p:nvPr/>
        </p:nvSpPr>
        <p:spPr>
          <a:xfrm>
            <a:off x="6126480" y="5184648"/>
            <a:ext cx="822960" cy="740664"/>
          </a:xfrm>
          <a:prstGeom prst="rect">
            <a:avLst/>
          </a:prstGeom>
          <a:noFill/>
          <a:ln/>
        </p:spPr>
        <p:txBody>
          <a:bodyPr wrap="square" lIns="0" tIns="0" rIns="0" bIns="0" rtlCol="0" anchor="t"/>
          <a:lstStyle/>
          <a:p>
            <a:pPr marL="0" indent="0">
              <a:buNone/>
            </a:pPr>
            <a:r>
              <a:rPr lang="en-US" sz="2300" b="1" dirty="0">
                <a:solidFill>
                  <a:srgbClr val="CADCFC"/>
                </a:solidFill>
                <a:latin typeface="Cambria" pitchFamily="34" charset="0"/>
                <a:ea typeface="Cambria" pitchFamily="34" charset="-122"/>
                <a:cs typeface="Cambria" pitchFamily="34" charset="-120"/>
              </a:rPr>
              <a:t>10</a:t>
            </a:r>
            <a:endParaRPr lang="en-US" sz="2300" dirty="0"/>
          </a:p>
        </p:txBody>
      </p:sp>
      <p:sp>
        <p:nvSpPr>
          <p:cNvPr id="23" name="Text 21"/>
          <p:cNvSpPr txBox="1"/>
          <p:nvPr/>
        </p:nvSpPr>
        <p:spPr>
          <a:xfrm>
            <a:off x="6903720" y="5184648"/>
            <a:ext cx="4297680" cy="740664"/>
          </a:xfrm>
          <a:prstGeom prst="rect">
            <a:avLst/>
          </a:prstGeom>
          <a:noFill/>
          <a:ln/>
        </p:spPr>
        <p:txBody>
          <a:bodyPr wrap="square" lIns="0" tIns="0" rIns="0" bIns="0" rtlCol="0" anchor="t"/>
          <a:lstStyle/>
          <a:p>
            <a:pPr marL="0" indent="0">
              <a:buNone/>
            </a:pPr>
            <a:r>
              <a:rPr lang="en-US" sz="1350" b="1" dirty="0">
                <a:solidFill>
                  <a:srgbClr val="1E2761"/>
                </a:solidFill>
                <a:latin typeface="Calibri" pitchFamily="34" charset="0"/>
                <a:ea typeface="Calibri" pitchFamily="34" charset="-122"/>
                <a:cs typeface="Calibri" pitchFamily="34" charset="-120"/>
              </a:rPr>
              <a:t>Install Java &amp; Run It Yourself</a:t>
            </a:r>
            <a:endParaRPr lang="en-US" sz="1350" dirty="0"/>
          </a:p>
          <a:p>
            <a:pPr marL="0" indent="0">
              <a:buNone/>
            </a:pPr>
            <a:r>
              <a:rPr lang="en-US" sz="1100" dirty="0">
                <a:solidFill>
                  <a:srgbClr val="6B7280"/>
                </a:solidFill>
                <a:latin typeface="Calibri" pitchFamily="34" charset="0"/>
                <a:ea typeface="Calibri" pitchFamily="34" charset="-122"/>
                <a:cs typeface="Calibri" pitchFamily="34" charset="-120"/>
              </a:rPr>
              <a:t>Set up Ubuntu, then run the real project</a:t>
            </a:r>
            <a:endParaRPr lang="en-US" sz="1350" dirty="0"/>
          </a:p>
        </p:txBody>
      </p:sp>
      <p:sp>
        <p:nvSpPr>
          <p:cNvPr id="24" name="Text 22"/>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OOP or OOPS? Same Thing</a:t>
            </a:r>
            <a:endParaRPr lang="en-US" sz="3200" dirty="0"/>
          </a:p>
        </p:txBody>
      </p:sp>
      <p:sp>
        <p:nvSpPr>
          <p:cNvPr id="4" name="Shape 2"/>
          <p:cNvSpPr/>
          <p:nvPr/>
        </p:nvSpPr>
        <p:spPr>
          <a:xfrm>
            <a:off x="548640" y="1920240"/>
            <a:ext cx="5349240" cy="2103120"/>
          </a:xfrm>
          <a:prstGeom prst="roundRect">
            <a:avLst>
              <a:gd name="adj" fmla="val 2609"/>
            </a:avLst>
          </a:prstGeom>
          <a:solidFill>
            <a:srgbClr val="F4F6FB"/>
          </a:solidFill>
          <a:ln/>
          <a:effectLst>
            <a:outerShdw blurRad="76200" dist="25400" dir="5400000" algn="bl" rotWithShape="0">
              <a:srgbClr val="6B7280">
                <a:alpha val="18000"/>
              </a:srgbClr>
            </a:outerShdw>
          </a:effectLst>
        </p:spPr>
        <p:txBody>
          <a:bodyPr/>
          <a:lstStyle/>
          <a:p>
            <a:endParaRPr lang="en-US"/>
          </a:p>
        </p:txBody>
      </p:sp>
      <p:sp>
        <p:nvSpPr>
          <p:cNvPr id="5" name="Shape 3"/>
          <p:cNvSpPr/>
          <p:nvPr/>
        </p:nvSpPr>
        <p:spPr>
          <a:xfrm>
            <a:off x="6309360" y="1920240"/>
            <a:ext cx="5349240" cy="2103120"/>
          </a:xfrm>
          <a:prstGeom prst="roundRect">
            <a:avLst>
              <a:gd name="adj" fmla="val 2609"/>
            </a:avLst>
          </a:prstGeom>
          <a:solidFill>
            <a:srgbClr val="1E2761"/>
          </a:solidFill>
          <a:ln/>
          <a:effectLst>
            <a:outerShdw blurRad="76200" dist="25400" dir="5400000" algn="bl" rotWithShape="0">
              <a:srgbClr val="6B7280">
                <a:alpha val="18000"/>
              </a:srgbClr>
            </a:outerShdw>
          </a:effectLst>
        </p:spPr>
        <p:txBody>
          <a:bodyPr/>
          <a:lstStyle/>
          <a:p>
            <a:endParaRPr lang="en-US"/>
          </a:p>
        </p:txBody>
      </p:sp>
      <p:sp>
        <p:nvSpPr>
          <p:cNvPr id="6" name="Text 4"/>
          <p:cNvSpPr txBox="1"/>
          <p:nvPr/>
        </p:nvSpPr>
        <p:spPr>
          <a:xfrm>
            <a:off x="548640" y="2148840"/>
            <a:ext cx="5349240" cy="457200"/>
          </a:xfrm>
          <a:prstGeom prst="rect">
            <a:avLst/>
          </a:prstGeom>
          <a:noFill/>
          <a:ln/>
        </p:spPr>
        <p:txBody>
          <a:bodyPr wrap="square" lIns="0" tIns="0" rIns="0" bIns="0" rtlCol="0" anchor="ctr"/>
          <a:lstStyle/>
          <a:p>
            <a:pPr marL="0" indent="0" algn="ctr">
              <a:buNone/>
            </a:pPr>
            <a:r>
              <a:rPr lang="en-US" sz="2200" b="1" dirty="0">
                <a:solidFill>
                  <a:srgbClr val="1E2761"/>
                </a:solidFill>
                <a:latin typeface="Cambria" pitchFamily="34" charset="0"/>
                <a:ea typeface="Cambria" pitchFamily="34" charset="-122"/>
                <a:cs typeface="Cambria" pitchFamily="34" charset="-120"/>
              </a:rPr>
              <a:t>OOP</a:t>
            </a:r>
            <a:endParaRPr lang="en-US" sz="2200" dirty="0"/>
          </a:p>
        </p:txBody>
      </p:sp>
      <p:sp>
        <p:nvSpPr>
          <p:cNvPr id="7" name="Text 5"/>
          <p:cNvSpPr txBox="1"/>
          <p:nvPr/>
        </p:nvSpPr>
        <p:spPr>
          <a:xfrm>
            <a:off x="914400" y="2788920"/>
            <a:ext cx="4617720" cy="1005840"/>
          </a:xfrm>
          <a:prstGeom prst="rect">
            <a:avLst/>
          </a:prstGeom>
          <a:noFill/>
          <a:ln/>
        </p:spPr>
        <p:txBody>
          <a:bodyPr wrap="square" lIns="0" tIns="0" rIns="0" bIns="0" rtlCol="0" anchor="ctr"/>
          <a:lstStyle/>
          <a:p>
            <a:pPr marL="0" indent="0" algn="ctr">
              <a:lnSpc>
                <a:spcPct val="130000"/>
              </a:lnSpc>
              <a:buNone/>
            </a:pPr>
            <a:r>
              <a:rPr lang="en-US" sz="1350" b="1" dirty="0">
                <a:solidFill>
                  <a:srgbClr val="2A2E45"/>
                </a:solidFill>
                <a:latin typeface="Calibri" pitchFamily="34" charset="0"/>
                <a:ea typeface="Calibri" pitchFamily="34" charset="-122"/>
                <a:cs typeface="Calibri" pitchFamily="34" charset="-120"/>
              </a:rPr>
              <a:t>Object-Oriented Programming</a:t>
            </a:r>
            <a:endParaRPr lang="en-US" sz="1350" dirty="0"/>
          </a:p>
          <a:p>
            <a:pPr marL="0" indent="0" algn="ctr">
              <a:lnSpc>
                <a:spcPct val="130000"/>
              </a:lnSpc>
              <a:buNone/>
            </a:pPr>
            <a:r>
              <a:rPr lang="en-US" sz="1350" dirty="0">
                <a:solidFill>
                  <a:srgbClr val="6B7280"/>
                </a:solidFill>
                <a:latin typeface="Calibri" pitchFamily="34" charset="0"/>
                <a:ea typeface="Calibri" pitchFamily="34" charset="-122"/>
                <a:cs typeface="Calibri" pitchFamily="34" charset="-120"/>
              </a:rPr>
              <a:t>The standard, formal term.</a:t>
            </a:r>
            <a:endParaRPr lang="en-US" sz="1350" dirty="0"/>
          </a:p>
        </p:txBody>
      </p:sp>
      <p:sp>
        <p:nvSpPr>
          <p:cNvPr id="8" name="Text 6"/>
          <p:cNvSpPr txBox="1"/>
          <p:nvPr/>
        </p:nvSpPr>
        <p:spPr>
          <a:xfrm>
            <a:off x="6309360" y="2148840"/>
            <a:ext cx="534924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OOPS</a:t>
            </a:r>
            <a:endParaRPr lang="en-US" sz="2200" dirty="0"/>
          </a:p>
        </p:txBody>
      </p:sp>
      <p:sp>
        <p:nvSpPr>
          <p:cNvPr id="9" name="Text 7"/>
          <p:cNvSpPr txBox="1"/>
          <p:nvPr/>
        </p:nvSpPr>
        <p:spPr>
          <a:xfrm>
            <a:off x="6675120" y="2788920"/>
            <a:ext cx="4617720" cy="1005840"/>
          </a:xfrm>
          <a:prstGeom prst="rect">
            <a:avLst/>
          </a:prstGeom>
          <a:noFill/>
          <a:ln/>
        </p:spPr>
        <p:txBody>
          <a:bodyPr wrap="square" lIns="0" tIns="0" rIns="0" bIns="0" rtlCol="0" anchor="ctr"/>
          <a:lstStyle/>
          <a:p>
            <a:pPr marL="0" indent="0" algn="ctr">
              <a:lnSpc>
                <a:spcPct val="130000"/>
              </a:lnSpc>
              <a:buNone/>
            </a:pPr>
            <a:r>
              <a:rPr lang="en-US" sz="1350" b="1" dirty="0">
                <a:solidFill>
                  <a:srgbClr val="FFFFFF"/>
                </a:solidFill>
                <a:latin typeface="Calibri" pitchFamily="34" charset="0"/>
                <a:ea typeface="Calibri" pitchFamily="34" charset="-122"/>
                <a:cs typeface="Calibri" pitchFamily="34" charset="-120"/>
              </a:rPr>
              <a:t>Object-Oriented Programming System</a:t>
            </a:r>
            <a:endParaRPr lang="en-US" sz="1350" dirty="0"/>
          </a:p>
          <a:p>
            <a:pPr marL="0" indent="0" algn="ctr">
              <a:lnSpc>
                <a:spcPct val="130000"/>
              </a:lnSpc>
              <a:buNone/>
            </a:pPr>
            <a:r>
              <a:rPr lang="en-US" sz="1350" dirty="0">
                <a:solidFill>
                  <a:srgbClr val="CADCFC"/>
                </a:solidFill>
                <a:latin typeface="Calibri" pitchFamily="34" charset="0"/>
                <a:ea typeface="Calibri" pitchFamily="34" charset="-122"/>
                <a:cs typeface="Calibri" pitchFamily="34" charset="-120"/>
              </a:rPr>
              <a:t>Common in teaching and interview contexts -- or just short for "the OOP concepts."</a:t>
            </a:r>
            <a:endParaRPr lang="en-US" sz="1350" dirty="0"/>
          </a:p>
        </p:txBody>
      </p:sp>
      <p:sp>
        <p:nvSpPr>
          <p:cNvPr id="10" name="Shape 8"/>
          <p:cNvSpPr/>
          <p:nvPr/>
        </p:nvSpPr>
        <p:spPr>
          <a:xfrm>
            <a:off x="548640" y="4343400"/>
            <a:ext cx="10881360" cy="914400"/>
          </a:xfrm>
          <a:prstGeom prst="roundRect">
            <a:avLst>
              <a:gd name="adj" fmla="val 6000"/>
            </a:avLst>
          </a:prstGeom>
          <a:solidFill>
            <a:srgbClr val="1E2761"/>
          </a:solidFill>
          <a:ln/>
        </p:spPr>
        <p:txBody>
          <a:bodyPr/>
          <a:lstStyle/>
          <a:p>
            <a:endParaRPr lang="en-US"/>
          </a:p>
        </p:txBody>
      </p:sp>
      <p:sp>
        <p:nvSpPr>
          <p:cNvPr id="11" name="Text 9"/>
          <p:cNvSpPr txBox="1"/>
          <p:nvPr/>
        </p:nvSpPr>
        <p:spPr>
          <a:xfrm>
            <a:off x="777240" y="4343400"/>
            <a:ext cx="10424160" cy="914400"/>
          </a:xfrm>
          <a:prstGeom prst="rect">
            <a:avLst/>
          </a:prstGeom>
          <a:noFill/>
          <a:ln/>
        </p:spPr>
        <p:txBody>
          <a:bodyPr wrap="square" lIns="0" tIns="0" rIns="0" bIns="0" rtlCol="0" anchor="ctr"/>
          <a:lstStyle/>
          <a:p>
            <a:pPr marL="0" indent="0">
              <a:buNone/>
            </a:pPr>
            <a:r>
              <a:rPr lang="en-US" sz="1350" i="1" dirty="0">
                <a:solidFill>
                  <a:srgbClr val="FFFFFF"/>
                </a:solidFill>
                <a:latin typeface="Calibri" pitchFamily="34" charset="0"/>
                <a:ea typeface="Calibri" pitchFamily="34" charset="-122"/>
                <a:cs typeface="Calibri" pitchFamily="34" charset="-120"/>
              </a:rPr>
              <a:t>If someone says "OOPS" -- or even pronounces it like the word "oops" -- they mean the same family of concepts as OOP.</a:t>
            </a:r>
            <a:endParaRPr lang="en-US" sz="1350" dirty="0"/>
          </a:p>
        </p:txBody>
      </p:sp>
      <p:sp>
        <p:nvSpPr>
          <p:cNvPr id="12" name="Text 10"/>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FOUNDATIONS</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Is a Class in Java?</a:t>
            </a:r>
            <a:endParaRPr lang="en-US" sz="3200" dirty="0"/>
          </a:p>
        </p:txBody>
      </p:sp>
      <p:sp>
        <p:nvSpPr>
          <p:cNvPr id="4" name="Text 2"/>
          <p:cNvSpPr txBox="1"/>
          <p:nvPr/>
        </p:nvSpPr>
        <p:spPr>
          <a:xfrm>
            <a:off x="548640" y="1874520"/>
            <a:ext cx="5120640" cy="329184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 class is a blueprint — it defines what fields (data) and methods (behavior) something will have.</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The blueprint itself takes no memory for object data until you actually build something from it.</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Think of an architectural blueprint of a house: you can't move into the blueprint.</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One class can produce many independent objects.</a:t>
            </a:r>
            <a:endParaRPr lang="en-US" sz="1400" dirty="0"/>
          </a:p>
        </p:txBody>
      </p:sp>
      <p:sp>
        <p:nvSpPr>
          <p:cNvPr id="5" name="Shape 3"/>
          <p:cNvSpPr/>
          <p:nvPr/>
        </p:nvSpPr>
        <p:spPr>
          <a:xfrm>
            <a:off x="5989320" y="1828800"/>
            <a:ext cx="5669280" cy="3931920"/>
          </a:xfrm>
          <a:prstGeom prst="roundRect">
            <a:avLst>
              <a:gd name="adj" fmla="val 1860"/>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2029968"/>
            <a:ext cx="5157216" cy="3529584"/>
          </a:xfrm>
          <a:prstGeom prst="rect">
            <a:avLst/>
          </a:prstGeom>
          <a:noFill/>
          <a:ln/>
        </p:spPr>
        <p:txBody>
          <a:bodyPr wrap="square" lIns="0" tIns="0" rIns="0" bIns="0" rtlCol="0" anchor="t"/>
          <a:lstStyle/>
          <a:p>
            <a:pPr marL="0" indent="0">
              <a:lnSpc>
                <a:spcPct val="125000"/>
              </a:lnSpc>
              <a:buNone/>
            </a:pP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class</a:t>
            </a:r>
            <a:r>
              <a:rPr lang="en-US" sz="1300" dirty="0">
                <a:solidFill>
                  <a:srgbClr val="CADCFC"/>
                </a:solidFill>
                <a:latin typeface="Courier New" pitchFamily="34" charset="0"/>
                <a:ea typeface="Courier New" pitchFamily="34" charset="-122"/>
                <a:cs typeface="Courier New" pitchFamily="34" charset="-120"/>
              </a:rPr>
              <a:t> Student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String name;</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int id;</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void</a:t>
            </a:r>
            <a:r>
              <a:rPr lang="en-US" sz="1300" dirty="0">
                <a:solidFill>
                  <a:srgbClr val="CADCFC"/>
                </a:solidFill>
                <a:latin typeface="Courier New" pitchFamily="34" charset="0"/>
                <a:ea typeface="Courier New" pitchFamily="34" charset="-122"/>
                <a:cs typeface="Courier New" pitchFamily="34" charset="-120"/>
              </a:rPr>
              <a:t> displayRole()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System.out.println(name);</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a:t>
            </a:r>
            <a:endParaRPr lang="en-US" sz="1300" dirty="0"/>
          </a:p>
          <a:p>
            <a:pPr marL="0" indent="0">
              <a:lnSpc>
                <a:spcPct val="125000"/>
              </a:lnSpc>
              <a:buNone/>
            </a:pPr>
            <a:r>
              <a:rPr lang="en-US" sz="1300" dirty="0">
                <a:solidFill>
                  <a:srgbClr val="6FCF97"/>
                </a:solidFill>
                <a:latin typeface="Courier New" pitchFamily="34" charset="0"/>
                <a:ea typeface="Courier New" pitchFamily="34" charset="-122"/>
                <a:cs typeface="Courier New" pitchFamily="34" charset="-120"/>
              </a:rPr>
              <a:t>// This defines what a Student LOOKS LIKE --</a:t>
            </a:r>
            <a:endParaRPr lang="en-US" sz="1300" dirty="0"/>
          </a:p>
          <a:p>
            <a:pPr marL="0" indent="0">
              <a:lnSpc>
                <a:spcPct val="125000"/>
              </a:lnSpc>
              <a:buNone/>
            </a:pPr>
            <a:r>
              <a:rPr lang="en-US" sz="1300" dirty="0">
                <a:solidFill>
                  <a:srgbClr val="6FCF97"/>
                </a:solidFill>
                <a:latin typeface="Courier New" pitchFamily="34" charset="0"/>
                <a:ea typeface="Courier New" pitchFamily="34" charset="-122"/>
                <a:cs typeface="Courier New" pitchFamily="34" charset="-120"/>
              </a:rPr>
              <a:t>// no Student object exists yet.</a:t>
            </a:r>
            <a:endParaRPr lang="en-US" sz="1300" dirty="0"/>
          </a:p>
        </p:txBody>
      </p:sp>
      <p:sp>
        <p:nvSpPr>
          <p:cNvPr id="7"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FOUNDATIONS</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Is an Interface?</a:t>
            </a:r>
            <a:endParaRPr lang="en-US" sz="3200" dirty="0"/>
          </a:p>
        </p:txBody>
      </p:sp>
      <p:sp>
        <p:nvSpPr>
          <p:cNvPr id="4" name="Text 2"/>
          <p:cNvSpPr txBox="1"/>
          <p:nvPr/>
        </p:nvSpPr>
        <p:spPr>
          <a:xfrm>
            <a:off x="548640" y="1874520"/>
            <a:ext cx="5120640" cy="329184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 fully abstract contract: it lists method signatures a class promises to implement, without saying how.</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Use it when unrelated classes need to share a capability.</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 class can implement many interfaces at once.</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Since Java 8, interfaces can also have default and static methods with real bodies.</a:t>
            </a:r>
            <a:endParaRPr lang="en-US" sz="1400" dirty="0"/>
          </a:p>
        </p:txBody>
      </p:sp>
      <p:sp>
        <p:nvSpPr>
          <p:cNvPr id="5" name="Shape 3"/>
          <p:cNvSpPr/>
          <p:nvPr/>
        </p:nvSpPr>
        <p:spPr>
          <a:xfrm>
            <a:off x="5989320" y="1828800"/>
            <a:ext cx="5669280" cy="3931920"/>
          </a:xfrm>
          <a:prstGeom prst="roundRect">
            <a:avLst>
              <a:gd name="adj" fmla="val 1860"/>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2029968"/>
            <a:ext cx="5157216" cy="3529584"/>
          </a:xfrm>
          <a:prstGeom prst="rect">
            <a:avLst/>
          </a:prstGeom>
          <a:noFill/>
          <a:ln/>
        </p:spPr>
        <p:txBody>
          <a:bodyPr wrap="square" lIns="0" tIns="0" rIns="0" bIns="0" rtlCol="0" anchor="t"/>
          <a:lstStyle/>
          <a:p>
            <a:pPr marL="0" indent="0">
              <a:lnSpc>
                <a:spcPct val="125000"/>
              </a:lnSpc>
              <a:buNone/>
            </a:pP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interface</a:t>
            </a:r>
            <a:r>
              <a:rPr lang="en-US" sz="1300" dirty="0">
                <a:solidFill>
                  <a:srgbClr val="CADCFC"/>
                </a:solidFill>
                <a:latin typeface="Courier New" pitchFamily="34" charset="0"/>
                <a:ea typeface="Courier New" pitchFamily="34" charset="-122"/>
                <a:cs typeface="Courier New" pitchFamily="34" charset="-120"/>
              </a:rPr>
              <a:t> Enrollable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void</a:t>
            </a:r>
            <a:r>
              <a:rPr lang="en-US" sz="1300" dirty="0">
                <a:solidFill>
                  <a:srgbClr val="CADCFC"/>
                </a:solidFill>
                <a:latin typeface="Courier New" pitchFamily="34" charset="0"/>
                <a:ea typeface="Courier New" pitchFamily="34" charset="-122"/>
                <a:cs typeface="Courier New" pitchFamily="34" charset="-120"/>
              </a:rPr>
              <a:t> enroll(Project project);</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class</a:t>
            </a:r>
            <a:r>
              <a:rPr lang="en-US" sz="1300" dirty="0">
                <a:solidFill>
                  <a:srgbClr val="CADCFC"/>
                </a:solidFill>
                <a:latin typeface="Courier New" pitchFamily="34" charset="0"/>
                <a:ea typeface="Courier New" pitchFamily="34" charset="-122"/>
                <a:cs typeface="Courier New" pitchFamily="34" charset="-120"/>
              </a:rPr>
              <a:t> Student</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implements</a:t>
            </a:r>
            <a:r>
              <a:rPr lang="en-US" sz="1300" dirty="0">
                <a:solidFill>
                  <a:srgbClr val="CADCFC"/>
                </a:solidFill>
                <a:latin typeface="Courier New" pitchFamily="34" charset="0"/>
                <a:ea typeface="Courier New" pitchFamily="34" charset="-122"/>
                <a:cs typeface="Courier New" pitchFamily="34" charset="-120"/>
              </a:rPr>
              <a:t> Enrollable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void</a:t>
            </a:r>
            <a:r>
              <a:rPr lang="en-US" sz="1300" dirty="0">
                <a:solidFill>
                  <a:srgbClr val="CADCFC"/>
                </a:solidFill>
                <a:latin typeface="Courier New" pitchFamily="34" charset="0"/>
                <a:ea typeface="Courier New" pitchFamily="34" charset="-122"/>
                <a:cs typeface="Courier New" pitchFamily="34" charset="-120"/>
              </a:rPr>
              <a:t> enroll(Project project)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projects.add(project);</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a:t>
            </a:r>
            <a:endParaRPr lang="en-US" sz="1300" dirty="0"/>
          </a:p>
        </p:txBody>
      </p:sp>
      <p:sp>
        <p:nvSpPr>
          <p:cNvPr id="7"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FOUNDATIONS</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Is an Abstract Class?</a:t>
            </a:r>
            <a:endParaRPr lang="en-US" sz="3200" dirty="0"/>
          </a:p>
        </p:txBody>
      </p:sp>
      <p:sp>
        <p:nvSpPr>
          <p:cNvPr id="4" name="Text 2"/>
          <p:cNvSpPr txBox="1"/>
          <p:nvPr/>
        </p:nvSpPr>
        <p:spPr>
          <a:xfrm>
            <a:off x="548640" y="1874520"/>
            <a:ext cx="5120640" cy="329184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 class that mixes fully-implemented methods with abstract ones (no body).</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Use it when related classes share real, working code — not just a contract.</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Cannot be instantiated directly.</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 subclass must implement every inherited abstract method, or also be declared abstract.</a:t>
            </a:r>
            <a:endParaRPr lang="en-US" sz="1400" dirty="0"/>
          </a:p>
        </p:txBody>
      </p:sp>
      <p:sp>
        <p:nvSpPr>
          <p:cNvPr id="5" name="Shape 3"/>
          <p:cNvSpPr/>
          <p:nvPr/>
        </p:nvSpPr>
        <p:spPr>
          <a:xfrm>
            <a:off x="5989320" y="1828800"/>
            <a:ext cx="5669280" cy="3931920"/>
          </a:xfrm>
          <a:prstGeom prst="roundRect">
            <a:avLst>
              <a:gd name="adj" fmla="val 1860"/>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2029968"/>
            <a:ext cx="5157216" cy="3529584"/>
          </a:xfrm>
          <a:prstGeom prst="rect">
            <a:avLst/>
          </a:prstGeom>
          <a:noFill/>
          <a:ln/>
        </p:spPr>
        <p:txBody>
          <a:bodyPr wrap="square" lIns="0" tIns="0" rIns="0" bIns="0" rtlCol="0" anchor="t"/>
          <a:lstStyle/>
          <a:p>
            <a:pPr marL="0" indent="0">
              <a:lnSpc>
                <a:spcPct val="125000"/>
              </a:lnSpc>
              <a:buNone/>
            </a:pP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abstract</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class</a:t>
            </a:r>
            <a:r>
              <a:rPr lang="en-US" sz="1300" dirty="0">
                <a:solidFill>
                  <a:srgbClr val="CADCFC"/>
                </a:solidFill>
                <a:latin typeface="Courier New" pitchFamily="34" charset="0"/>
                <a:ea typeface="Courier New" pitchFamily="34" charset="-122"/>
                <a:cs typeface="Courier New" pitchFamily="34" charset="-120"/>
              </a:rPr>
              <a:t> Person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protected</a:t>
            </a:r>
            <a:r>
              <a:rPr lang="en-US" sz="1300" dirty="0">
                <a:solidFill>
                  <a:srgbClr val="CADCFC"/>
                </a:solidFill>
                <a:latin typeface="Courier New" pitchFamily="34" charset="0"/>
                <a:ea typeface="Courier New" pitchFamily="34" charset="-122"/>
                <a:cs typeface="Courier New" pitchFamily="34" charset="-120"/>
              </a:rPr>
              <a:t> String name;</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String getName()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return</a:t>
            </a:r>
            <a:r>
              <a:rPr lang="en-US" sz="1300" dirty="0">
                <a:solidFill>
                  <a:srgbClr val="CADCFC"/>
                </a:solidFill>
                <a:latin typeface="Courier New" pitchFamily="34" charset="0"/>
                <a:ea typeface="Courier New" pitchFamily="34" charset="-122"/>
                <a:cs typeface="Courier New" pitchFamily="34" charset="-120"/>
              </a:rPr>
              <a:t> name;   // real, working code</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abstract</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void</a:t>
            </a:r>
            <a:r>
              <a:rPr lang="en-US" sz="1300" dirty="0">
                <a:solidFill>
                  <a:srgbClr val="CADCFC"/>
                </a:solidFill>
                <a:latin typeface="Courier New" pitchFamily="34" charset="0"/>
                <a:ea typeface="Courier New" pitchFamily="34" charset="-122"/>
                <a:cs typeface="Courier New" pitchFamily="34" charset="-120"/>
              </a:rPr>
              <a:t> displayRole();</a:t>
            </a:r>
            <a:endParaRPr lang="en-US" sz="1300" dirty="0"/>
          </a:p>
          <a:p>
            <a:pPr marL="0" indent="0">
              <a:lnSpc>
                <a:spcPct val="125000"/>
              </a:lnSpc>
              <a:buNone/>
            </a:pPr>
            <a:r>
              <a:rPr lang="en-US" sz="1300" dirty="0">
                <a:solidFill>
                  <a:srgbClr val="6FCF97"/>
                </a:solidFill>
                <a:latin typeface="Courier New" pitchFamily="34" charset="0"/>
                <a:ea typeface="Courier New" pitchFamily="34" charset="-122"/>
                <a:cs typeface="Courier New" pitchFamily="34" charset="-120"/>
              </a:rPr>
              <a:t>    // no body -- a rule, not an implementation</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a:t>
            </a:r>
            <a:endParaRPr lang="en-US" sz="1300" dirty="0"/>
          </a:p>
        </p:txBody>
      </p:sp>
      <p:sp>
        <p:nvSpPr>
          <p:cNvPr id="7"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CHOOSING THE RIGHT TOOL</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Interfaces vs. Abstract Classes</a:t>
            </a:r>
            <a:endParaRPr lang="en-US" sz="3200" dirty="0"/>
          </a:p>
        </p:txBody>
      </p:sp>
      <p:sp>
        <p:nvSpPr>
          <p:cNvPr id="4" name="Shape 2"/>
          <p:cNvSpPr/>
          <p:nvPr/>
        </p:nvSpPr>
        <p:spPr>
          <a:xfrm>
            <a:off x="548640" y="1965960"/>
            <a:ext cx="5349240" cy="3886200"/>
          </a:xfrm>
          <a:prstGeom prst="roundRect">
            <a:avLst>
              <a:gd name="adj" fmla="val 1412"/>
            </a:avLst>
          </a:prstGeom>
          <a:solidFill>
            <a:srgbClr val="F4F6FB"/>
          </a:solidFill>
          <a:ln/>
          <a:effectLst>
            <a:outerShdw blurRad="76200" dist="25400" dir="5400000" algn="bl" rotWithShape="0">
              <a:srgbClr val="6B7280">
                <a:alpha val="18000"/>
              </a:srgbClr>
            </a:outerShdw>
          </a:effectLst>
        </p:spPr>
        <p:txBody>
          <a:bodyPr/>
          <a:lstStyle/>
          <a:p>
            <a:endParaRPr lang="en-US"/>
          </a:p>
        </p:txBody>
      </p:sp>
      <p:sp>
        <p:nvSpPr>
          <p:cNvPr id="5" name="Shape 3"/>
          <p:cNvSpPr/>
          <p:nvPr/>
        </p:nvSpPr>
        <p:spPr>
          <a:xfrm>
            <a:off x="6309360" y="1965960"/>
            <a:ext cx="5349240" cy="3886200"/>
          </a:xfrm>
          <a:prstGeom prst="roundRect">
            <a:avLst>
              <a:gd name="adj" fmla="val 1412"/>
            </a:avLst>
          </a:prstGeom>
          <a:solidFill>
            <a:srgbClr val="1E2761"/>
          </a:solidFill>
          <a:ln/>
          <a:effectLst>
            <a:outerShdw blurRad="76200" dist="25400" dir="5400000" algn="bl" rotWithShape="0">
              <a:srgbClr val="6B7280">
                <a:alpha val="18000"/>
              </a:srgbClr>
            </a:outerShdw>
          </a:effectLst>
        </p:spPr>
        <p:txBody>
          <a:bodyPr/>
          <a:lstStyle/>
          <a:p>
            <a:endParaRPr lang="en-US"/>
          </a:p>
        </p:txBody>
      </p:sp>
      <p:sp>
        <p:nvSpPr>
          <p:cNvPr id="6" name="Text 4"/>
          <p:cNvSpPr txBox="1"/>
          <p:nvPr/>
        </p:nvSpPr>
        <p:spPr>
          <a:xfrm>
            <a:off x="548640" y="2194560"/>
            <a:ext cx="5349240" cy="457200"/>
          </a:xfrm>
          <a:prstGeom prst="rect">
            <a:avLst/>
          </a:prstGeom>
          <a:noFill/>
          <a:ln/>
        </p:spPr>
        <p:txBody>
          <a:bodyPr wrap="square" lIns="0" tIns="0" rIns="0" bIns="0" rtlCol="0" anchor="ctr"/>
          <a:lstStyle/>
          <a:p>
            <a:pPr marL="0" indent="0" algn="ctr">
              <a:buNone/>
            </a:pPr>
            <a:r>
              <a:rPr lang="en-US" sz="2000" b="1" dirty="0">
                <a:solidFill>
                  <a:srgbClr val="1E2761"/>
                </a:solidFill>
                <a:latin typeface="Cambria" pitchFamily="34" charset="0"/>
                <a:ea typeface="Cambria" pitchFamily="34" charset="-122"/>
                <a:cs typeface="Cambria" pitchFamily="34" charset="-120"/>
              </a:rPr>
              <a:t>Abstract Class</a:t>
            </a:r>
            <a:endParaRPr lang="en-US" sz="2000" dirty="0"/>
          </a:p>
        </p:txBody>
      </p:sp>
      <p:sp>
        <p:nvSpPr>
          <p:cNvPr id="7" name="Text 5"/>
          <p:cNvSpPr txBox="1"/>
          <p:nvPr/>
        </p:nvSpPr>
        <p:spPr>
          <a:xfrm>
            <a:off x="6309360" y="2194560"/>
            <a:ext cx="534924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Interface</a:t>
            </a:r>
            <a:endParaRPr lang="en-US" sz="2000" dirty="0"/>
          </a:p>
        </p:txBody>
      </p:sp>
      <p:sp>
        <p:nvSpPr>
          <p:cNvPr id="8" name="Text 6"/>
          <p:cNvSpPr txBox="1"/>
          <p:nvPr/>
        </p:nvSpPr>
        <p:spPr>
          <a:xfrm>
            <a:off x="914400" y="2834640"/>
            <a:ext cx="4617720" cy="288036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250" dirty="0">
                <a:solidFill>
                  <a:srgbClr val="2A2E45"/>
                </a:solidFill>
                <a:latin typeface="Calibri" pitchFamily="34" charset="0"/>
                <a:ea typeface="Calibri" pitchFamily="34" charset="-122"/>
                <a:cs typeface="Calibri" pitchFamily="34" charset="-120"/>
              </a:rPr>
              <a:t>extends only one parent</a:t>
            </a:r>
            <a:endParaRPr lang="en-US" sz="1250" dirty="0"/>
          </a:p>
          <a:p>
            <a:pPr marL="342900" indent="-342900">
              <a:lnSpc>
                <a:spcPct val="125000"/>
              </a:lnSpc>
              <a:spcAft>
                <a:spcPts val="1000"/>
              </a:spcAft>
              <a:buSzPct val="100000"/>
              <a:buChar char="•"/>
            </a:pPr>
            <a:r>
              <a:rPr lang="en-US" sz="1250" dirty="0">
                <a:solidFill>
                  <a:srgbClr val="2A2E45"/>
                </a:solidFill>
                <a:latin typeface="Calibri" pitchFamily="34" charset="0"/>
                <a:ea typeface="Calibri" pitchFamily="34" charset="-122"/>
                <a:cs typeface="Calibri" pitchFamily="34" charset="-120"/>
              </a:rPr>
              <a:t>can hold fields and constructors</a:t>
            </a:r>
            <a:endParaRPr lang="en-US" sz="1250" dirty="0"/>
          </a:p>
          <a:p>
            <a:pPr marL="342900" indent="-342900">
              <a:lnSpc>
                <a:spcPct val="125000"/>
              </a:lnSpc>
              <a:spcAft>
                <a:spcPts val="1000"/>
              </a:spcAft>
              <a:buSzPct val="100000"/>
              <a:buChar char="•"/>
            </a:pPr>
            <a:r>
              <a:rPr lang="en-US" sz="1250" dirty="0">
                <a:solidFill>
                  <a:srgbClr val="2A2E45"/>
                </a:solidFill>
                <a:latin typeface="Calibri" pitchFamily="34" charset="0"/>
                <a:ea typeface="Calibri" pitchFamily="34" charset="-122"/>
                <a:cs typeface="Calibri" pitchFamily="34" charset="-120"/>
              </a:rPr>
              <a:t>mixes abstract and fully-implemented methods</a:t>
            </a:r>
            <a:endParaRPr lang="en-US" sz="1250" dirty="0"/>
          </a:p>
          <a:p>
            <a:pPr marL="342900" indent="-342900">
              <a:lnSpc>
                <a:spcPct val="125000"/>
              </a:lnSpc>
              <a:spcAft>
                <a:spcPts val="1000"/>
              </a:spcAft>
              <a:buSzPct val="100000"/>
              <a:buChar char="•"/>
            </a:pPr>
            <a:r>
              <a:rPr lang="en-US" sz="1250" dirty="0">
                <a:solidFill>
                  <a:srgbClr val="2A2E45"/>
                </a:solidFill>
                <a:latin typeface="Calibri" pitchFamily="34" charset="0"/>
                <a:ea typeface="Calibri" pitchFamily="34" charset="-122"/>
                <a:cs typeface="Calibri" pitchFamily="34" charset="-120"/>
              </a:rPr>
              <a:t>best when classes share real code (Person → Student)</a:t>
            </a:r>
            <a:endParaRPr lang="en-US" sz="1250" dirty="0"/>
          </a:p>
          <a:p>
            <a:pPr marL="342900" indent="-342900">
              <a:lnSpc>
                <a:spcPct val="125000"/>
              </a:lnSpc>
              <a:spcAft>
                <a:spcPts val="1000"/>
              </a:spcAft>
              <a:buSzPct val="100000"/>
              <a:buChar char="•"/>
            </a:pPr>
            <a:r>
              <a:rPr lang="en-US" sz="1250" dirty="0">
                <a:solidFill>
                  <a:srgbClr val="2A2E45"/>
                </a:solidFill>
                <a:latin typeface="Calibri" pitchFamily="34" charset="0"/>
                <a:ea typeface="Calibri" pitchFamily="34" charset="-122"/>
                <a:cs typeface="Calibri" pitchFamily="34" charset="-120"/>
              </a:rPr>
              <a:t>a class still extends only one parent, even here</a:t>
            </a:r>
            <a:endParaRPr lang="en-US" sz="1250" dirty="0"/>
          </a:p>
        </p:txBody>
      </p:sp>
      <p:sp>
        <p:nvSpPr>
          <p:cNvPr id="9" name="Text 7"/>
          <p:cNvSpPr txBox="1"/>
          <p:nvPr/>
        </p:nvSpPr>
        <p:spPr>
          <a:xfrm>
            <a:off x="6675120" y="2834640"/>
            <a:ext cx="4617720" cy="288036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a class can implement many interfaces</a:t>
            </a:r>
            <a:endParaRPr lang="en-US" sz="1250" dirty="0"/>
          </a:p>
          <a:p>
            <a:pPr marL="342900" indent="-342900">
              <a:lnSpc>
                <a:spcPct val="125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only constants (public static final) as fields</a:t>
            </a:r>
            <a:endParaRPr lang="en-US" sz="1250" dirty="0"/>
          </a:p>
          <a:p>
            <a:pPr marL="342900" indent="-342900">
              <a:lnSpc>
                <a:spcPct val="125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can have default &amp; static methods (Java 8+), plus abstract ones</a:t>
            </a:r>
            <a:endParaRPr lang="en-US" sz="1250" dirty="0"/>
          </a:p>
          <a:p>
            <a:pPr marL="342900" indent="-342900">
              <a:lnSpc>
                <a:spcPct val="125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best for a capability unrelated classes share (Enrollable)</a:t>
            </a:r>
            <a:endParaRPr lang="en-US" sz="1250" dirty="0"/>
          </a:p>
          <a:p>
            <a:pPr marL="342900" indent="-342900">
              <a:lnSpc>
                <a:spcPct val="125000"/>
              </a:lnSpc>
              <a:spcAft>
                <a:spcPts val="1000"/>
              </a:spcAft>
              <a:buSzPct val="100000"/>
              <a:buChar char="•"/>
            </a:pPr>
            <a:r>
              <a:rPr lang="en-US" sz="1250" dirty="0">
                <a:solidFill>
                  <a:srgbClr val="CADCFC"/>
                </a:solidFill>
                <a:latin typeface="Calibri" pitchFamily="34" charset="0"/>
                <a:ea typeface="Calibri" pitchFamily="34" charset="-122"/>
                <a:cs typeface="Calibri" pitchFamily="34" charset="-120"/>
              </a:rPr>
              <a:t>implement as many as you need — no diamond problem</a:t>
            </a:r>
            <a:endParaRPr lang="en-US" sz="1250" dirty="0"/>
          </a:p>
        </p:txBody>
      </p:sp>
      <p:sp>
        <p:nvSpPr>
          <p:cNvPr id="10" name="Text 8"/>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FOUNDATIONS</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Is an Object?</a:t>
            </a:r>
            <a:endParaRPr lang="en-US" sz="3200" dirty="0"/>
          </a:p>
        </p:txBody>
      </p:sp>
      <p:sp>
        <p:nvSpPr>
          <p:cNvPr id="4" name="Text 2"/>
          <p:cNvSpPr txBox="1"/>
          <p:nvPr/>
        </p:nvSpPr>
        <p:spPr>
          <a:xfrm>
            <a:off x="548640" y="1874520"/>
            <a:ext cx="5120640" cy="274320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An object is a real instance built from a class, using the new keyword.</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new allocates memory and runs the constructor.</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Each object gets its own copy of the instance fields.</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Changing one object's data never affects another object of the same class.</a:t>
            </a:r>
            <a:endParaRPr lang="en-US" sz="1400" dirty="0"/>
          </a:p>
        </p:txBody>
      </p:sp>
      <p:sp>
        <p:nvSpPr>
          <p:cNvPr id="5" name="Shape 3"/>
          <p:cNvSpPr/>
          <p:nvPr/>
        </p:nvSpPr>
        <p:spPr>
          <a:xfrm>
            <a:off x="822960" y="4709160"/>
            <a:ext cx="2103120" cy="502920"/>
          </a:xfrm>
          <a:prstGeom prst="roundRect">
            <a:avLst>
              <a:gd name="adj" fmla="val 9091"/>
            </a:avLst>
          </a:prstGeom>
          <a:solidFill>
            <a:srgbClr val="1E2761"/>
          </a:solidFill>
          <a:ln/>
        </p:spPr>
        <p:txBody>
          <a:bodyPr/>
          <a:lstStyle/>
          <a:p>
            <a:endParaRPr lang="en-US"/>
          </a:p>
        </p:txBody>
      </p:sp>
      <p:sp>
        <p:nvSpPr>
          <p:cNvPr id="6" name="Text 4"/>
          <p:cNvSpPr txBox="1"/>
          <p:nvPr/>
        </p:nvSpPr>
        <p:spPr>
          <a:xfrm>
            <a:off x="822960" y="4709160"/>
            <a:ext cx="2103120" cy="50292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class Student</a:t>
            </a:r>
            <a:endParaRPr lang="en-US" sz="1100" dirty="0"/>
          </a:p>
        </p:txBody>
      </p:sp>
      <p:sp>
        <p:nvSpPr>
          <p:cNvPr id="7" name="Shape 5"/>
          <p:cNvSpPr/>
          <p:nvPr/>
        </p:nvSpPr>
        <p:spPr>
          <a:xfrm>
            <a:off x="548640" y="5532120"/>
            <a:ext cx="2331720" cy="502920"/>
          </a:xfrm>
          <a:prstGeom prst="roundRect">
            <a:avLst>
              <a:gd name="adj" fmla="val 9091"/>
            </a:avLst>
          </a:prstGeom>
          <a:solidFill>
            <a:srgbClr val="3A4593"/>
          </a:solidFill>
          <a:ln/>
        </p:spPr>
        <p:txBody>
          <a:bodyPr/>
          <a:lstStyle/>
          <a:p>
            <a:endParaRPr lang="en-US"/>
          </a:p>
        </p:txBody>
      </p:sp>
      <p:sp>
        <p:nvSpPr>
          <p:cNvPr id="8" name="Text 6"/>
          <p:cNvSpPr txBox="1"/>
          <p:nvPr/>
        </p:nvSpPr>
        <p:spPr>
          <a:xfrm>
            <a:off x="548640" y="5532120"/>
            <a:ext cx="2331720" cy="502920"/>
          </a:xfrm>
          <a:prstGeom prst="rect">
            <a:avLst/>
          </a:prstGeom>
          <a:noFill/>
          <a:ln/>
        </p:spPr>
        <p:txBody>
          <a:bodyPr wrap="square" lIns="25400" tIns="25400" rIns="25400" bIns="254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s1: name="Ana"</a:t>
            </a:r>
            <a:endParaRPr lang="en-US" sz="1000" dirty="0"/>
          </a:p>
        </p:txBody>
      </p:sp>
      <p:sp>
        <p:nvSpPr>
          <p:cNvPr id="9" name="Shape 7"/>
          <p:cNvSpPr/>
          <p:nvPr/>
        </p:nvSpPr>
        <p:spPr>
          <a:xfrm>
            <a:off x="3063240" y="5532120"/>
            <a:ext cx="2331720" cy="502920"/>
          </a:xfrm>
          <a:prstGeom prst="roundRect">
            <a:avLst>
              <a:gd name="adj" fmla="val 9091"/>
            </a:avLst>
          </a:prstGeom>
          <a:solidFill>
            <a:srgbClr val="3A4593"/>
          </a:solidFill>
          <a:ln/>
        </p:spPr>
        <p:txBody>
          <a:bodyPr/>
          <a:lstStyle/>
          <a:p>
            <a:endParaRPr lang="en-US"/>
          </a:p>
        </p:txBody>
      </p:sp>
      <p:sp>
        <p:nvSpPr>
          <p:cNvPr id="10" name="Text 8"/>
          <p:cNvSpPr txBox="1"/>
          <p:nvPr/>
        </p:nvSpPr>
        <p:spPr>
          <a:xfrm>
            <a:off x="3063240" y="5532120"/>
            <a:ext cx="2331720" cy="502920"/>
          </a:xfrm>
          <a:prstGeom prst="rect">
            <a:avLst/>
          </a:prstGeom>
          <a:noFill/>
          <a:ln/>
        </p:spPr>
        <p:txBody>
          <a:bodyPr wrap="square" lIns="25400" tIns="25400" rIns="25400" bIns="254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s2: name="Diego"</a:t>
            </a:r>
            <a:endParaRPr lang="en-US" sz="1000" dirty="0"/>
          </a:p>
        </p:txBody>
      </p:sp>
      <p:sp>
        <p:nvSpPr>
          <p:cNvPr id="11" name="Shape 9"/>
          <p:cNvSpPr/>
          <p:nvPr/>
        </p:nvSpPr>
        <p:spPr>
          <a:xfrm>
            <a:off x="1417320" y="5212080"/>
            <a:ext cx="0" cy="320040"/>
          </a:xfrm>
          <a:prstGeom prst="line">
            <a:avLst/>
          </a:prstGeom>
          <a:noFill/>
          <a:ln w="15875">
            <a:solidFill>
              <a:srgbClr val="6B7280"/>
            </a:solidFill>
            <a:prstDash val="solid"/>
            <a:tailEnd type="triangle"/>
          </a:ln>
        </p:spPr>
        <p:txBody>
          <a:bodyPr/>
          <a:lstStyle/>
          <a:p>
            <a:endParaRPr lang="en-US"/>
          </a:p>
        </p:txBody>
      </p:sp>
      <p:sp>
        <p:nvSpPr>
          <p:cNvPr id="13" name="Shape 11"/>
          <p:cNvSpPr/>
          <p:nvPr/>
        </p:nvSpPr>
        <p:spPr>
          <a:xfrm>
            <a:off x="5989320" y="1828800"/>
            <a:ext cx="5669280" cy="2743200"/>
          </a:xfrm>
          <a:prstGeom prst="roundRect">
            <a:avLst>
              <a:gd name="adj" fmla="val 2667"/>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14" name="Text 12"/>
          <p:cNvSpPr txBox="1"/>
          <p:nvPr/>
        </p:nvSpPr>
        <p:spPr>
          <a:xfrm>
            <a:off x="6245352" y="2029968"/>
            <a:ext cx="5157216" cy="2340864"/>
          </a:xfrm>
          <a:prstGeom prst="rect">
            <a:avLst/>
          </a:prstGeom>
          <a:noFill/>
          <a:ln/>
        </p:spPr>
        <p:txBody>
          <a:bodyPr wrap="square" lIns="0" tIns="0" rIns="0" bIns="0" rtlCol="0" anchor="t"/>
          <a:lstStyle/>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Student s1 = </a:t>
            </a:r>
            <a:r>
              <a:rPr lang="en-US" sz="1300" b="1" dirty="0">
                <a:solidFill>
                  <a:srgbClr val="F2A65A"/>
                </a:solidFill>
                <a:latin typeface="Courier New" pitchFamily="34" charset="0"/>
                <a:ea typeface="Courier New" pitchFamily="34" charset="-122"/>
                <a:cs typeface="Courier New" pitchFamily="34" charset="-120"/>
              </a:rPr>
              <a:t>new</a:t>
            </a:r>
            <a:r>
              <a:rPr lang="en-US" sz="1300" dirty="0">
                <a:solidFill>
                  <a:srgbClr val="CADCFC"/>
                </a:solidFill>
                <a:latin typeface="Courier New" pitchFamily="34" charset="0"/>
                <a:ea typeface="Courier New" pitchFamily="34" charset="-122"/>
                <a:cs typeface="Courier New" pitchFamily="34" charset="-120"/>
              </a:rPr>
              <a:t> Student();</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s1.name = "Ana";</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Student s2 = </a:t>
            </a:r>
            <a:r>
              <a:rPr lang="en-US" sz="1300" b="1" dirty="0">
                <a:solidFill>
                  <a:srgbClr val="F2A65A"/>
                </a:solidFill>
                <a:latin typeface="Courier New" pitchFamily="34" charset="0"/>
                <a:ea typeface="Courier New" pitchFamily="34" charset="-122"/>
                <a:cs typeface="Courier New" pitchFamily="34" charset="-120"/>
              </a:rPr>
              <a:t>new</a:t>
            </a:r>
            <a:r>
              <a:rPr lang="en-US" sz="1300" dirty="0">
                <a:solidFill>
                  <a:srgbClr val="CADCFC"/>
                </a:solidFill>
                <a:latin typeface="Courier New" pitchFamily="34" charset="0"/>
                <a:ea typeface="Courier New" pitchFamily="34" charset="-122"/>
                <a:cs typeface="Courier New" pitchFamily="34" charset="-120"/>
              </a:rPr>
              <a:t> Student();</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s2.name = "Diego";</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6FCF97"/>
                </a:solidFill>
                <a:latin typeface="Courier New" pitchFamily="34" charset="0"/>
                <a:ea typeface="Courier New" pitchFamily="34" charset="-122"/>
                <a:cs typeface="Courier New" pitchFamily="34" charset="-120"/>
              </a:rPr>
              <a:t>// s1 and s2 are two separate objects --</a:t>
            </a:r>
            <a:endParaRPr lang="en-US" sz="1300" dirty="0"/>
          </a:p>
          <a:p>
            <a:pPr marL="0" indent="0">
              <a:lnSpc>
                <a:spcPct val="125000"/>
              </a:lnSpc>
              <a:buNone/>
            </a:pPr>
            <a:r>
              <a:rPr lang="en-US" sz="1300" dirty="0">
                <a:solidFill>
                  <a:srgbClr val="6FCF97"/>
                </a:solidFill>
                <a:latin typeface="Courier New" pitchFamily="34" charset="0"/>
                <a:ea typeface="Courier New" pitchFamily="34" charset="-122"/>
                <a:cs typeface="Courier New" pitchFamily="34" charset="-120"/>
              </a:rPr>
              <a:t>// changing s2 never touches s1</a:t>
            </a:r>
            <a:endParaRPr lang="en-US" sz="1300" dirty="0"/>
          </a:p>
        </p:txBody>
      </p:sp>
      <p:sp>
        <p:nvSpPr>
          <p:cNvPr id="15" name="Text 13"/>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cxnSp>
        <p:nvCxnSpPr>
          <p:cNvPr id="17" name="Connector: Elbow 16">
            <a:extLst>
              <a:ext uri="{FF2B5EF4-FFF2-40B4-BE49-F238E27FC236}">
                <a16:creationId xmlns:a16="http://schemas.microsoft.com/office/drawing/2014/main" id="{B60FCF3E-2224-A3C2-FFFE-C726379D4354}"/>
              </a:ext>
            </a:extLst>
          </p:cNvPr>
          <p:cNvCxnSpPr>
            <a:stCxn id="6" idx="3"/>
            <a:endCxn id="10" idx="0"/>
          </p:cNvCxnSpPr>
          <p:nvPr/>
        </p:nvCxnSpPr>
        <p:spPr>
          <a:xfrm>
            <a:off x="2926080" y="4960620"/>
            <a:ext cx="1303020" cy="5715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1E2761"/>
          </a:solidFill>
          <a:ln/>
        </p:spPr>
        <p:txBody>
          <a:bodyPr/>
          <a:lstStyle/>
          <a:p>
            <a:endParaRPr lang="en-US"/>
          </a:p>
        </p:txBody>
      </p:sp>
      <p:sp>
        <p:nvSpPr>
          <p:cNvPr id="3" name="Text 1"/>
          <p:cNvSpPr txBox="1"/>
          <p:nvPr/>
        </p:nvSpPr>
        <p:spPr>
          <a:xfrm>
            <a:off x="548640" y="50292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mbria" pitchFamily="34" charset="0"/>
                <a:ea typeface="Cambria" pitchFamily="34" charset="-122"/>
                <a:cs typeface="Cambria" pitchFamily="34" charset="-120"/>
              </a:rPr>
              <a:t>E</a:t>
            </a:r>
            <a:endParaRPr lang="en-US" sz="1430" dirty="0"/>
          </a:p>
        </p:txBody>
      </p:sp>
      <p:sp>
        <p:nvSpPr>
          <p:cNvPr id="4" name="Text 2"/>
          <p:cNvSpPr txBox="1"/>
          <p:nvPr/>
        </p:nvSpPr>
        <p:spPr>
          <a:xfrm>
            <a:off x="1234440" y="502920"/>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1 — DEFINITION</a:t>
            </a:r>
            <a:endParaRPr lang="en-US" sz="1200" dirty="0"/>
          </a:p>
        </p:txBody>
      </p:sp>
      <p:sp>
        <p:nvSpPr>
          <p:cNvPr id="5" name="Text 3"/>
          <p:cNvSpPr txBox="1"/>
          <p:nvPr/>
        </p:nvSpPr>
        <p:spPr>
          <a:xfrm>
            <a:off x="1234440" y="777240"/>
            <a:ext cx="1051560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Encapsulation</a:t>
            </a:r>
            <a:endParaRPr lang="en-US" sz="3000" dirty="0"/>
          </a:p>
        </p:txBody>
      </p:sp>
      <p:sp>
        <p:nvSpPr>
          <p:cNvPr id="6" name="Text 4"/>
          <p:cNvSpPr txBox="1"/>
          <p:nvPr/>
        </p:nvSpPr>
        <p:spPr>
          <a:xfrm>
            <a:off x="548640" y="1874520"/>
            <a:ext cx="10881360" cy="173736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Bundling data and the methods that operate on it into one unit — the class.</a:t>
            </a:r>
            <a:endParaRPr lang="en-US" sz="1450" dirty="0"/>
          </a:p>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Restricting direct access to that data from outside the class.</a:t>
            </a:r>
            <a:endParaRPr lang="en-US" sz="1450" dirty="0"/>
          </a:p>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The class itself decides its own rules before any data changes.</a:t>
            </a:r>
            <a:endParaRPr lang="en-US" sz="1450" dirty="0"/>
          </a:p>
        </p:txBody>
      </p:sp>
      <p:sp>
        <p:nvSpPr>
          <p:cNvPr id="7" name="Shape 5"/>
          <p:cNvSpPr/>
          <p:nvPr/>
        </p:nvSpPr>
        <p:spPr>
          <a:xfrm>
            <a:off x="548640" y="3749040"/>
            <a:ext cx="10881360" cy="914400"/>
          </a:xfrm>
          <a:prstGeom prst="roundRect">
            <a:avLst>
              <a:gd name="adj" fmla="val 6000"/>
            </a:avLst>
          </a:prstGeom>
          <a:solidFill>
            <a:srgbClr val="1E2761"/>
          </a:solidFill>
          <a:ln/>
        </p:spPr>
        <p:txBody>
          <a:bodyPr/>
          <a:lstStyle/>
          <a:p>
            <a:endParaRPr lang="en-US"/>
          </a:p>
        </p:txBody>
      </p:sp>
      <p:sp>
        <p:nvSpPr>
          <p:cNvPr id="8" name="Text 6"/>
          <p:cNvSpPr txBox="1"/>
          <p:nvPr/>
        </p:nvSpPr>
        <p:spPr>
          <a:xfrm>
            <a:off x="777240" y="3749040"/>
            <a:ext cx="10424160" cy="9144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Real-world analogy: an apartment building. Without a lock, anyone can walk into any apartment and touch what's inside. Add a keypad code to the door, and the only way in is through that one controlled entrance.</a:t>
            </a:r>
            <a:endParaRPr lang="en-US" sz="1300" dirty="0"/>
          </a:p>
        </p:txBody>
      </p:sp>
      <p:sp>
        <p:nvSpPr>
          <p:cNvPr id="9" name="Text 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1 — THE PROBLEM</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Without Encapsulation: Anything Goes</a:t>
            </a:r>
            <a:endParaRPr lang="en-US" sz="3200" dirty="0"/>
          </a:p>
        </p:txBody>
      </p:sp>
      <p:sp>
        <p:nvSpPr>
          <p:cNvPr id="4" name="Text 2"/>
          <p:cNvSpPr txBox="1"/>
          <p:nvPr/>
        </p:nvSpPr>
        <p:spPr>
          <a:xfrm>
            <a:off x="548640" y="1874520"/>
            <a:ext cx="5120640" cy="237744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If fields are public, any code anywhere can set them directly.</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Nothing checks whether the new value actually makes sense.</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There's no single place responsible for keeping the object valid.</a:t>
            </a:r>
            <a:endParaRPr lang="en-US" sz="1400" dirty="0"/>
          </a:p>
        </p:txBody>
      </p:sp>
      <p:sp>
        <p:nvSpPr>
          <p:cNvPr id="5" name="Shape 3"/>
          <p:cNvSpPr/>
          <p:nvPr/>
        </p:nvSpPr>
        <p:spPr>
          <a:xfrm>
            <a:off x="5989320" y="1828800"/>
            <a:ext cx="5669280" cy="2880360"/>
          </a:xfrm>
          <a:prstGeom prst="roundRect">
            <a:avLst>
              <a:gd name="adj" fmla="val 2540"/>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2029968"/>
            <a:ext cx="5157216" cy="2478024"/>
          </a:xfrm>
          <a:prstGeom prst="rect">
            <a:avLst/>
          </a:prstGeom>
          <a:noFill/>
          <a:ln/>
        </p:spPr>
        <p:txBody>
          <a:bodyPr wrap="square" lIns="0" tIns="0" rIns="0" bIns="0" rtlCol="0" anchor="t"/>
          <a:lstStyle/>
          <a:p>
            <a:pPr marL="0" indent="0">
              <a:lnSpc>
                <a:spcPct val="125000"/>
              </a:lnSpc>
              <a:buNone/>
            </a:pP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class</a:t>
            </a:r>
            <a:r>
              <a:rPr lang="en-US" sz="1300" dirty="0">
                <a:solidFill>
                  <a:srgbClr val="CADCFC"/>
                </a:solidFill>
                <a:latin typeface="Courier New" pitchFamily="34" charset="0"/>
                <a:ea typeface="Courier New" pitchFamily="34" charset="-122"/>
                <a:cs typeface="Courier New" pitchFamily="34" charset="-120"/>
              </a:rPr>
              <a:t> Student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String name;</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r>
              <a:rPr lang="en-US" sz="1300" b="1" dirty="0">
                <a:solidFill>
                  <a:srgbClr val="F2A65A"/>
                </a:solidFill>
                <a:latin typeface="Courier New" pitchFamily="34" charset="0"/>
                <a:ea typeface="Courier New" pitchFamily="34" charset="-122"/>
                <a:cs typeface="Courier New" pitchFamily="34" charset="-120"/>
              </a:rPr>
              <a:t>public</a:t>
            </a:r>
            <a:r>
              <a:rPr lang="en-US" sz="1300" dirty="0">
                <a:solidFill>
                  <a:srgbClr val="CADCFC"/>
                </a:solidFill>
                <a:latin typeface="Courier New" pitchFamily="34" charset="0"/>
                <a:ea typeface="Courier New" pitchFamily="34" charset="-122"/>
                <a:cs typeface="Courier New" pitchFamily="34" charset="-120"/>
              </a:rPr>
              <a:t> int age;</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Student s = </a:t>
            </a:r>
            <a:r>
              <a:rPr lang="en-US" sz="1300" b="1" dirty="0">
                <a:solidFill>
                  <a:srgbClr val="F2A65A"/>
                </a:solidFill>
                <a:latin typeface="Courier New" pitchFamily="34" charset="0"/>
                <a:ea typeface="Courier New" pitchFamily="34" charset="-122"/>
                <a:cs typeface="Courier New" pitchFamily="34" charset="-120"/>
              </a:rPr>
              <a:t>new</a:t>
            </a:r>
            <a:r>
              <a:rPr lang="en-US" sz="1300" dirty="0">
                <a:solidFill>
                  <a:srgbClr val="CADCFC"/>
                </a:solidFill>
                <a:latin typeface="Courier New" pitchFamily="34" charset="0"/>
                <a:ea typeface="Courier New" pitchFamily="34" charset="-122"/>
                <a:cs typeface="Courier New" pitchFamily="34" charset="-120"/>
              </a:rPr>
              <a:t> Student();</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s.age = -5;      // invalid, but compiles fine</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s.name = null;   // nothing stops </a:t>
            </a:r>
            <a:r>
              <a:rPr lang="en-US" sz="1300" b="1" dirty="0">
                <a:solidFill>
                  <a:srgbClr val="F2A65A"/>
                </a:solidFill>
                <a:latin typeface="Courier New" pitchFamily="34" charset="0"/>
                <a:ea typeface="Courier New" pitchFamily="34" charset="-122"/>
                <a:cs typeface="Courier New" pitchFamily="34" charset="-120"/>
              </a:rPr>
              <a:t>this</a:t>
            </a:r>
            <a:r>
              <a:rPr lang="en-US" sz="1300" dirty="0">
                <a:solidFill>
                  <a:srgbClr val="CADCFC"/>
                </a:solidFill>
                <a:latin typeface="Courier New" pitchFamily="34" charset="0"/>
                <a:ea typeface="Courier New" pitchFamily="34" charset="-122"/>
                <a:cs typeface="Courier New" pitchFamily="34" charset="-120"/>
              </a:rPr>
              <a:t> either</a:t>
            </a:r>
            <a:endParaRPr lang="en-US" sz="1300" dirty="0"/>
          </a:p>
        </p:txBody>
      </p:sp>
      <p:sp>
        <p:nvSpPr>
          <p:cNvPr id="7" name="Shape 5"/>
          <p:cNvSpPr/>
          <p:nvPr/>
        </p:nvSpPr>
        <p:spPr>
          <a:xfrm>
            <a:off x="5989320" y="4892040"/>
            <a:ext cx="5669280" cy="868680"/>
          </a:xfrm>
          <a:prstGeom prst="roundRect">
            <a:avLst>
              <a:gd name="adj" fmla="val 6316"/>
            </a:avLst>
          </a:prstGeom>
          <a:solidFill>
            <a:srgbClr val="E4572E"/>
          </a:solidFill>
          <a:ln/>
        </p:spPr>
        <p:txBody>
          <a:bodyPr/>
          <a:lstStyle/>
          <a:p>
            <a:endParaRPr lang="en-US"/>
          </a:p>
        </p:txBody>
      </p:sp>
      <p:sp>
        <p:nvSpPr>
          <p:cNvPr id="8" name="Text 6"/>
          <p:cNvSpPr txBox="1"/>
          <p:nvPr/>
        </p:nvSpPr>
        <p:spPr>
          <a:xfrm>
            <a:off x="6217920" y="4892040"/>
            <a:ext cx="5212080" cy="86868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Nothing in the class stops bad data from getting in -- every part of the program can break the object's own rules.</a:t>
            </a:r>
            <a:endParaRPr lang="en-US" sz="1200" dirty="0"/>
          </a:p>
        </p:txBody>
      </p:sp>
      <p:sp>
        <p:nvSpPr>
          <p:cNvPr id="9" name="Text 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1 — THE FIX</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With Encapsulation: Guarding the Data</a:t>
            </a:r>
            <a:endParaRPr lang="en-US" sz="3200" dirty="0"/>
          </a:p>
        </p:txBody>
      </p:sp>
      <p:sp>
        <p:nvSpPr>
          <p:cNvPr id="4" name="Text 2"/>
          <p:cNvSpPr txBox="1"/>
          <p:nvPr/>
        </p:nvSpPr>
        <p:spPr>
          <a:xfrm>
            <a:off x="548640" y="1874520"/>
            <a:ext cx="5120640" cy="237744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Make fields private so nothing outside the class can touch them directly.</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Add public methods that control HOW the data can change.</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Reject invalid data at the source, every single time.</a:t>
            </a:r>
            <a:endParaRPr lang="en-US" sz="1400" dirty="0"/>
          </a:p>
        </p:txBody>
      </p:sp>
      <p:sp>
        <p:nvSpPr>
          <p:cNvPr id="5" name="Shape 3"/>
          <p:cNvSpPr/>
          <p:nvPr/>
        </p:nvSpPr>
        <p:spPr>
          <a:xfrm>
            <a:off x="5989320" y="1828800"/>
            <a:ext cx="5669280" cy="3931920"/>
          </a:xfrm>
          <a:prstGeom prst="roundRect">
            <a:avLst>
              <a:gd name="adj" fmla="val 1860"/>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2029968"/>
            <a:ext cx="5157216" cy="3529584"/>
          </a:xfrm>
          <a:prstGeom prst="rect">
            <a:avLst/>
          </a:prstGeom>
          <a:noFill/>
          <a:ln/>
        </p:spPr>
        <p:txBody>
          <a:bodyPr wrap="square" lIns="0" tIns="0" rIns="0" bIns="0" rtlCol="0" anchor="t"/>
          <a:lstStyle/>
          <a:p>
            <a:pPr marL="0" indent="0">
              <a:lnSpc>
                <a:spcPct val="125000"/>
              </a:lnSpc>
              <a:buNone/>
            </a:pP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class</a:t>
            </a:r>
            <a:r>
              <a:rPr lang="en-US" sz="1250" dirty="0">
                <a:solidFill>
                  <a:srgbClr val="CADCFC"/>
                </a:solidFill>
                <a:latin typeface="Courier New" pitchFamily="34" charset="0"/>
                <a:ea typeface="Courier New" pitchFamily="34" charset="-122"/>
                <a:cs typeface="Courier New" pitchFamily="34" charset="-120"/>
              </a:rPr>
              <a:t> Student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private</a:t>
            </a:r>
            <a:r>
              <a:rPr lang="en-US" sz="1250" dirty="0">
                <a:solidFill>
                  <a:srgbClr val="CADCFC"/>
                </a:solidFill>
                <a:latin typeface="Courier New" pitchFamily="34" charset="0"/>
                <a:ea typeface="Courier New" pitchFamily="34" charset="-122"/>
                <a:cs typeface="Courier New" pitchFamily="34" charset="-120"/>
              </a:rPr>
              <a:t> int age;</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void</a:t>
            </a:r>
            <a:r>
              <a:rPr lang="en-US" sz="1250" dirty="0">
                <a:solidFill>
                  <a:srgbClr val="CADCFC"/>
                </a:solidFill>
                <a:latin typeface="Courier New" pitchFamily="34" charset="0"/>
                <a:ea typeface="Courier New" pitchFamily="34" charset="-122"/>
                <a:cs typeface="Courier New" pitchFamily="34" charset="-120"/>
              </a:rPr>
              <a:t> setAge(int age)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if (age &gt; 0)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this.age = age;</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 else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throw </a:t>
            </a:r>
            <a:r>
              <a:rPr lang="en-US" sz="1250" b="1" dirty="0">
                <a:solidFill>
                  <a:srgbClr val="F2A65A"/>
                </a:solidFill>
                <a:latin typeface="Courier New" pitchFamily="34" charset="0"/>
                <a:ea typeface="Courier New" pitchFamily="34" charset="-122"/>
                <a:cs typeface="Courier New" pitchFamily="34" charset="-120"/>
              </a:rPr>
              <a:t>new</a:t>
            </a:r>
            <a:r>
              <a:rPr lang="en-US" sz="1250" dirty="0">
                <a:solidFill>
                  <a:srgbClr val="CADCFC"/>
                </a:solidFill>
                <a:latin typeface="Courier New" pitchFamily="34" charset="0"/>
                <a:ea typeface="Courier New" pitchFamily="34" charset="-122"/>
                <a:cs typeface="Courier New" pitchFamily="34" charset="-120"/>
              </a:rPr>
              <a:t> IllegalArgumentException(</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"Age must be positive");</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int getAge() { </a:t>
            </a:r>
            <a:r>
              <a:rPr lang="en-US" sz="1250" b="1" dirty="0">
                <a:solidFill>
                  <a:srgbClr val="F2A65A"/>
                </a:solidFill>
                <a:latin typeface="Courier New" pitchFamily="34" charset="0"/>
                <a:ea typeface="Courier New" pitchFamily="34" charset="-122"/>
                <a:cs typeface="Courier New" pitchFamily="34" charset="-120"/>
              </a:rPr>
              <a:t>return</a:t>
            </a:r>
            <a:r>
              <a:rPr lang="en-US" sz="1250" dirty="0">
                <a:solidFill>
                  <a:srgbClr val="CADCFC"/>
                </a:solidFill>
                <a:latin typeface="Courier New" pitchFamily="34" charset="0"/>
                <a:ea typeface="Courier New" pitchFamily="34" charset="-122"/>
                <a:cs typeface="Courier New" pitchFamily="34" charset="-120"/>
              </a:rPr>
              <a:t> age;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a:t>
            </a:r>
            <a:endParaRPr lang="en-US" sz="1250" dirty="0"/>
          </a:p>
        </p:txBody>
      </p:sp>
      <p:sp>
        <p:nvSpPr>
          <p:cNvPr id="7"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1 — GOING DEEPER</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Access Modifiers: How Much Can Others See?</a:t>
            </a:r>
            <a:endParaRPr lang="en-US" sz="3200" dirty="0"/>
          </a:p>
        </p:txBody>
      </p:sp>
      <p:sp>
        <p:nvSpPr>
          <p:cNvPr id="4" name="Text 2"/>
          <p:cNvSpPr txBox="1"/>
          <p:nvPr/>
        </p:nvSpPr>
        <p:spPr>
          <a:xfrm>
            <a:off x="548640" y="1645920"/>
            <a:ext cx="10881360" cy="45720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dirty="0">
                <a:solidFill>
                  <a:srgbClr val="2A2E45"/>
                </a:solidFill>
                <a:latin typeface="Calibri" pitchFamily="34" charset="0"/>
                <a:ea typeface="Calibri" pitchFamily="34" charset="-122"/>
                <a:cs typeface="Calibri" pitchFamily="34" charset="-120"/>
              </a:rPr>
              <a:t>private and public are two of Java's four access levels -- each one draws the "wall" in a different place.</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0881360" cy="2651760"/>
        </p:xfrm>
        <a:graphic>
          <a:graphicData uri="http://schemas.openxmlformats.org/drawingml/2006/table">
            <a:tbl>
              <a:tblPr/>
              <a:tblGrid>
                <a:gridCol w="2286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530352">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Modifier</a:t>
                      </a:r>
                      <a:endParaRPr lang="en-US" sz="125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Same Class</a:t>
                      </a:r>
                      <a:endParaRPr lang="en-US" sz="125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Same Package</a:t>
                      </a:r>
                      <a:endParaRPr lang="en-US" sz="125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Subclass</a:t>
                      </a:r>
                      <a:endParaRPr lang="en-US" sz="1250" dirty="0">
                        <a:latin typeface="Calibri" charset="0"/>
                        <a:ea typeface="Calibri" charset="0"/>
                        <a:cs typeface="Calibri" charset="0"/>
                      </a:endParaRPr>
                    </a:p>
                    <a:p>
                      <a:pPr marL="0" indent="0" algn="ctr">
                        <a:buNone/>
                      </a:pPr>
                      <a:r>
                        <a:rPr lang="en-US" sz="1250" b="1" dirty="0">
                          <a:solidFill>
                            <a:srgbClr val="FFFFFF"/>
                          </a:solidFill>
                          <a:latin typeface="Calibri" pitchFamily="34" charset="0"/>
                          <a:ea typeface="Calibri" pitchFamily="34" charset="-122"/>
                          <a:cs typeface="Calibri" pitchFamily="34" charset="-120"/>
                        </a:rPr>
                        <a:t>(other package)</a:t>
                      </a:r>
                      <a:endParaRPr lang="en-US" sz="125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Everywhere</a:t>
                      </a:r>
                      <a:endParaRPr lang="en-US" sz="125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30352">
                <a:tc>
                  <a:txBody>
                    <a:bodyPr/>
                    <a:lstStyle/>
                    <a:p>
                      <a:pPr marL="0" indent="0">
                        <a:buNone/>
                      </a:pPr>
                      <a:r>
                        <a:rPr lang="en-US" sz="1300" b="1" dirty="0">
                          <a:solidFill>
                            <a:srgbClr val="2A2E45"/>
                          </a:solidFill>
                          <a:latin typeface="Courier New" pitchFamily="34" charset="0"/>
                          <a:ea typeface="Courier New" pitchFamily="34" charset="-122"/>
                          <a:cs typeface="Courier New" pitchFamily="34" charset="-120"/>
                        </a:rPr>
                        <a:t>private</a:t>
                      </a:r>
                      <a:endParaRPr lang="en-US" sz="1300" dirty="0">
                        <a:latin typeface="Courier New" charset="0"/>
                        <a:ea typeface="Courier New" charset="0"/>
                        <a:cs typeface="Courier New"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E457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E457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E457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buNone/>
                      </a:pPr>
                      <a:r>
                        <a:rPr lang="en-US" sz="1300" b="1" dirty="0">
                          <a:solidFill>
                            <a:srgbClr val="2A2E45"/>
                          </a:solidFill>
                          <a:latin typeface="Courier New" pitchFamily="34" charset="0"/>
                          <a:ea typeface="Courier New" pitchFamily="34" charset="-122"/>
                          <a:cs typeface="Courier New" pitchFamily="34" charset="-120"/>
                        </a:rPr>
                        <a:t>(none / default)</a:t>
                      </a:r>
                      <a:endParaRPr lang="en-US" sz="1300" dirty="0">
                        <a:latin typeface="Courier New" charset="0"/>
                        <a:ea typeface="Courier New" charset="0"/>
                        <a:cs typeface="Courier New"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E457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E457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buNone/>
                      </a:pPr>
                      <a:r>
                        <a:rPr lang="en-US" sz="1300" b="1" dirty="0">
                          <a:solidFill>
                            <a:srgbClr val="2A2E45"/>
                          </a:solidFill>
                          <a:latin typeface="Courier New" pitchFamily="34" charset="0"/>
                          <a:ea typeface="Courier New" pitchFamily="34" charset="-122"/>
                          <a:cs typeface="Courier New" pitchFamily="34" charset="-120"/>
                        </a:rPr>
                        <a:t>protected</a:t>
                      </a:r>
                      <a:endParaRPr lang="en-US" sz="1300" dirty="0">
                        <a:latin typeface="Courier New" charset="0"/>
                        <a:ea typeface="Courier New" charset="0"/>
                        <a:cs typeface="Courier New"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E4572E"/>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buNone/>
                      </a:pPr>
                      <a:r>
                        <a:rPr lang="en-US" sz="1300" b="1" dirty="0">
                          <a:solidFill>
                            <a:srgbClr val="2A2E45"/>
                          </a:solidFill>
                          <a:latin typeface="Courier New" pitchFamily="34" charset="0"/>
                          <a:ea typeface="Courier New" pitchFamily="34" charset="-122"/>
                          <a:cs typeface="Courier New" pitchFamily="34" charset="-120"/>
                        </a:rPr>
                        <a:t>public</a:t>
                      </a:r>
                      <a:endParaRPr lang="en-US" sz="1300" dirty="0">
                        <a:latin typeface="Courier New" charset="0"/>
                        <a:ea typeface="Courier New" charset="0"/>
                        <a:cs typeface="Courier New"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tc>
                  <a:txBody>
                    <a:bodyPr/>
                    <a:lstStyle/>
                    <a:p>
                      <a:pPr marL="0" indent="0" algn="ctr">
                        <a:buNone/>
                      </a:pPr>
                      <a:r>
                        <a:rPr lang="en-US" sz="1300" b="1" dirty="0">
                          <a:solidFill>
                            <a:srgbClr val="2E7D5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12700" cap="flat" cmpd="sng" algn="ctr">
                      <a:solidFill>
                        <a:srgbClr val="E3E7F0"/>
                      </a:solidFill>
                      <a:prstDash val="solid"/>
                      <a:round/>
                      <a:headEnd type="none" w="med" len="med"/>
                      <a:tailEnd type="none" w="med" len="med"/>
                    </a:lnL>
                    <a:lnR w="12700" cap="flat" cmpd="sng" algn="ctr">
                      <a:solidFill>
                        <a:srgbClr val="E3E7F0"/>
                      </a:solidFill>
                      <a:prstDash val="solid"/>
                      <a:round/>
                      <a:headEnd type="none" w="med" len="med"/>
                      <a:tailEnd type="none" w="med" len="med"/>
                    </a:lnR>
                    <a:lnT w="12700" cap="flat" cmpd="sng" algn="ctr">
                      <a:solidFill>
                        <a:srgbClr val="E3E7F0"/>
                      </a:solidFill>
                      <a:prstDash val="solid"/>
                      <a:round/>
                      <a:headEnd type="none" w="med" len="med"/>
                      <a:tailEnd type="none" w="med" len="med"/>
                    </a:lnT>
                    <a:lnB w="12700" cap="flat" cmpd="sng" algn="ctr">
                      <a:solidFill>
                        <a:srgbClr val="E3E7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548640" y="5166360"/>
            <a:ext cx="10881360" cy="777240"/>
          </a:xfrm>
          <a:prstGeom prst="roundRect">
            <a:avLst>
              <a:gd name="adj" fmla="val 7059"/>
            </a:avLst>
          </a:prstGeom>
          <a:solidFill>
            <a:srgbClr val="1E2761"/>
          </a:solidFill>
          <a:ln/>
        </p:spPr>
        <p:txBody>
          <a:bodyPr/>
          <a:lstStyle/>
          <a:p>
            <a:endParaRPr lang="en-US"/>
          </a:p>
        </p:txBody>
      </p:sp>
      <p:sp>
        <p:nvSpPr>
          <p:cNvPr id="7" name="Text 4"/>
          <p:cNvSpPr txBox="1"/>
          <p:nvPr/>
        </p:nvSpPr>
        <p:spPr>
          <a:xfrm>
            <a:off x="777240" y="5166360"/>
            <a:ext cx="10424160" cy="77724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In our Student class: age is private (Student only) -- setAge() and getAge() are public (everyone, but only through those methods).</a:t>
            </a:r>
            <a:endParaRPr lang="en-US" sz="1250" dirty="0"/>
          </a:p>
        </p:txBody>
      </p:sp>
      <p:sp>
        <p:nvSpPr>
          <p:cNvPr id="8"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1E2761"/>
          </a:solidFill>
          <a:ln/>
        </p:spPr>
        <p:txBody>
          <a:bodyPr/>
          <a:lstStyle/>
          <a:p>
            <a:endParaRPr lang="en-US"/>
          </a:p>
        </p:txBody>
      </p:sp>
      <p:sp>
        <p:nvSpPr>
          <p:cNvPr id="3" name="Text 1"/>
          <p:cNvSpPr txBox="1"/>
          <p:nvPr/>
        </p:nvSpPr>
        <p:spPr>
          <a:xfrm>
            <a:off x="548640" y="50292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mbria" pitchFamily="34" charset="0"/>
                <a:ea typeface="Cambria" pitchFamily="34" charset="-122"/>
                <a:cs typeface="Cambria" pitchFamily="34" charset="-120"/>
              </a:rPr>
              <a:t>I</a:t>
            </a:r>
            <a:endParaRPr lang="en-US" sz="1430" dirty="0"/>
          </a:p>
        </p:txBody>
      </p:sp>
      <p:sp>
        <p:nvSpPr>
          <p:cNvPr id="4" name="Text 2"/>
          <p:cNvSpPr txBox="1"/>
          <p:nvPr/>
        </p:nvSpPr>
        <p:spPr>
          <a:xfrm>
            <a:off x="1234440" y="502920"/>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2 — DEFINITION</a:t>
            </a:r>
            <a:endParaRPr lang="en-US" sz="1200" dirty="0"/>
          </a:p>
        </p:txBody>
      </p:sp>
      <p:sp>
        <p:nvSpPr>
          <p:cNvPr id="5" name="Text 3"/>
          <p:cNvSpPr txBox="1"/>
          <p:nvPr/>
        </p:nvSpPr>
        <p:spPr>
          <a:xfrm>
            <a:off x="1234440" y="777240"/>
            <a:ext cx="1051560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Inheritance</a:t>
            </a:r>
            <a:endParaRPr lang="en-US" sz="3000" dirty="0"/>
          </a:p>
        </p:txBody>
      </p:sp>
      <p:sp>
        <p:nvSpPr>
          <p:cNvPr id="6" name="Text 4"/>
          <p:cNvSpPr txBox="1"/>
          <p:nvPr/>
        </p:nvSpPr>
        <p:spPr>
          <a:xfrm>
            <a:off x="548640" y="1874520"/>
            <a:ext cx="10881360" cy="173736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A mechanism where a new class (child) acquires the fields and methods of an existing class (parent).</a:t>
            </a:r>
            <a:endParaRPr lang="en-US" sz="1450" dirty="0"/>
          </a:p>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The child can add new behavior, or override what it inherited.</a:t>
            </a:r>
            <a:endParaRPr lang="en-US" sz="1450" dirty="0"/>
          </a:p>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"extends" models an IS-A relationship: a Student IS-A Person.</a:t>
            </a:r>
            <a:endParaRPr lang="en-US" sz="1450" dirty="0"/>
          </a:p>
        </p:txBody>
      </p:sp>
      <p:sp>
        <p:nvSpPr>
          <p:cNvPr id="7" name="Shape 5"/>
          <p:cNvSpPr/>
          <p:nvPr/>
        </p:nvSpPr>
        <p:spPr>
          <a:xfrm>
            <a:off x="548640" y="3749040"/>
            <a:ext cx="10881360" cy="914400"/>
          </a:xfrm>
          <a:prstGeom prst="roundRect">
            <a:avLst>
              <a:gd name="adj" fmla="val 6000"/>
            </a:avLst>
          </a:prstGeom>
          <a:solidFill>
            <a:srgbClr val="1E2761"/>
          </a:solidFill>
          <a:ln/>
        </p:spPr>
        <p:txBody>
          <a:bodyPr/>
          <a:lstStyle/>
          <a:p>
            <a:endParaRPr lang="en-US"/>
          </a:p>
        </p:txBody>
      </p:sp>
      <p:sp>
        <p:nvSpPr>
          <p:cNvPr id="8" name="Text 6"/>
          <p:cNvSpPr txBox="1"/>
          <p:nvPr/>
        </p:nvSpPr>
        <p:spPr>
          <a:xfrm>
            <a:off x="777240" y="3749040"/>
            <a:ext cx="10424160" cy="9144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Real-world analogy: a car. A Toyota Corolla inherits everything that makes it a car -- wheels, an engine, the ability to drive -- then the brand and model each add their own features on top.</a:t>
            </a:r>
            <a:endParaRPr lang="en-US" sz="1300" dirty="0"/>
          </a:p>
        </p:txBody>
      </p:sp>
      <p:sp>
        <p:nvSpPr>
          <p:cNvPr id="9" name="Text 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2 — THE PROBLEM</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Without Inheritance: Repeating Yourself</a:t>
            </a:r>
            <a:endParaRPr lang="en-US" sz="3200" dirty="0"/>
          </a:p>
        </p:txBody>
      </p:sp>
      <p:sp>
        <p:nvSpPr>
          <p:cNvPr id="4" name="Text 2"/>
          <p:cNvSpPr txBox="1"/>
          <p:nvPr/>
        </p:nvSpPr>
        <p:spPr>
          <a:xfrm>
            <a:off x="548640" y="1874520"/>
            <a:ext cx="5120640" cy="265176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Student and Instructor both need a name, an id, and a way to read the name.</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Without a shared parent, that code gets written twice.</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Fix a bug in getName(), and you must remember to fix it everywhere it was copied.</a:t>
            </a:r>
            <a:endParaRPr lang="en-US" sz="1400" dirty="0"/>
          </a:p>
        </p:txBody>
      </p:sp>
      <p:sp>
        <p:nvSpPr>
          <p:cNvPr id="5" name="Shape 3"/>
          <p:cNvSpPr/>
          <p:nvPr/>
        </p:nvSpPr>
        <p:spPr>
          <a:xfrm>
            <a:off x="5989320" y="1600200"/>
            <a:ext cx="5669280" cy="4206240"/>
          </a:xfrm>
          <a:prstGeom prst="roundRect">
            <a:avLst>
              <a:gd name="adj" fmla="val 1739"/>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1801368"/>
            <a:ext cx="5157216" cy="3803904"/>
          </a:xfrm>
          <a:prstGeom prst="rect">
            <a:avLst/>
          </a:prstGeom>
          <a:noFill/>
          <a:ln/>
        </p:spPr>
        <p:txBody>
          <a:bodyPr wrap="square" lIns="0" tIns="0" rIns="0" bIns="0" rtlCol="0" anchor="t"/>
          <a:lstStyle/>
          <a:p>
            <a:pPr marL="0" indent="0">
              <a:lnSpc>
                <a:spcPct val="125000"/>
              </a:lnSpc>
              <a:buNone/>
            </a:pPr>
            <a:r>
              <a:rPr lang="en-US" sz="1150" b="1" dirty="0">
                <a:solidFill>
                  <a:srgbClr val="F2A65A"/>
                </a:solidFill>
                <a:latin typeface="Courier New" pitchFamily="34" charset="0"/>
                <a:ea typeface="Courier New" pitchFamily="34" charset="-122"/>
                <a:cs typeface="Courier New" pitchFamily="34" charset="-120"/>
              </a:rPr>
              <a:t>public</a:t>
            </a: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class</a:t>
            </a:r>
            <a:r>
              <a:rPr lang="en-US" sz="1150" dirty="0">
                <a:solidFill>
                  <a:srgbClr val="CADCFC"/>
                </a:solidFill>
                <a:latin typeface="Courier New" pitchFamily="34" charset="0"/>
                <a:ea typeface="Courier New" pitchFamily="34" charset="-122"/>
                <a:cs typeface="Courier New" pitchFamily="34" charset="-120"/>
              </a:rPr>
              <a:t> Student {</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private</a:t>
            </a:r>
            <a:r>
              <a:rPr lang="en-US" sz="1150" dirty="0">
                <a:solidFill>
                  <a:srgbClr val="CADCFC"/>
                </a:solidFill>
                <a:latin typeface="Courier New" pitchFamily="34" charset="0"/>
                <a:ea typeface="Courier New" pitchFamily="34" charset="-122"/>
                <a:cs typeface="Courier New" pitchFamily="34" charset="-120"/>
              </a:rPr>
              <a:t> String name;</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private</a:t>
            </a:r>
            <a:r>
              <a:rPr lang="en-US" sz="1150" dirty="0">
                <a:solidFill>
                  <a:srgbClr val="CADCFC"/>
                </a:solidFill>
                <a:latin typeface="Courier New" pitchFamily="34" charset="0"/>
                <a:ea typeface="Courier New" pitchFamily="34" charset="-122"/>
                <a:cs typeface="Courier New" pitchFamily="34" charset="-120"/>
              </a:rPr>
              <a:t> int id;</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public</a:t>
            </a:r>
            <a:r>
              <a:rPr lang="en-US" sz="1150" dirty="0">
                <a:solidFill>
                  <a:srgbClr val="CADCFC"/>
                </a:solidFill>
                <a:latin typeface="Courier New" pitchFamily="34" charset="0"/>
                <a:ea typeface="Courier New" pitchFamily="34" charset="-122"/>
                <a:cs typeface="Courier New" pitchFamily="34" charset="-120"/>
              </a:rPr>
              <a:t> String getName() {</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return</a:t>
            </a:r>
            <a:r>
              <a:rPr lang="en-US" sz="1150" dirty="0">
                <a:solidFill>
                  <a:srgbClr val="CADCFC"/>
                </a:solidFill>
                <a:latin typeface="Courier New" pitchFamily="34" charset="0"/>
                <a:ea typeface="Courier New" pitchFamily="34" charset="-122"/>
                <a:cs typeface="Courier New" pitchFamily="34" charset="-120"/>
              </a:rPr>
              <a:t> name;</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endParaRPr lang="en-US" sz="1150" dirty="0"/>
          </a:p>
          <a:p>
            <a:pPr marL="0" indent="0">
              <a:lnSpc>
                <a:spcPct val="125000"/>
              </a:lnSpc>
              <a:buNone/>
            </a:pPr>
            <a:r>
              <a:rPr lang="en-US" sz="1150" b="1" dirty="0">
                <a:solidFill>
                  <a:srgbClr val="F2A65A"/>
                </a:solidFill>
                <a:latin typeface="Courier New" pitchFamily="34" charset="0"/>
                <a:ea typeface="Courier New" pitchFamily="34" charset="-122"/>
                <a:cs typeface="Courier New" pitchFamily="34" charset="-120"/>
              </a:rPr>
              <a:t>public</a:t>
            </a: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class</a:t>
            </a:r>
            <a:r>
              <a:rPr lang="en-US" sz="1150" dirty="0">
                <a:solidFill>
                  <a:srgbClr val="CADCFC"/>
                </a:solidFill>
                <a:latin typeface="Courier New" pitchFamily="34" charset="0"/>
                <a:ea typeface="Courier New" pitchFamily="34" charset="-122"/>
                <a:cs typeface="Courier New" pitchFamily="34" charset="-120"/>
              </a:rPr>
              <a:t> Instructor {</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private</a:t>
            </a:r>
            <a:r>
              <a:rPr lang="en-US" sz="1150" dirty="0">
                <a:solidFill>
                  <a:srgbClr val="CADCFC"/>
                </a:solidFill>
                <a:latin typeface="Courier New" pitchFamily="34" charset="0"/>
                <a:ea typeface="Courier New" pitchFamily="34" charset="-122"/>
                <a:cs typeface="Courier New" pitchFamily="34" charset="-120"/>
              </a:rPr>
              <a:t> String name;   // duplicated</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private</a:t>
            </a:r>
            <a:r>
              <a:rPr lang="en-US" sz="1150" dirty="0">
                <a:solidFill>
                  <a:srgbClr val="CADCFC"/>
                </a:solidFill>
                <a:latin typeface="Courier New" pitchFamily="34" charset="0"/>
                <a:ea typeface="Courier New" pitchFamily="34" charset="-122"/>
                <a:cs typeface="Courier New" pitchFamily="34" charset="-120"/>
              </a:rPr>
              <a:t> int id;        // duplicated</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public</a:t>
            </a:r>
            <a:r>
              <a:rPr lang="en-US" sz="1150" dirty="0">
                <a:solidFill>
                  <a:srgbClr val="CADCFC"/>
                </a:solidFill>
                <a:latin typeface="Courier New" pitchFamily="34" charset="0"/>
                <a:ea typeface="Courier New" pitchFamily="34" charset="-122"/>
                <a:cs typeface="Courier New" pitchFamily="34" charset="-120"/>
              </a:rPr>
              <a:t> String getName() {  // duplicated</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r>
              <a:rPr lang="en-US" sz="1150" b="1" dirty="0">
                <a:solidFill>
                  <a:srgbClr val="F2A65A"/>
                </a:solidFill>
                <a:latin typeface="Courier New" pitchFamily="34" charset="0"/>
                <a:ea typeface="Courier New" pitchFamily="34" charset="-122"/>
                <a:cs typeface="Courier New" pitchFamily="34" charset="-120"/>
              </a:rPr>
              <a:t>return</a:t>
            </a:r>
            <a:r>
              <a:rPr lang="en-US" sz="1150" dirty="0">
                <a:solidFill>
                  <a:srgbClr val="CADCFC"/>
                </a:solidFill>
                <a:latin typeface="Courier New" pitchFamily="34" charset="0"/>
                <a:ea typeface="Courier New" pitchFamily="34" charset="-122"/>
                <a:cs typeface="Courier New" pitchFamily="34" charset="-120"/>
              </a:rPr>
              <a:t> name;</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7"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2 — THE FIX</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With Inheritance: Write It Once</a:t>
            </a:r>
            <a:endParaRPr lang="en-US" sz="3200" dirty="0"/>
          </a:p>
        </p:txBody>
      </p:sp>
      <p:sp>
        <p:nvSpPr>
          <p:cNvPr id="4" name="Text 2"/>
          <p:cNvSpPr txBox="1"/>
          <p:nvPr/>
        </p:nvSpPr>
        <p:spPr>
          <a:xfrm>
            <a:off x="548640" y="1874520"/>
            <a:ext cx="5120640" cy="265176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Move the shared fields and method into one parent class, Person.</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Student and Instructor extend Person and reuse everything automatically.</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 fix inside Person instantly applies to every subclass.</a:t>
            </a:r>
            <a:endParaRPr lang="en-US" sz="1400" dirty="0"/>
          </a:p>
        </p:txBody>
      </p:sp>
      <p:sp>
        <p:nvSpPr>
          <p:cNvPr id="5" name="Shape 3"/>
          <p:cNvSpPr/>
          <p:nvPr/>
        </p:nvSpPr>
        <p:spPr>
          <a:xfrm>
            <a:off x="5989320" y="1828800"/>
            <a:ext cx="5669280" cy="3931920"/>
          </a:xfrm>
          <a:prstGeom prst="roundRect">
            <a:avLst>
              <a:gd name="adj" fmla="val 1860"/>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2029968"/>
            <a:ext cx="5157216" cy="3529584"/>
          </a:xfrm>
          <a:prstGeom prst="rect">
            <a:avLst/>
          </a:prstGeom>
          <a:noFill/>
          <a:ln/>
        </p:spPr>
        <p:txBody>
          <a:bodyPr wrap="square" lIns="0" tIns="0" rIns="0" bIns="0" rtlCol="0" anchor="t"/>
          <a:lstStyle/>
          <a:p>
            <a:pPr marL="0" indent="0">
              <a:lnSpc>
                <a:spcPct val="125000"/>
              </a:lnSpc>
              <a:buNone/>
            </a:pP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class</a:t>
            </a:r>
            <a:r>
              <a:rPr lang="en-US" sz="1250" dirty="0">
                <a:solidFill>
                  <a:srgbClr val="CADCFC"/>
                </a:solidFill>
                <a:latin typeface="Courier New" pitchFamily="34" charset="0"/>
                <a:ea typeface="Courier New" pitchFamily="34" charset="-122"/>
                <a:cs typeface="Courier New" pitchFamily="34" charset="-120"/>
              </a:rPr>
              <a:t> Person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protected</a:t>
            </a:r>
            <a:r>
              <a:rPr lang="en-US" sz="1250" dirty="0">
                <a:solidFill>
                  <a:srgbClr val="CADCFC"/>
                </a:solidFill>
                <a:latin typeface="Courier New" pitchFamily="34" charset="0"/>
                <a:ea typeface="Courier New" pitchFamily="34" charset="-122"/>
                <a:cs typeface="Courier New" pitchFamily="34" charset="-120"/>
              </a:rPr>
              <a:t> String name;</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protected</a:t>
            </a:r>
            <a:r>
              <a:rPr lang="en-US" sz="1250" dirty="0">
                <a:solidFill>
                  <a:srgbClr val="CADCFC"/>
                </a:solidFill>
                <a:latin typeface="Courier New" pitchFamily="34" charset="0"/>
                <a:ea typeface="Courier New" pitchFamily="34" charset="-122"/>
                <a:cs typeface="Courier New" pitchFamily="34" charset="-120"/>
              </a:rPr>
              <a:t> int id;</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String getName()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return</a:t>
            </a:r>
            <a:r>
              <a:rPr lang="en-US" sz="1250" dirty="0">
                <a:solidFill>
                  <a:srgbClr val="CADCFC"/>
                </a:solidFill>
                <a:latin typeface="Courier New" pitchFamily="34" charset="0"/>
                <a:ea typeface="Courier New" pitchFamily="34" charset="-122"/>
                <a:cs typeface="Courier New" pitchFamily="34" charset="-120"/>
              </a:rPr>
              <a:t> name;</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endParaRPr lang="en-US" sz="1250" dirty="0"/>
          </a:p>
          <a:p>
            <a:pPr marL="0" indent="0">
              <a:lnSpc>
                <a:spcPct val="125000"/>
              </a:lnSpc>
              <a:buNone/>
            </a:pP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class</a:t>
            </a:r>
            <a:r>
              <a:rPr lang="en-US" sz="1250" dirty="0">
                <a:solidFill>
                  <a:srgbClr val="CADCFC"/>
                </a:solidFill>
                <a:latin typeface="Courier New" pitchFamily="34" charset="0"/>
                <a:ea typeface="Courier New" pitchFamily="34" charset="-122"/>
                <a:cs typeface="Courier New" pitchFamily="34" charset="-120"/>
              </a:rPr>
              <a:t> Student </a:t>
            </a:r>
            <a:r>
              <a:rPr lang="en-US" sz="1250" b="1" dirty="0">
                <a:solidFill>
                  <a:srgbClr val="F2A65A"/>
                </a:solidFill>
                <a:latin typeface="Courier New" pitchFamily="34" charset="0"/>
                <a:ea typeface="Courier New" pitchFamily="34" charset="-122"/>
                <a:cs typeface="Courier New" pitchFamily="34" charset="-120"/>
              </a:rPr>
              <a:t>extends</a:t>
            </a:r>
            <a:r>
              <a:rPr lang="en-US" sz="1250" dirty="0">
                <a:solidFill>
                  <a:srgbClr val="CADCFC"/>
                </a:solidFill>
                <a:latin typeface="Courier New" pitchFamily="34" charset="0"/>
                <a:ea typeface="Courier New" pitchFamily="34" charset="-122"/>
                <a:cs typeface="Courier New" pitchFamily="34" charset="-120"/>
              </a:rPr>
              <a:t> Person { }</a:t>
            </a:r>
            <a:endParaRPr lang="en-US" sz="1250" dirty="0"/>
          </a:p>
          <a:p>
            <a:pPr marL="0" indent="0">
              <a:lnSpc>
                <a:spcPct val="125000"/>
              </a:lnSpc>
              <a:buNone/>
            </a:pP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class</a:t>
            </a:r>
            <a:r>
              <a:rPr lang="en-US" sz="1250" dirty="0">
                <a:solidFill>
                  <a:srgbClr val="CADCFC"/>
                </a:solidFill>
                <a:latin typeface="Courier New" pitchFamily="34" charset="0"/>
                <a:ea typeface="Courier New" pitchFamily="34" charset="-122"/>
                <a:cs typeface="Courier New" pitchFamily="34" charset="-120"/>
              </a:rPr>
              <a:t> Instructor </a:t>
            </a:r>
            <a:r>
              <a:rPr lang="en-US" sz="1250" b="1" dirty="0">
                <a:solidFill>
                  <a:srgbClr val="F2A65A"/>
                </a:solidFill>
                <a:latin typeface="Courier New" pitchFamily="34" charset="0"/>
                <a:ea typeface="Courier New" pitchFamily="34" charset="-122"/>
                <a:cs typeface="Courier New" pitchFamily="34" charset="-120"/>
              </a:rPr>
              <a:t>extends</a:t>
            </a:r>
            <a:r>
              <a:rPr lang="en-US" sz="1250" dirty="0">
                <a:solidFill>
                  <a:srgbClr val="CADCFC"/>
                </a:solidFill>
                <a:latin typeface="Courier New" pitchFamily="34" charset="0"/>
                <a:ea typeface="Courier New" pitchFamily="34" charset="-122"/>
                <a:cs typeface="Courier New" pitchFamily="34" charset="-120"/>
              </a:rPr>
              <a:t> Person { }</a:t>
            </a:r>
            <a:endParaRPr lang="en-US" sz="1250" dirty="0"/>
          </a:p>
          <a:p>
            <a:pPr marL="0" indent="0">
              <a:lnSpc>
                <a:spcPct val="125000"/>
              </a:lnSpc>
              <a:buNone/>
            </a:pPr>
            <a:r>
              <a:rPr lang="en-US" sz="1250" dirty="0">
                <a:solidFill>
                  <a:srgbClr val="6FCF97"/>
                </a:solidFill>
                <a:latin typeface="Courier New" pitchFamily="34" charset="0"/>
                <a:ea typeface="Courier New" pitchFamily="34" charset="-122"/>
                <a:cs typeface="Courier New" pitchFamily="34" charset="-120"/>
              </a:rPr>
              <a:t>// name, id, and getName() are inherited --</a:t>
            </a:r>
            <a:endParaRPr lang="en-US" sz="1250" dirty="0"/>
          </a:p>
          <a:p>
            <a:pPr marL="0" indent="0">
              <a:lnSpc>
                <a:spcPct val="125000"/>
              </a:lnSpc>
              <a:buNone/>
            </a:pPr>
            <a:r>
              <a:rPr lang="en-US" sz="1250" dirty="0">
                <a:solidFill>
                  <a:srgbClr val="6FCF97"/>
                </a:solidFill>
                <a:latin typeface="Courier New" pitchFamily="34" charset="0"/>
                <a:ea typeface="Courier New" pitchFamily="34" charset="-122"/>
                <a:cs typeface="Courier New" pitchFamily="34" charset="-120"/>
              </a:rPr>
              <a:t>// written once, used twice</a:t>
            </a:r>
            <a:endParaRPr lang="en-US" sz="1250" dirty="0"/>
          </a:p>
        </p:txBody>
      </p:sp>
      <p:sp>
        <p:nvSpPr>
          <p:cNvPr id="7"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MULTIPLE INHERITANCE</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Why Java Says No — to Classes</a:t>
            </a:r>
            <a:endParaRPr lang="en-US" sz="3200" dirty="0"/>
          </a:p>
        </p:txBody>
      </p:sp>
      <p:sp>
        <p:nvSpPr>
          <p:cNvPr id="4" name="Text 2"/>
          <p:cNvSpPr txBox="1"/>
          <p:nvPr/>
        </p:nvSpPr>
        <p:spPr>
          <a:xfrm>
            <a:off x="548640" y="1828800"/>
            <a:ext cx="5120640" cy="329184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If a class could extend two parent classes that both define the same method, the compiler wouldn't know which version to inherit.</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This is the classic "diamond problem."</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Java's rule: a class extends at most one class — but can implement many interfaces.</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Interfaces avoid the ambiguity because they describe a contract, not a shared implementation.</a:t>
            </a:r>
            <a:endParaRPr lang="en-US" sz="1400" dirty="0"/>
          </a:p>
        </p:txBody>
      </p:sp>
      <p:sp>
        <p:nvSpPr>
          <p:cNvPr id="5" name="Shape 3"/>
          <p:cNvSpPr/>
          <p:nvPr/>
        </p:nvSpPr>
        <p:spPr>
          <a:xfrm>
            <a:off x="5989320" y="1828800"/>
            <a:ext cx="5669280" cy="3931920"/>
          </a:xfrm>
          <a:prstGeom prst="roundRect">
            <a:avLst>
              <a:gd name="adj" fmla="val 1860"/>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2029968"/>
            <a:ext cx="5157216" cy="3529584"/>
          </a:xfrm>
          <a:prstGeom prst="rect">
            <a:avLst/>
          </a:prstGeom>
          <a:noFill/>
          <a:ln/>
        </p:spPr>
        <p:txBody>
          <a:bodyPr wrap="square" lIns="0" tIns="0" rIns="0" bIns="0" rtlCol="0" anchor="t"/>
          <a:lstStyle/>
          <a:p>
            <a:pPr marL="0" indent="0">
              <a:lnSpc>
                <a:spcPct val="125000"/>
              </a:lnSpc>
              <a:buNone/>
            </a:pPr>
            <a:r>
              <a:rPr lang="en-US" sz="1250" dirty="0">
                <a:solidFill>
                  <a:srgbClr val="6FCF97"/>
                </a:solidFill>
                <a:latin typeface="Courier New" pitchFamily="34" charset="0"/>
                <a:ea typeface="Courier New" pitchFamily="34" charset="-122"/>
                <a:cs typeface="Courier New" pitchFamily="34" charset="-120"/>
              </a:rPr>
              <a:t>// This does NOT compile:</a:t>
            </a:r>
            <a:endParaRPr lang="en-US" sz="1250" dirty="0"/>
          </a:p>
          <a:p>
            <a:pPr marL="0" indent="0">
              <a:lnSpc>
                <a:spcPct val="125000"/>
              </a:lnSpc>
              <a:buNone/>
            </a:pP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class</a:t>
            </a:r>
            <a:r>
              <a:rPr lang="en-US" sz="1250" dirty="0">
                <a:solidFill>
                  <a:srgbClr val="CADCFC"/>
                </a:solidFill>
                <a:latin typeface="Courier New" pitchFamily="34" charset="0"/>
                <a:ea typeface="Courier New" pitchFamily="34" charset="-122"/>
                <a:cs typeface="Courier New" pitchFamily="34" charset="-120"/>
              </a:rPr>
              <a:t> Student</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extends</a:t>
            </a:r>
            <a:r>
              <a:rPr lang="en-US" sz="1250" dirty="0">
                <a:solidFill>
                  <a:srgbClr val="CADCFC"/>
                </a:solidFill>
                <a:latin typeface="Courier New" pitchFamily="34" charset="0"/>
                <a:ea typeface="Courier New" pitchFamily="34" charset="-122"/>
                <a:cs typeface="Courier New" pitchFamily="34" charset="-120"/>
              </a:rPr>
              <a:t> Person, Enrollable { }</a:t>
            </a:r>
            <a:endParaRPr lang="en-US" sz="1250" dirty="0"/>
          </a:p>
          <a:p>
            <a:pPr marL="0" indent="0">
              <a:lnSpc>
                <a:spcPct val="125000"/>
              </a:lnSpc>
              <a:buNone/>
            </a:pPr>
            <a:r>
              <a:rPr lang="en-US" sz="1250" dirty="0">
                <a:solidFill>
                  <a:srgbClr val="6FCF97"/>
                </a:solidFill>
                <a:latin typeface="Courier New" pitchFamily="34" charset="0"/>
                <a:ea typeface="Courier New" pitchFamily="34" charset="-122"/>
                <a:cs typeface="Courier New" pitchFamily="34" charset="-120"/>
              </a:rPr>
              <a:t>// ERROR: '{' expected</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endParaRPr lang="en-US" sz="1250" dirty="0"/>
          </a:p>
          <a:p>
            <a:pPr marL="0" indent="0">
              <a:lnSpc>
                <a:spcPct val="125000"/>
              </a:lnSpc>
              <a:buNone/>
            </a:pPr>
            <a:r>
              <a:rPr lang="en-US" sz="1250" dirty="0">
                <a:solidFill>
                  <a:srgbClr val="6FCF97"/>
                </a:solidFill>
                <a:latin typeface="Courier New" pitchFamily="34" charset="0"/>
                <a:ea typeface="Courier New" pitchFamily="34" charset="-122"/>
                <a:cs typeface="Courier New" pitchFamily="34" charset="-120"/>
              </a:rPr>
              <a:t>// This is the fix -- implement instead:</a:t>
            </a:r>
            <a:endParaRPr lang="en-US" sz="1250" dirty="0"/>
          </a:p>
          <a:p>
            <a:pPr marL="0" indent="0">
              <a:lnSpc>
                <a:spcPct val="125000"/>
              </a:lnSpc>
              <a:buNone/>
            </a:pPr>
            <a:r>
              <a:rPr lang="en-US" sz="1250" b="1" dirty="0">
                <a:solidFill>
                  <a:srgbClr val="F2A65A"/>
                </a:solidFill>
                <a:latin typeface="Courier New" pitchFamily="34" charset="0"/>
                <a:ea typeface="Courier New" pitchFamily="34" charset="-122"/>
                <a:cs typeface="Courier New" pitchFamily="34" charset="-120"/>
              </a:rPr>
              <a:t>public</a:t>
            </a: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class</a:t>
            </a:r>
            <a:r>
              <a:rPr lang="en-US" sz="1250" dirty="0">
                <a:solidFill>
                  <a:srgbClr val="CADCFC"/>
                </a:solidFill>
                <a:latin typeface="Courier New" pitchFamily="34" charset="0"/>
                <a:ea typeface="Courier New" pitchFamily="34" charset="-122"/>
                <a:cs typeface="Courier New" pitchFamily="34" charset="-120"/>
              </a:rPr>
              <a:t> Student </a:t>
            </a:r>
            <a:r>
              <a:rPr lang="en-US" sz="1250" b="1" dirty="0">
                <a:solidFill>
                  <a:srgbClr val="F2A65A"/>
                </a:solidFill>
                <a:latin typeface="Courier New" pitchFamily="34" charset="0"/>
                <a:ea typeface="Courier New" pitchFamily="34" charset="-122"/>
                <a:cs typeface="Courier New" pitchFamily="34" charset="-120"/>
              </a:rPr>
              <a:t>extends</a:t>
            </a:r>
            <a:r>
              <a:rPr lang="en-US" sz="1250" dirty="0">
                <a:solidFill>
                  <a:srgbClr val="CADCFC"/>
                </a:solidFill>
                <a:latin typeface="Courier New" pitchFamily="34" charset="0"/>
                <a:ea typeface="Courier New" pitchFamily="34" charset="-122"/>
                <a:cs typeface="Courier New" pitchFamily="34" charset="-120"/>
              </a:rPr>
              <a:t> Person</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r>
              <a:rPr lang="en-US" sz="1250" b="1" dirty="0">
                <a:solidFill>
                  <a:srgbClr val="F2A65A"/>
                </a:solidFill>
                <a:latin typeface="Courier New" pitchFamily="34" charset="0"/>
                <a:ea typeface="Courier New" pitchFamily="34" charset="-122"/>
                <a:cs typeface="Courier New" pitchFamily="34" charset="-120"/>
              </a:rPr>
              <a:t>implements</a:t>
            </a:r>
            <a:r>
              <a:rPr lang="en-US" sz="1250" dirty="0">
                <a:solidFill>
                  <a:srgbClr val="CADCFC"/>
                </a:solidFill>
                <a:latin typeface="Courier New" pitchFamily="34" charset="0"/>
                <a:ea typeface="Courier New" pitchFamily="34" charset="-122"/>
                <a:cs typeface="Courier New" pitchFamily="34" charset="-120"/>
              </a:rPr>
              <a:t> Enrollable, Gradable {</a:t>
            </a:r>
            <a:endParaRPr lang="en-US" sz="1250" dirty="0"/>
          </a:p>
          <a:p>
            <a:pPr marL="0" indent="0">
              <a:lnSpc>
                <a:spcPct val="125000"/>
              </a:lnSpc>
              <a:buNone/>
            </a:pPr>
            <a:r>
              <a:rPr lang="en-US" sz="1250" dirty="0">
                <a:solidFill>
                  <a:srgbClr val="6FCF97"/>
                </a:solidFill>
                <a:latin typeface="Courier New" pitchFamily="34" charset="0"/>
                <a:ea typeface="Courier New" pitchFamily="34" charset="-122"/>
                <a:cs typeface="Courier New" pitchFamily="34" charset="-120"/>
              </a:rPr>
              <a:t>    // one class, one parent, many contracts</a:t>
            </a:r>
            <a:endParaRPr lang="en-US" sz="1250" dirty="0"/>
          </a:p>
          <a:p>
            <a:pPr marL="0" indent="0">
              <a:lnSpc>
                <a:spcPct val="125000"/>
              </a:lnSpc>
              <a:buNone/>
            </a:pPr>
            <a:r>
              <a:rPr lang="en-US" sz="1250" dirty="0">
                <a:solidFill>
                  <a:srgbClr val="CADCFC"/>
                </a:solidFill>
                <a:latin typeface="Courier New" pitchFamily="34" charset="0"/>
                <a:ea typeface="Courier New" pitchFamily="34" charset="-122"/>
                <a:cs typeface="Courier New" pitchFamily="34" charset="-120"/>
              </a:rPr>
              <a:t>}</a:t>
            </a:r>
            <a:endParaRPr lang="en-US" sz="1250" dirty="0"/>
          </a:p>
        </p:txBody>
      </p:sp>
      <p:sp>
        <p:nvSpPr>
          <p:cNvPr id="7"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THE RULE THAT CONFUSES EVERYONE</a:t>
            </a:r>
            <a:endParaRPr lang="en-US" sz="1200" dirty="0"/>
          </a:p>
        </p:txBody>
      </p:sp>
      <p:sp>
        <p:nvSpPr>
          <p:cNvPr id="3" name="Text 1"/>
          <p:cNvSpPr txBox="1"/>
          <p:nvPr/>
        </p:nvSpPr>
        <p:spPr>
          <a:xfrm>
            <a:off x="548640" y="749808"/>
            <a:ext cx="105156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Reference Type vs. Object Type</a:t>
            </a:r>
            <a:endParaRPr lang="en-US" sz="3000" dirty="0"/>
          </a:p>
        </p:txBody>
      </p:sp>
      <p:sp>
        <p:nvSpPr>
          <p:cNvPr id="4" name="Shape 2"/>
          <p:cNvSpPr/>
          <p:nvPr/>
        </p:nvSpPr>
        <p:spPr>
          <a:xfrm>
            <a:off x="548640" y="1554480"/>
            <a:ext cx="5349240" cy="548640"/>
          </a:xfrm>
          <a:prstGeom prst="roundRect">
            <a:avLst>
              <a:gd name="adj" fmla="val 10000"/>
            </a:avLst>
          </a:prstGeom>
          <a:solidFill>
            <a:srgbClr val="FFFFFF"/>
          </a:solidFill>
          <a:ln/>
          <a:effectLst>
            <a:outerShdw blurRad="76200" dist="25400" dir="5400000" algn="bl" rotWithShape="0">
              <a:srgbClr val="6B7280">
                <a:alpha val="18000"/>
              </a:srgbClr>
            </a:outerShdw>
          </a:effectLst>
        </p:spPr>
        <p:txBody>
          <a:bodyPr/>
          <a:lstStyle/>
          <a:p>
            <a:endParaRPr lang="en-US"/>
          </a:p>
        </p:txBody>
      </p:sp>
      <p:sp>
        <p:nvSpPr>
          <p:cNvPr id="5" name="Text 3"/>
          <p:cNvSpPr txBox="1"/>
          <p:nvPr/>
        </p:nvSpPr>
        <p:spPr>
          <a:xfrm>
            <a:off x="822960" y="1554480"/>
            <a:ext cx="4800600" cy="548640"/>
          </a:xfrm>
          <a:prstGeom prst="rect">
            <a:avLst/>
          </a:prstGeom>
          <a:noFill/>
          <a:ln/>
        </p:spPr>
        <p:txBody>
          <a:bodyPr wrap="square" lIns="0" tIns="0" rIns="0" bIns="0" rtlCol="0" anchor="ctr"/>
          <a:lstStyle/>
          <a:p>
            <a:pPr marL="0" indent="0">
              <a:lnSpc>
                <a:spcPct val="110000"/>
              </a:lnSpc>
              <a:buNone/>
            </a:pPr>
            <a:r>
              <a:rPr lang="en-US" sz="1200" b="1" dirty="0">
                <a:solidFill>
                  <a:srgbClr val="1E2761"/>
                </a:solidFill>
                <a:latin typeface="Calibri" pitchFamily="34" charset="0"/>
                <a:ea typeface="Calibri" pitchFamily="34" charset="-122"/>
                <a:cs typeface="Calibri" pitchFamily="34" charset="-120"/>
              </a:rPr>
              <a:t>Reference type </a:t>
            </a:r>
            <a:r>
              <a:rPr lang="en-US" sz="1200" dirty="0">
                <a:solidFill>
                  <a:srgbClr val="2A2E45"/>
                </a:solidFill>
                <a:latin typeface="Calibri" pitchFamily="34" charset="0"/>
                <a:ea typeface="Calibri" pitchFamily="34" charset="-122"/>
                <a:cs typeface="Calibri" pitchFamily="34" charset="-120"/>
              </a:rPr>
              <a:t>-- which methods you can call. Checked at compile time.</a:t>
            </a:r>
            <a:endParaRPr lang="en-US" sz="1200" dirty="0"/>
          </a:p>
        </p:txBody>
      </p:sp>
      <p:sp>
        <p:nvSpPr>
          <p:cNvPr id="6" name="Shape 4"/>
          <p:cNvSpPr/>
          <p:nvPr/>
        </p:nvSpPr>
        <p:spPr>
          <a:xfrm>
            <a:off x="6263640" y="1554480"/>
            <a:ext cx="5349240" cy="548640"/>
          </a:xfrm>
          <a:prstGeom prst="roundRect">
            <a:avLst>
              <a:gd name="adj" fmla="val 10000"/>
            </a:avLst>
          </a:prstGeom>
          <a:solidFill>
            <a:srgbClr val="3A4593"/>
          </a:solidFill>
          <a:ln/>
          <a:effectLst>
            <a:outerShdw blurRad="76200" dist="25400" dir="5400000" algn="bl" rotWithShape="0">
              <a:srgbClr val="6B7280">
                <a:alpha val="18000"/>
              </a:srgbClr>
            </a:outerShdw>
          </a:effectLst>
        </p:spPr>
        <p:txBody>
          <a:bodyPr/>
          <a:lstStyle/>
          <a:p>
            <a:endParaRPr lang="en-US"/>
          </a:p>
        </p:txBody>
      </p:sp>
      <p:sp>
        <p:nvSpPr>
          <p:cNvPr id="7" name="Text 5"/>
          <p:cNvSpPr txBox="1"/>
          <p:nvPr/>
        </p:nvSpPr>
        <p:spPr>
          <a:xfrm>
            <a:off x="6537960" y="1554480"/>
            <a:ext cx="4800600" cy="548640"/>
          </a:xfrm>
          <a:prstGeom prst="rect">
            <a:avLst/>
          </a:prstGeom>
          <a:noFill/>
          <a:ln/>
        </p:spPr>
        <p:txBody>
          <a:bodyPr wrap="square" lIns="0" tIns="0" rIns="0" bIns="0" rtlCol="0" anchor="ctr"/>
          <a:lstStyle/>
          <a:p>
            <a:pPr marL="0" indent="0">
              <a:lnSpc>
                <a:spcPct val="110000"/>
              </a:lnSpc>
              <a:buNone/>
            </a:pPr>
            <a:r>
              <a:rPr lang="en-US" sz="1200" b="1" dirty="0">
                <a:solidFill>
                  <a:srgbClr val="F2A65A"/>
                </a:solidFill>
                <a:latin typeface="Calibri" pitchFamily="34" charset="0"/>
                <a:ea typeface="Calibri" pitchFamily="34" charset="-122"/>
                <a:cs typeface="Calibri" pitchFamily="34" charset="-120"/>
              </a:rPr>
              <a:t>Object type </a:t>
            </a:r>
            <a:r>
              <a:rPr lang="en-US" sz="1200" dirty="0">
                <a:solidFill>
                  <a:srgbClr val="FFFFFF"/>
                </a:solidFill>
                <a:latin typeface="Calibri" pitchFamily="34" charset="0"/>
                <a:ea typeface="Calibri" pitchFamily="34" charset="-122"/>
                <a:cs typeface="Calibri" pitchFamily="34" charset="-120"/>
              </a:rPr>
              <a:t>-- which version actually runs. Decided at runtime.</a:t>
            </a:r>
            <a:endParaRPr lang="en-US" sz="1200" dirty="0"/>
          </a:p>
        </p:txBody>
      </p:sp>
      <p:sp>
        <p:nvSpPr>
          <p:cNvPr id="8" name="Shape 6"/>
          <p:cNvSpPr/>
          <p:nvPr/>
        </p:nvSpPr>
        <p:spPr>
          <a:xfrm>
            <a:off x="548640" y="2240280"/>
            <a:ext cx="11064240" cy="4434840"/>
          </a:xfrm>
          <a:prstGeom prst="roundRect">
            <a:avLst>
              <a:gd name="adj" fmla="val 1649"/>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9" name="Text 7"/>
          <p:cNvSpPr txBox="1"/>
          <p:nvPr/>
        </p:nvSpPr>
        <p:spPr>
          <a:xfrm>
            <a:off x="804672" y="2441448"/>
            <a:ext cx="10552176" cy="4032504"/>
          </a:xfrm>
          <a:prstGeom prst="rect">
            <a:avLst/>
          </a:prstGeom>
          <a:noFill/>
          <a:ln/>
        </p:spPr>
        <p:txBody>
          <a:bodyPr wrap="square" lIns="0" tIns="0" rIns="0" bIns="0" rtlCol="0" anchor="t"/>
          <a:lstStyle/>
          <a:p>
            <a:pPr marL="0" indent="0">
              <a:lnSpc>
                <a:spcPct val="110000"/>
              </a:lnSpc>
              <a:buNone/>
            </a:pPr>
            <a:r>
              <a:rPr lang="en-US" sz="1100" b="1" dirty="0">
                <a:solidFill>
                  <a:srgbClr val="F2A65A"/>
                </a:solidFill>
                <a:latin typeface="Courier New" pitchFamily="34" charset="0"/>
                <a:ea typeface="Courier New" pitchFamily="34" charset="-122"/>
                <a:cs typeface="Courier New" pitchFamily="34" charset="-120"/>
              </a:rPr>
              <a:t>public</a:t>
            </a:r>
            <a:r>
              <a:rPr lang="en-US" sz="1100" dirty="0">
                <a:solidFill>
                  <a:srgbClr val="CADCFC"/>
                </a:solidFill>
                <a:latin typeface="Courier New" pitchFamily="34" charset="0"/>
                <a:ea typeface="Courier New" pitchFamily="34" charset="-122"/>
                <a:cs typeface="Courier New" pitchFamily="34" charset="-120"/>
              </a:rPr>
              <a:t> </a:t>
            </a:r>
            <a:r>
              <a:rPr lang="en-US" sz="1100" b="1" dirty="0">
                <a:solidFill>
                  <a:srgbClr val="F2A65A"/>
                </a:solidFill>
                <a:latin typeface="Courier New" pitchFamily="34" charset="0"/>
                <a:ea typeface="Courier New" pitchFamily="34" charset="-122"/>
                <a:cs typeface="Courier New" pitchFamily="34" charset="-120"/>
              </a:rPr>
              <a:t>class</a:t>
            </a:r>
            <a:r>
              <a:rPr lang="en-US" sz="1100" dirty="0">
                <a:solidFill>
                  <a:srgbClr val="CADCFC"/>
                </a:solidFill>
                <a:latin typeface="Courier New" pitchFamily="34" charset="0"/>
                <a:ea typeface="Courier New" pitchFamily="34" charset="-122"/>
                <a:cs typeface="Courier New" pitchFamily="34" charset="-120"/>
              </a:rPr>
              <a:t> Person {</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a:t>
            </a:r>
            <a:r>
              <a:rPr lang="en-US" sz="1100" b="1" dirty="0">
                <a:solidFill>
                  <a:srgbClr val="F2A65A"/>
                </a:solidFill>
                <a:latin typeface="Courier New" pitchFamily="34" charset="0"/>
                <a:ea typeface="Courier New" pitchFamily="34" charset="-122"/>
                <a:cs typeface="Courier New" pitchFamily="34" charset="-120"/>
              </a:rPr>
              <a:t>protected</a:t>
            </a:r>
            <a:r>
              <a:rPr lang="en-US" sz="1100" dirty="0">
                <a:solidFill>
                  <a:srgbClr val="CADCFC"/>
                </a:solidFill>
                <a:latin typeface="Courier New" pitchFamily="34" charset="0"/>
                <a:ea typeface="Courier New" pitchFamily="34" charset="-122"/>
                <a:cs typeface="Courier New" pitchFamily="34" charset="-120"/>
              </a:rPr>
              <a:t> String name;</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a:t>
            </a:r>
            <a:r>
              <a:rPr lang="en-US" sz="1100" b="1" dirty="0">
                <a:solidFill>
                  <a:srgbClr val="F2A65A"/>
                </a:solidFill>
                <a:latin typeface="Courier New" pitchFamily="34" charset="0"/>
                <a:ea typeface="Courier New" pitchFamily="34" charset="-122"/>
                <a:cs typeface="Courier New" pitchFamily="34" charset="-120"/>
              </a:rPr>
              <a:t>public</a:t>
            </a:r>
            <a:r>
              <a:rPr lang="en-US" sz="1100" dirty="0">
                <a:solidFill>
                  <a:srgbClr val="CADCFC"/>
                </a:solidFill>
                <a:latin typeface="Courier New" pitchFamily="34" charset="0"/>
                <a:ea typeface="Courier New" pitchFamily="34" charset="-122"/>
                <a:cs typeface="Courier New" pitchFamily="34" charset="-120"/>
              </a:rPr>
              <a:t> </a:t>
            </a:r>
            <a:r>
              <a:rPr lang="en-US" sz="1100" b="1" dirty="0">
                <a:solidFill>
                  <a:srgbClr val="F2A65A"/>
                </a:solidFill>
                <a:latin typeface="Courier New" pitchFamily="34" charset="0"/>
                <a:ea typeface="Courier New" pitchFamily="34" charset="-122"/>
                <a:cs typeface="Courier New" pitchFamily="34" charset="-120"/>
              </a:rPr>
              <a:t>void</a:t>
            </a:r>
            <a:r>
              <a:rPr lang="en-US" sz="1100" dirty="0">
                <a:solidFill>
                  <a:srgbClr val="CADCFC"/>
                </a:solidFill>
                <a:latin typeface="Courier New" pitchFamily="34" charset="0"/>
                <a:ea typeface="Courier New" pitchFamily="34" charset="-122"/>
                <a:cs typeface="Courier New" pitchFamily="34" charset="-120"/>
              </a:rPr>
              <a:t> displayRole() {</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System.out.println(name);</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6FCF97"/>
                </a:solidFill>
                <a:latin typeface="Courier New" pitchFamily="34" charset="0"/>
                <a:ea typeface="Courier New" pitchFamily="34" charset="-122"/>
                <a:cs typeface="Courier New" pitchFamily="34" charset="-120"/>
              </a:rPr>
              <a:t>    // enroll() is NOT declared here</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b="1" dirty="0">
                <a:solidFill>
                  <a:srgbClr val="F2A65A"/>
                </a:solidFill>
                <a:latin typeface="Courier New" pitchFamily="34" charset="0"/>
                <a:ea typeface="Courier New" pitchFamily="34" charset="-122"/>
                <a:cs typeface="Courier New" pitchFamily="34" charset="-120"/>
              </a:rPr>
              <a:t>public</a:t>
            </a:r>
            <a:r>
              <a:rPr lang="en-US" sz="1100" dirty="0">
                <a:solidFill>
                  <a:srgbClr val="CADCFC"/>
                </a:solidFill>
                <a:latin typeface="Courier New" pitchFamily="34" charset="0"/>
                <a:ea typeface="Courier New" pitchFamily="34" charset="-122"/>
                <a:cs typeface="Courier New" pitchFamily="34" charset="-120"/>
              </a:rPr>
              <a:t> </a:t>
            </a:r>
            <a:r>
              <a:rPr lang="en-US" sz="1100" b="1" dirty="0">
                <a:solidFill>
                  <a:srgbClr val="F2A65A"/>
                </a:solidFill>
                <a:latin typeface="Courier New" pitchFamily="34" charset="0"/>
                <a:ea typeface="Courier New" pitchFamily="34" charset="-122"/>
                <a:cs typeface="Courier New" pitchFamily="34" charset="-120"/>
              </a:rPr>
              <a:t>class</a:t>
            </a:r>
            <a:r>
              <a:rPr lang="en-US" sz="1100" dirty="0">
                <a:solidFill>
                  <a:srgbClr val="CADCFC"/>
                </a:solidFill>
                <a:latin typeface="Courier New" pitchFamily="34" charset="0"/>
                <a:ea typeface="Courier New" pitchFamily="34" charset="-122"/>
                <a:cs typeface="Courier New" pitchFamily="34" charset="-120"/>
              </a:rPr>
              <a:t> Student </a:t>
            </a:r>
            <a:r>
              <a:rPr lang="en-US" sz="1100" b="1" dirty="0">
                <a:solidFill>
                  <a:srgbClr val="F2A65A"/>
                </a:solidFill>
                <a:latin typeface="Courier New" pitchFamily="34" charset="0"/>
                <a:ea typeface="Courier New" pitchFamily="34" charset="-122"/>
                <a:cs typeface="Courier New" pitchFamily="34" charset="-120"/>
              </a:rPr>
              <a:t>extends</a:t>
            </a:r>
            <a:r>
              <a:rPr lang="en-US" sz="1100" dirty="0">
                <a:solidFill>
                  <a:srgbClr val="CADCFC"/>
                </a:solidFill>
                <a:latin typeface="Courier New" pitchFamily="34" charset="0"/>
                <a:ea typeface="Courier New" pitchFamily="34" charset="-122"/>
                <a:cs typeface="Courier New" pitchFamily="34" charset="-120"/>
              </a:rPr>
              <a:t> Person {</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a:t>
            </a:r>
            <a:r>
              <a:rPr lang="en-US" sz="1100" b="1" dirty="0">
                <a:solidFill>
                  <a:srgbClr val="F2A65A"/>
                </a:solidFill>
                <a:latin typeface="Courier New" pitchFamily="34" charset="0"/>
                <a:ea typeface="Courier New" pitchFamily="34" charset="-122"/>
                <a:cs typeface="Courier New" pitchFamily="34" charset="-120"/>
              </a:rPr>
              <a:t>public</a:t>
            </a:r>
            <a:r>
              <a:rPr lang="en-US" sz="1100" dirty="0">
                <a:solidFill>
                  <a:srgbClr val="CADCFC"/>
                </a:solidFill>
                <a:latin typeface="Courier New" pitchFamily="34" charset="0"/>
                <a:ea typeface="Courier New" pitchFamily="34" charset="-122"/>
                <a:cs typeface="Courier New" pitchFamily="34" charset="-120"/>
              </a:rPr>
              <a:t> </a:t>
            </a:r>
            <a:r>
              <a:rPr lang="en-US" sz="1100" b="1" dirty="0">
                <a:solidFill>
                  <a:srgbClr val="F2A65A"/>
                </a:solidFill>
                <a:latin typeface="Courier New" pitchFamily="34" charset="0"/>
                <a:ea typeface="Courier New" pitchFamily="34" charset="-122"/>
                <a:cs typeface="Courier New" pitchFamily="34" charset="-120"/>
              </a:rPr>
              <a:t>void</a:t>
            </a:r>
            <a:r>
              <a:rPr lang="en-US" sz="1100" dirty="0">
                <a:solidFill>
                  <a:srgbClr val="CADCFC"/>
                </a:solidFill>
                <a:latin typeface="Courier New" pitchFamily="34" charset="0"/>
                <a:ea typeface="Courier New" pitchFamily="34" charset="-122"/>
                <a:cs typeface="Courier New" pitchFamily="34" charset="-120"/>
              </a:rPr>
              <a:t> enroll(Project project) {</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projects.add(project);</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a:t>
            </a:r>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Person p = </a:t>
            </a:r>
            <a:r>
              <a:rPr lang="en-US" sz="1100" b="1" dirty="0">
                <a:solidFill>
                  <a:srgbClr val="F2A65A"/>
                </a:solidFill>
                <a:latin typeface="Courier New" pitchFamily="34" charset="0"/>
                <a:ea typeface="Courier New" pitchFamily="34" charset="-122"/>
                <a:cs typeface="Courier New" pitchFamily="34" charset="-120"/>
              </a:rPr>
              <a:t>new</a:t>
            </a:r>
            <a:r>
              <a:rPr lang="en-US" sz="1100" dirty="0">
                <a:solidFill>
                  <a:srgbClr val="CADCFC"/>
                </a:solidFill>
                <a:latin typeface="Courier New" pitchFamily="34" charset="0"/>
                <a:ea typeface="Courier New" pitchFamily="34" charset="-122"/>
                <a:cs typeface="Courier New" pitchFamily="34" charset="-120"/>
              </a:rPr>
              <a:t> Student();</a:t>
            </a:r>
            <a:endParaRPr lang="en-US" sz="1100" dirty="0"/>
          </a:p>
          <a:p>
            <a:pPr marL="0" indent="0">
              <a:lnSpc>
                <a:spcPct val="110000"/>
              </a:lnSpc>
              <a:buNone/>
            </a:pPr>
            <a:r>
              <a:rPr lang="en-US" sz="1100" dirty="0">
                <a:solidFill>
                  <a:srgbClr val="6FCF97"/>
                </a:solidFill>
                <a:latin typeface="Courier New" pitchFamily="34" charset="0"/>
                <a:ea typeface="Courier New" pitchFamily="34" charset="-122"/>
                <a:cs typeface="Courier New" pitchFamily="34" charset="-120"/>
              </a:rPr>
              <a:t>//^ reference type   ^ object type</a:t>
            </a:r>
            <a:endParaRPr lang="en-US" sz="1100" dirty="0"/>
          </a:p>
          <a:p>
            <a:pPr marL="0" indent="0">
              <a:lnSpc>
                <a:spcPct val="110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marL="0" indent="0">
              <a:lnSpc>
                <a:spcPct val="110000"/>
              </a:lnSpc>
              <a:buNone/>
            </a:pPr>
            <a:r>
              <a:rPr lang="en-US" sz="1100" dirty="0" err="1">
                <a:solidFill>
                  <a:srgbClr val="CADCFC"/>
                </a:solidFill>
                <a:latin typeface="Courier New" pitchFamily="34" charset="0"/>
                <a:ea typeface="Courier New" pitchFamily="34" charset="-122"/>
                <a:cs typeface="Courier New" pitchFamily="34" charset="-120"/>
              </a:rPr>
              <a:t>p.displayRole</a:t>
            </a:r>
            <a:r>
              <a:rPr lang="en-US" sz="1100" dirty="0">
                <a:solidFill>
                  <a:srgbClr val="CADCFC"/>
                </a:solidFill>
                <a:latin typeface="Courier New" pitchFamily="34" charset="0"/>
                <a:ea typeface="Courier New" pitchFamily="34" charset="-122"/>
                <a:cs typeface="Courier New" pitchFamily="34" charset="-120"/>
              </a:rPr>
              <a:t>();</a:t>
            </a:r>
            <a:endParaRPr lang="en-US" sz="1100" dirty="0"/>
          </a:p>
          <a:p>
            <a:pPr marL="0" indent="0">
              <a:lnSpc>
                <a:spcPct val="110000"/>
              </a:lnSpc>
              <a:buNone/>
            </a:pPr>
            <a:r>
              <a:rPr lang="en-US" sz="1100" dirty="0">
                <a:solidFill>
                  <a:srgbClr val="6FCF97"/>
                </a:solidFill>
                <a:latin typeface="Courier New" pitchFamily="34" charset="0"/>
                <a:ea typeface="Courier New" pitchFamily="34" charset="-122"/>
                <a:cs typeface="Courier New" pitchFamily="34" charset="-120"/>
              </a:rPr>
              <a:t>// OK -- exists on Person, Student's version runs</a:t>
            </a:r>
            <a:endParaRPr lang="en-US" sz="1100" dirty="0"/>
          </a:p>
          <a:p>
            <a:pPr marL="0" indent="0">
              <a:lnSpc>
                <a:spcPct val="110000"/>
              </a:lnSpc>
              <a:buNone/>
            </a:pPr>
            <a:r>
              <a:rPr lang="en-US" sz="1100" dirty="0" err="1">
                <a:solidFill>
                  <a:srgbClr val="CADCFC"/>
                </a:solidFill>
                <a:latin typeface="Courier New" pitchFamily="34" charset="0"/>
                <a:ea typeface="Courier New" pitchFamily="34" charset="-122"/>
                <a:cs typeface="Courier New" pitchFamily="34" charset="-120"/>
              </a:rPr>
              <a:t>p.enroll</a:t>
            </a:r>
            <a:r>
              <a:rPr lang="en-US" sz="1100" dirty="0">
                <a:solidFill>
                  <a:srgbClr val="CADCFC"/>
                </a:solidFill>
                <a:latin typeface="Courier New" pitchFamily="34" charset="0"/>
                <a:ea typeface="Courier New" pitchFamily="34" charset="-122"/>
                <a:cs typeface="Courier New" pitchFamily="34" charset="-120"/>
              </a:rPr>
              <a:t>(project);</a:t>
            </a:r>
            <a:endParaRPr lang="en-US" sz="1100" dirty="0"/>
          </a:p>
          <a:p>
            <a:pPr marL="0" indent="0">
              <a:lnSpc>
                <a:spcPct val="110000"/>
              </a:lnSpc>
              <a:buNone/>
            </a:pPr>
            <a:r>
              <a:rPr lang="en-US" sz="1100" dirty="0">
                <a:solidFill>
                  <a:srgbClr val="6FCF97"/>
                </a:solidFill>
                <a:latin typeface="Courier New" pitchFamily="34" charset="0"/>
                <a:ea typeface="Courier New" pitchFamily="34" charset="-122"/>
                <a:cs typeface="Courier New" pitchFamily="34" charset="-120"/>
              </a:rPr>
              <a:t>// ERROR: cannot find symbol -- enroll() is</a:t>
            </a:r>
            <a:endParaRPr lang="en-US" sz="1100" dirty="0"/>
          </a:p>
          <a:p>
            <a:pPr marL="0" indent="0">
              <a:lnSpc>
                <a:spcPct val="110000"/>
              </a:lnSpc>
              <a:buNone/>
            </a:pPr>
            <a:r>
              <a:rPr lang="en-US" sz="1100" dirty="0">
                <a:solidFill>
                  <a:srgbClr val="6FCF97"/>
                </a:solidFill>
                <a:latin typeface="Courier New" pitchFamily="34" charset="0"/>
                <a:ea typeface="Courier New" pitchFamily="34" charset="-122"/>
                <a:cs typeface="Courier New" pitchFamily="34" charset="-120"/>
              </a:rPr>
              <a:t>// declared on Student, not on Person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REFERENCE TYPE VS OBJECT TYPE</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If the Reference Type Is Student Instead?</a:t>
            </a:r>
            <a:endParaRPr lang="en-US" sz="3200" dirty="0"/>
          </a:p>
        </p:txBody>
      </p:sp>
      <p:sp>
        <p:nvSpPr>
          <p:cNvPr id="4" name="Text 2"/>
          <p:cNvSpPr txBox="1"/>
          <p:nvPr/>
        </p:nvSpPr>
        <p:spPr>
          <a:xfrm>
            <a:off x="548640" y="1874520"/>
            <a:ext cx="5120640" cy="329184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Now declare the SAME object with a Student reference, not a Person one.</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 Student reference sees everything Person declares -- it inherited that -- plus everything Student adds itself.</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Nothing is hidden this time, because the reference type no longer widens the object down to just its parent's contract.</a:t>
            </a:r>
            <a:endParaRPr lang="en-US" sz="1400" dirty="0"/>
          </a:p>
        </p:txBody>
      </p:sp>
      <p:sp>
        <p:nvSpPr>
          <p:cNvPr id="5" name="Shape 3"/>
          <p:cNvSpPr/>
          <p:nvPr/>
        </p:nvSpPr>
        <p:spPr>
          <a:xfrm>
            <a:off x="5989320" y="1828800"/>
            <a:ext cx="5669280" cy="3291840"/>
          </a:xfrm>
          <a:prstGeom prst="roundRect">
            <a:avLst>
              <a:gd name="adj" fmla="val 2222"/>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2029968"/>
            <a:ext cx="5157216" cy="2889504"/>
          </a:xfrm>
          <a:prstGeom prst="rect">
            <a:avLst/>
          </a:prstGeom>
          <a:noFill/>
          <a:ln/>
        </p:spPr>
        <p:txBody>
          <a:bodyPr wrap="square" lIns="0" tIns="0" rIns="0" bIns="0" rtlCol="0" anchor="t"/>
          <a:lstStyle/>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Student s = </a:t>
            </a:r>
            <a:r>
              <a:rPr lang="en-US" sz="1300" b="1" dirty="0">
                <a:solidFill>
                  <a:srgbClr val="F2A65A"/>
                </a:solidFill>
                <a:latin typeface="Courier New" pitchFamily="34" charset="0"/>
                <a:ea typeface="Courier New" pitchFamily="34" charset="-122"/>
                <a:cs typeface="Courier New" pitchFamily="34" charset="-120"/>
              </a:rPr>
              <a:t>new</a:t>
            </a:r>
            <a:r>
              <a:rPr lang="en-US" sz="1300" dirty="0">
                <a:solidFill>
                  <a:srgbClr val="CADCFC"/>
                </a:solidFill>
                <a:latin typeface="Courier New" pitchFamily="34" charset="0"/>
                <a:ea typeface="Courier New" pitchFamily="34" charset="-122"/>
                <a:cs typeface="Courier New" pitchFamily="34" charset="-120"/>
              </a:rPr>
              <a:t> Student();</a:t>
            </a:r>
            <a:endParaRPr lang="en-US" sz="1300" dirty="0"/>
          </a:p>
          <a:p>
            <a:pPr marL="0" indent="0">
              <a:lnSpc>
                <a:spcPct val="125000"/>
              </a:lnSpc>
              <a:buNone/>
            </a:pPr>
            <a:r>
              <a:rPr lang="en-US" sz="1300" dirty="0">
                <a:solidFill>
                  <a:srgbClr val="6FCF97"/>
                </a:solidFill>
                <a:latin typeface="Courier New" pitchFamily="34" charset="0"/>
                <a:ea typeface="Courier New" pitchFamily="34" charset="-122"/>
                <a:cs typeface="Courier New" pitchFamily="34" charset="-120"/>
              </a:rPr>
              <a:t>//^ reference type   ^ object type</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s.displayRole();</a:t>
            </a:r>
            <a:endParaRPr lang="en-US" sz="1300" dirty="0"/>
          </a:p>
          <a:p>
            <a:pPr marL="0" indent="0">
              <a:lnSpc>
                <a:spcPct val="125000"/>
              </a:lnSpc>
              <a:buNone/>
            </a:pPr>
            <a:r>
              <a:rPr lang="en-US" sz="1300" dirty="0">
                <a:solidFill>
                  <a:srgbClr val="6FCF97"/>
                </a:solidFill>
                <a:latin typeface="Courier New" pitchFamily="34" charset="0"/>
                <a:ea typeface="Courier New" pitchFamily="34" charset="-122"/>
                <a:cs typeface="Courier New" pitchFamily="34" charset="-120"/>
              </a:rPr>
              <a:t>// OK -- inherited from Person</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25000"/>
              </a:lnSpc>
              <a:buNone/>
            </a:pPr>
            <a:r>
              <a:rPr lang="en-US" sz="1300" dirty="0">
                <a:solidFill>
                  <a:srgbClr val="CADCFC"/>
                </a:solidFill>
                <a:latin typeface="Courier New" pitchFamily="34" charset="0"/>
                <a:ea typeface="Courier New" pitchFamily="34" charset="-122"/>
                <a:cs typeface="Courier New" pitchFamily="34" charset="-120"/>
              </a:rPr>
              <a:t>s.enroll(project);</a:t>
            </a:r>
            <a:endParaRPr lang="en-US" sz="1300" dirty="0"/>
          </a:p>
          <a:p>
            <a:pPr marL="0" indent="0">
              <a:lnSpc>
                <a:spcPct val="125000"/>
              </a:lnSpc>
              <a:buNone/>
            </a:pPr>
            <a:r>
              <a:rPr lang="en-US" sz="1300" dirty="0">
                <a:solidFill>
                  <a:srgbClr val="6FCF97"/>
                </a:solidFill>
                <a:latin typeface="Courier New" pitchFamily="34" charset="0"/>
                <a:ea typeface="Courier New" pitchFamily="34" charset="-122"/>
                <a:cs typeface="Courier New" pitchFamily="34" charset="-120"/>
              </a:rPr>
              <a:t>// OK -- declared right here on Student</a:t>
            </a:r>
            <a:endParaRPr lang="en-US" sz="1300" dirty="0"/>
          </a:p>
        </p:txBody>
      </p:sp>
      <p:sp>
        <p:nvSpPr>
          <p:cNvPr id="7" name="Shape 5"/>
          <p:cNvSpPr/>
          <p:nvPr/>
        </p:nvSpPr>
        <p:spPr>
          <a:xfrm>
            <a:off x="5989320" y="5257800"/>
            <a:ext cx="5669280" cy="868680"/>
          </a:xfrm>
          <a:prstGeom prst="roundRect">
            <a:avLst>
              <a:gd name="adj" fmla="val 6316"/>
            </a:avLst>
          </a:prstGeom>
          <a:solidFill>
            <a:srgbClr val="1E2761"/>
          </a:solidFill>
          <a:ln/>
        </p:spPr>
        <p:txBody>
          <a:bodyPr/>
          <a:lstStyle/>
          <a:p>
            <a:endParaRPr lang="en-US"/>
          </a:p>
        </p:txBody>
      </p:sp>
      <p:sp>
        <p:nvSpPr>
          <p:cNvPr id="8" name="Text 6"/>
          <p:cNvSpPr txBox="1"/>
          <p:nvPr/>
        </p:nvSpPr>
        <p:spPr>
          <a:xfrm>
            <a:off x="6217920" y="5257800"/>
            <a:ext cx="5212080" cy="868680"/>
          </a:xfrm>
          <a:prstGeom prst="rect">
            <a:avLst/>
          </a:prstGeom>
          <a:noFill/>
          <a:ln/>
        </p:spPr>
        <p:txBody>
          <a:bodyPr wrap="square" lIns="0" tIns="0" rIns="0" bIns="0"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Same object, different reference type: Person p only exposed Person's contract; Student s exposes everything Student has, inherited and its own.</a:t>
            </a:r>
            <a:endParaRPr lang="en-US" sz="1150" dirty="0"/>
          </a:p>
        </p:txBody>
      </p:sp>
      <p:sp>
        <p:nvSpPr>
          <p:cNvPr id="9" name="Text 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TWO DIFFERENT MOMENTS</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Compile Time vs. Runtime</a:t>
            </a:r>
            <a:endParaRPr lang="en-US" sz="3200" dirty="0"/>
          </a:p>
        </p:txBody>
      </p:sp>
      <p:sp>
        <p:nvSpPr>
          <p:cNvPr id="4" name="Shape 2"/>
          <p:cNvSpPr/>
          <p:nvPr/>
        </p:nvSpPr>
        <p:spPr>
          <a:xfrm>
            <a:off x="548640" y="1920240"/>
            <a:ext cx="5349240" cy="3246120"/>
          </a:xfrm>
          <a:prstGeom prst="roundRect">
            <a:avLst>
              <a:gd name="adj" fmla="val 1690"/>
            </a:avLst>
          </a:prstGeom>
          <a:solidFill>
            <a:srgbClr val="F4F6FB"/>
          </a:solidFill>
          <a:ln/>
          <a:effectLst>
            <a:outerShdw blurRad="76200" dist="25400" dir="5400000" algn="bl" rotWithShape="0">
              <a:srgbClr val="6B7280">
                <a:alpha val="18000"/>
              </a:srgbClr>
            </a:outerShdw>
          </a:effectLst>
        </p:spPr>
        <p:txBody>
          <a:bodyPr/>
          <a:lstStyle/>
          <a:p>
            <a:endParaRPr lang="en-US"/>
          </a:p>
        </p:txBody>
      </p:sp>
      <p:sp>
        <p:nvSpPr>
          <p:cNvPr id="5" name="Shape 3"/>
          <p:cNvSpPr/>
          <p:nvPr/>
        </p:nvSpPr>
        <p:spPr>
          <a:xfrm>
            <a:off x="6309360" y="1920240"/>
            <a:ext cx="5349240" cy="3246120"/>
          </a:xfrm>
          <a:prstGeom prst="roundRect">
            <a:avLst>
              <a:gd name="adj" fmla="val 1690"/>
            </a:avLst>
          </a:prstGeom>
          <a:solidFill>
            <a:srgbClr val="1E2761"/>
          </a:solidFill>
          <a:ln/>
          <a:effectLst>
            <a:outerShdw blurRad="76200" dist="25400" dir="5400000" algn="bl" rotWithShape="0">
              <a:srgbClr val="6B7280">
                <a:alpha val="18000"/>
              </a:srgbClr>
            </a:outerShdw>
          </a:effectLst>
        </p:spPr>
        <p:txBody>
          <a:bodyPr/>
          <a:lstStyle/>
          <a:p>
            <a:endParaRPr lang="en-US"/>
          </a:p>
        </p:txBody>
      </p:sp>
      <p:sp>
        <p:nvSpPr>
          <p:cNvPr id="6" name="Text 4"/>
          <p:cNvSpPr txBox="1"/>
          <p:nvPr/>
        </p:nvSpPr>
        <p:spPr>
          <a:xfrm>
            <a:off x="548640" y="2103120"/>
            <a:ext cx="5349240" cy="36576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Compile Time</a:t>
            </a:r>
            <a:endParaRPr lang="en-US" sz="1800" dirty="0"/>
          </a:p>
        </p:txBody>
      </p:sp>
      <p:sp>
        <p:nvSpPr>
          <p:cNvPr id="7" name="Text 5"/>
          <p:cNvSpPr txBox="1"/>
          <p:nvPr/>
        </p:nvSpPr>
        <p:spPr>
          <a:xfrm>
            <a:off x="914400" y="2560320"/>
            <a:ext cx="4617720" cy="2468880"/>
          </a:xfrm>
          <a:prstGeom prst="rect">
            <a:avLst/>
          </a:prstGeom>
          <a:noFill/>
          <a:ln/>
        </p:spPr>
        <p:txBody>
          <a:bodyPr wrap="square" lIns="0" tIns="0" rIns="0" bIns="0" rtlCol="0" anchor="t"/>
          <a:lstStyle/>
          <a:p>
            <a:pPr marL="342900" indent="-342900">
              <a:lnSpc>
                <a:spcPct val="125000"/>
              </a:lnSpc>
              <a:spcAft>
                <a:spcPts val="900"/>
              </a:spcAft>
              <a:buSzPct val="100000"/>
              <a:buChar char="•"/>
            </a:pPr>
            <a:r>
              <a:rPr lang="en-US" sz="1250" dirty="0">
                <a:solidFill>
                  <a:srgbClr val="2A2E45"/>
                </a:solidFill>
                <a:latin typeface="Calibri" pitchFamily="34" charset="0"/>
                <a:ea typeface="Calibri" pitchFamily="34" charset="-122"/>
                <a:cs typeface="Calibri" pitchFamily="34" charset="-120"/>
              </a:rPr>
              <a:t>The compiler reads your code, before anything runs.</a:t>
            </a:r>
            <a:endParaRPr lang="en-US" sz="1250" dirty="0"/>
          </a:p>
          <a:p>
            <a:pPr marL="342900" indent="-342900">
              <a:lnSpc>
                <a:spcPct val="125000"/>
              </a:lnSpc>
              <a:spcAft>
                <a:spcPts val="900"/>
              </a:spcAft>
              <a:buSzPct val="100000"/>
              <a:buChar char="•"/>
            </a:pPr>
            <a:r>
              <a:rPr lang="en-US" sz="1250" dirty="0">
                <a:solidFill>
                  <a:srgbClr val="2A2E45"/>
                </a:solidFill>
                <a:latin typeface="Calibri" pitchFamily="34" charset="0"/>
                <a:ea typeface="Calibri" pitchFamily="34" charset="-122"/>
                <a:cs typeface="Calibri" pitchFamily="34" charset="-120"/>
              </a:rPr>
              <a:t>It checks every type, and that the reference type actually declares the method you're calling.</a:t>
            </a:r>
            <a:endParaRPr lang="en-US" sz="1250" dirty="0"/>
          </a:p>
          <a:p>
            <a:pPr marL="342900" indent="-342900">
              <a:lnSpc>
                <a:spcPct val="125000"/>
              </a:lnSpc>
              <a:spcAft>
                <a:spcPts val="900"/>
              </a:spcAft>
              <a:buSzPct val="100000"/>
              <a:buChar char="•"/>
            </a:pPr>
            <a:r>
              <a:rPr lang="en-US" sz="1250" dirty="0">
                <a:solidFill>
                  <a:srgbClr val="2A2E45"/>
                </a:solidFill>
                <a:latin typeface="Calibri" pitchFamily="34" charset="0"/>
                <a:ea typeface="Calibri" pitchFamily="34" charset="-122"/>
                <a:cs typeface="Calibri" pitchFamily="34" charset="-120"/>
              </a:rPr>
              <a:t>It confirms every abstract method has an implementation somewhere concrete.</a:t>
            </a:r>
            <a:endParaRPr lang="en-US" sz="1250" dirty="0"/>
          </a:p>
          <a:p>
            <a:pPr marL="342900" indent="-342900">
              <a:lnSpc>
                <a:spcPct val="125000"/>
              </a:lnSpc>
              <a:spcAft>
                <a:spcPts val="900"/>
              </a:spcAft>
              <a:buSzPct val="100000"/>
              <a:buChar char="•"/>
            </a:pPr>
            <a:r>
              <a:rPr lang="en-US" sz="1250" dirty="0">
                <a:solidFill>
                  <a:srgbClr val="2A2E45"/>
                </a:solidFill>
                <a:latin typeface="Calibri" pitchFamily="34" charset="0"/>
                <a:ea typeface="Calibri" pitchFamily="34" charset="-122"/>
                <a:cs typeface="Calibri" pitchFamily="34" charset="-120"/>
              </a:rPr>
              <a:t>Whole categories of bugs are caught here, before the program ever starts.</a:t>
            </a:r>
            <a:endParaRPr lang="en-US" sz="1250" dirty="0"/>
          </a:p>
        </p:txBody>
      </p:sp>
      <p:sp>
        <p:nvSpPr>
          <p:cNvPr id="8" name="Text 6"/>
          <p:cNvSpPr txBox="1"/>
          <p:nvPr/>
        </p:nvSpPr>
        <p:spPr>
          <a:xfrm>
            <a:off x="6309360" y="2103120"/>
            <a:ext cx="534924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Runtime</a:t>
            </a:r>
            <a:endParaRPr lang="en-US" sz="1800" dirty="0"/>
          </a:p>
        </p:txBody>
      </p:sp>
      <p:sp>
        <p:nvSpPr>
          <p:cNvPr id="9" name="Text 7"/>
          <p:cNvSpPr txBox="1"/>
          <p:nvPr/>
        </p:nvSpPr>
        <p:spPr>
          <a:xfrm>
            <a:off x="6675120" y="2560320"/>
            <a:ext cx="4617720" cy="2468880"/>
          </a:xfrm>
          <a:prstGeom prst="rect">
            <a:avLst/>
          </a:prstGeom>
          <a:noFill/>
          <a:ln/>
        </p:spPr>
        <p:txBody>
          <a:bodyPr wrap="square" lIns="0" tIns="0" rIns="0" bIns="0" rtlCol="0" anchor="t"/>
          <a:lstStyle/>
          <a:p>
            <a:pPr marL="342900" indent="-342900">
              <a:lnSpc>
                <a:spcPct val="125000"/>
              </a:lnSpc>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The program actually executes.</a:t>
            </a:r>
            <a:endParaRPr lang="en-US" sz="1250" dirty="0"/>
          </a:p>
          <a:p>
            <a:pPr marL="342900" indent="-342900">
              <a:lnSpc>
                <a:spcPct val="125000"/>
              </a:lnSpc>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Objects are created in memory with new.</a:t>
            </a:r>
            <a:endParaRPr lang="en-US" sz="1250" dirty="0"/>
          </a:p>
          <a:p>
            <a:pPr marL="342900" indent="-342900">
              <a:lnSpc>
                <a:spcPct val="125000"/>
              </a:lnSpc>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The real object decides which overridden method runs.</a:t>
            </a:r>
            <a:endParaRPr lang="en-US" sz="1250" dirty="0"/>
          </a:p>
          <a:p>
            <a:pPr marL="342900" indent="-342900">
              <a:lnSpc>
                <a:spcPct val="125000"/>
              </a:lnSpc>
              <a:spcAft>
                <a:spcPts val="900"/>
              </a:spcAft>
              <a:buSzPct val="100000"/>
              <a:buChar char="•"/>
            </a:pPr>
            <a:r>
              <a:rPr lang="en-US" sz="1250" dirty="0">
                <a:solidFill>
                  <a:srgbClr val="CADCFC"/>
                </a:solidFill>
                <a:latin typeface="Calibri" pitchFamily="34" charset="0"/>
                <a:ea typeface="Calibri" pitchFamily="34" charset="-122"/>
                <a:cs typeface="Calibri" pitchFamily="34" charset="-120"/>
              </a:rPr>
              <a:t>A cast like (Student) is double-checked here -- this is where ClassCastException can happen.</a:t>
            </a:r>
            <a:endParaRPr lang="en-US" sz="1250" dirty="0"/>
          </a:p>
        </p:txBody>
      </p:sp>
      <p:sp>
        <p:nvSpPr>
          <p:cNvPr id="10" name="Shape 8"/>
          <p:cNvSpPr/>
          <p:nvPr/>
        </p:nvSpPr>
        <p:spPr>
          <a:xfrm>
            <a:off x="548640" y="5303520"/>
            <a:ext cx="11064240" cy="777240"/>
          </a:xfrm>
          <a:prstGeom prst="roundRect">
            <a:avLst>
              <a:gd name="adj" fmla="val 7059"/>
            </a:avLst>
          </a:prstGeom>
          <a:solidFill>
            <a:srgbClr val="1E2761"/>
          </a:solidFill>
          <a:ln/>
        </p:spPr>
        <p:txBody>
          <a:bodyPr/>
          <a:lstStyle/>
          <a:p>
            <a:endParaRPr lang="en-US"/>
          </a:p>
        </p:txBody>
      </p:sp>
      <p:sp>
        <p:nvSpPr>
          <p:cNvPr id="11" name="Text 9"/>
          <p:cNvSpPr txBox="1"/>
          <p:nvPr/>
        </p:nvSpPr>
        <p:spPr>
          <a:xfrm>
            <a:off x="777240" y="5303520"/>
            <a:ext cx="10607040" cy="77724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Most of what confuses people about Java -- the reference-type rule, abstract method rules -- comes down to which of these two moments a check happens in.</a:t>
            </a:r>
            <a:endParaRPr lang="en-US" sz="1250" dirty="0"/>
          </a:p>
        </p:txBody>
      </p:sp>
      <p:sp>
        <p:nvSpPr>
          <p:cNvPr id="12" name="Text 10"/>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REFERENCE TYPE VS OBJECT TYPE</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Creating Objects: What Compiles, What Doesn't</a:t>
            </a:r>
            <a:endParaRPr lang="en-US" sz="3200" dirty="0"/>
          </a:p>
        </p:txBody>
      </p:sp>
      <p:sp>
        <p:nvSpPr>
          <p:cNvPr id="4" name="Text 2"/>
          <p:cNvSpPr txBox="1"/>
          <p:nvPr/>
        </p:nvSpPr>
        <p:spPr>
          <a:xfrm>
            <a:off x="548640" y="1874520"/>
            <a:ext cx="5120640" cy="329184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Assigning a child object to a parent-type reference (upcasting) is always safe -- the compiler allows it automatically.</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Assigning a parent object to a child-type reference is never automatic -- not every Person is a Student.</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You can force it with an explicit cast (downcasting) -- but the JVM double-checks it while the program runs.</a:t>
            </a:r>
            <a:endParaRPr lang="en-US" sz="1400" dirty="0"/>
          </a:p>
        </p:txBody>
      </p:sp>
      <p:sp>
        <p:nvSpPr>
          <p:cNvPr id="5" name="Shape 3"/>
          <p:cNvSpPr/>
          <p:nvPr/>
        </p:nvSpPr>
        <p:spPr>
          <a:xfrm>
            <a:off x="5989320" y="1463040"/>
            <a:ext cx="5669280" cy="4343400"/>
          </a:xfrm>
          <a:prstGeom prst="roundRect">
            <a:avLst>
              <a:gd name="adj" fmla="val 1684"/>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6245352" y="1664208"/>
            <a:ext cx="5157216" cy="3941064"/>
          </a:xfrm>
          <a:prstGeom prst="rect">
            <a:avLst/>
          </a:prstGeom>
          <a:noFill/>
          <a:ln/>
        </p:spPr>
        <p:txBody>
          <a:bodyPr wrap="square" lIns="0" tIns="0" rIns="0" bIns="0" rtlCol="0" anchor="t"/>
          <a:lstStyle/>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Person p = </a:t>
            </a:r>
            <a:r>
              <a:rPr lang="en-US" sz="1150" b="1" dirty="0">
                <a:solidFill>
                  <a:srgbClr val="F2A65A"/>
                </a:solidFill>
                <a:latin typeface="Courier New" pitchFamily="34" charset="0"/>
                <a:ea typeface="Courier New" pitchFamily="34" charset="-122"/>
                <a:cs typeface="Courier New" pitchFamily="34" charset="-120"/>
              </a:rPr>
              <a:t>new</a:t>
            </a:r>
            <a:r>
              <a:rPr lang="en-US" sz="1150" dirty="0">
                <a:solidFill>
                  <a:srgbClr val="CADCFC"/>
                </a:solidFill>
                <a:latin typeface="Courier New" pitchFamily="34" charset="0"/>
                <a:ea typeface="Courier New" pitchFamily="34" charset="-122"/>
                <a:cs typeface="Courier New" pitchFamily="34" charset="-120"/>
              </a:rPr>
              <a:t> Student("Ana", 101, 20);</a:t>
            </a:r>
            <a:endParaRPr lang="en-US" sz="1150" dirty="0"/>
          </a:p>
          <a:p>
            <a:pPr marL="0" indent="0">
              <a:lnSpc>
                <a:spcPct val="125000"/>
              </a:lnSpc>
              <a:buNone/>
            </a:pPr>
            <a:r>
              <a:rPr lang="en-US" sz="1150" dirty="0">
                <a:solidFill>
                  <a:srgbClr val="6FCF97"/>
                </a:solidFill>
                <a:latin typeface="Courier New" pitchFamily="34" charset="0"/>
                <a:ea typeface="Courier New" pitchFamily="34" charset="-122"/>
                <a:cs typeface="Courier New" pitchFamily="34" charset="-120"/>
              </a:rPr>
              <a:t>// OK -- upcasting is automatic:</a:t>
            </a:r>
            <a:endParaRPr lang="en-US" sz="1150" dirty="0"/>
          </a:p>
          <a:p>
            <a:pPr marL="0" indent="0">
              <a:lnSpc>
                <a:spcPct val="125000"/>
              </a:lnSpc>
              <a:buNone/>
            </a:pPr>
            <a:r>
              <a:rPr lang="en-US" sz="1150" dirty="0">
                <a:solidFill>
                  <a:srgbClr val="6FCF97"/>
                </a:solidFill>
                <a:latin typeface="Courier New" pitchFamily="34" charset="0"/>
                <a:ea typeface="Courier New" pitchFamily="34" charset="-122"/>
                <a:cs typeface="Courier New" pitchFamily="34" charset="-120"/>
              </a:rPr>
              <a:t>// every Student IS-A Person</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Student s = </a:t>
            </a:r>
            <a:r>
              <a:rPr lang="en-US" sz="1150" b="1" dirty="0">
                <a:solidFill>
                  <a:srgbClr val="F2A65A"/>
                </a:solidFill>
                <a:latin typeface="Courier New" pitchFamily="34" charset="0"/>
                <a:ea typeface="Courier New" pitchFamily="34" charset="-122"/>
                <a:cs typeface="Courier New" pitchFamily="34" charset="-120"/>
              </a:rPr>
              <a:t>new</a:t>
            </a:r>
            <a:r>
              <a:rPr lang="en-US" sz="1150" dirty="0">
                <a:solidFill>
                  <a:srgbClr val="CADCFC"/>
                </a:solidFill>
                <a:latin typeface="Courier New" pitchFamily="34" charset="0"/>
                <a:ea typeface="Courier New" pitchFamily="34" charset="-122"/>
                <a:cs typeface="Courier New" pitchFamily="34" charset="-120"/>
              </a:rPr>
              <a:t> Person("X", 1);</a:t>
            </a:r>
            <a:endParaRPr lang="en-US" sz="1150" dirty="0"/>
          </a:p>
          <a:p>
            <a:pPr marL="0" indent="0">
              <a:lnSpc>
                <a:spcPct val="125000"/>
              </a:lnSpc>
              <a:buNone/>
            </a:pPr>
            <a:r>
              <a:rPr lang="en-US" sz="1150" dirty="0">
                <a:solidFill>
                  <a:srgbClr val="6FCF97"/>
                </a:solidFill>
                <a:latin typeface="Courier New" pitchFamily="34" charset="0"/>
                <a:ea typeface="Courier New" pitchFamily="34" charset="-122"/>
                <a:cs typeface="Courier New" pitchFamily="34" charset="-120"/>
              </a:rPr>
              <a:t>// ERROR: incompatible types --</a:t>
            </a:r>
            <a:endParaRPr lang="en-US" sz="1150" dirty="0"/>
          </a:p>
          <a:p>
            <a:pPr marL="0" indent="0">
              <a:lnSpc>
                <a:spcPct val="125000"/>
              </a:lnSpc>
              <a:buNone/>
            </a:pPr>
            <a:r>
              <a:rPr lang="en-US" sz="1150" dirty="0">
                <a:solidFill>
                  <a:srgbClr val="6FCF97"/>
                </a:solidFill>
                <a:latin typeface="Courier New" pitchFamily="34" charset="0"/>
                <a:ea typeface="Courier New" pitchFamily="34" charset="-122"/>
                <a:cs typeface="Courier New" pitchFamily="34" charset="-120"/>
              </a:rPr>
              <a:t>// Person cannot be converted to Student</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Student s2 = (Student) p;</a:t>
            </a:r>
            <a:endParaRPr lang="en-US" sz="1150" dirty="0"/>
          </a:p>
          <a:p>
            <a:pPr marL="0" indent="0">
              <a:lnSpc>
                <a:spcPct val="125000"/>
              </a:lnSpc>
              <a:buNone/>
            </a:pPr>
            <a:r>
              <a:rPr lang="en-US" sz="1150" dirty="0">
                <a:solidFill>
                  <a:srgbClr val="6FCF97"/>
                </a:solidFill>
                <a:latin typeface="Courier New" pitchFamily="34" charset="0"/>
                <a:ea typeface="Courier New" pitchFamily="34" charset="-122"/>
                <a:cs typeface="Courier New" pitchFamily="34" charset="-120"/>
              </a:rPr>
              <a:t>// Compiles -- you're promising it's really</a:t>
            </a:r>
            <a:endParaRPr lang="en-US" sz="1150" dirty="0"/>
          </a:p>
          <a:p>
            <a:pPr marL="0" indent="0">
              <a:lnSpc>
                <a:spcPct val="125000"/>
              </a:lnSpc>
              <a:buNone/>
            </a:pPr>
            <a:r>
              <a:rPr lang="en-US" sz="1150" dirty="0">
                <a:solidFill>
                  <a:srgbClr val="6FCF97"/>
                </a:solidFill>
                <a:latin typeface="Courier New" pitchFamily="34" charset="0"/>
                <a:ea typeface="Courier New" pitchFamily="34" charset="-122"/>
                <a:cs typeface="Courier New" pitchFamily="34" charset="-120"/>
              </a:rPr>
              <a:t>// a Student. Checked again at RUNTIME:</a:t>
            </a:r>
            <a:endParaRPr lang="en-US" sz="1150" dirty="0"/>
          </a:p>
          <a:p>
            <a:pPr marL="0" indent="0">
              <a:lnSpc>
                <a:spcPct val="125000"/>
              </a:lnSpc>
              <a:buNone/>
            </a:pPr>
            <a:r>
              <a:rPr lang="en-US" sz="1150" dirty="0">
                <a:solidFill>
                  <a:srgbClr val="6FCF97"/>
                </a:solidFill>
                <a:latin typeface="Courier New" pitchFamily="34" charset="0"/>
                <a:ea typeface="Courier New" pitchFamily="34" charset="-122"/>
                <a:cs typeface="Courier New" pitchFamily="34" charset="-120"/>
              </a:rPr>
              <a:t>// throws ClassCastException if it wasn't</a:t>
            </a:r>
            <a:endParaRPr lang="en-US" sz="1150" dirty="0"/>
          </a:p>
        </p:txBody>
      </p:sp>
      <p:sp>
        <p:nvSpPr>
          <p:cNvPr id="7" name="Text 5"/>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1E2761"/>
          </a:solidFill>
          <a:ln/>
        </p:spPr>
        <p:txBody>
          <a:bodyPr/>
          <a:lstStyle/>
          <a:p>
            <a:endParaRPr lang="en-US"/>
          </a:p>
        </p:txBody>
      </p:sp>
      <p:sp>
        <p:nvSpPr>
          <p:cNvPr id="3" name="Text 1"/>
          <p:cNvSpPr txBox="1"/>
          <p:nvPr/>
        </p:nvSpPr>
        <p:spPr>
          <a:xfrm>
            <a:off x="548640" y="50292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mbria" pitchFamily="34" charset="0"/>
                <a:ea typeface="Cambria" pitchFamily="34" charset="-122"/>
                <a:cs typeface="Cambria" pitchFamily="34" charset="-120"/>
              </a:rPr>
              <a:t>P</a:t>
            </a:r>
            <a:endParaRPr lang="en-US" sz="1430" dirty="0"/>
          </a:p>
        </p:txBody>
      </p:sp>
      <p:sp>
        <p:nvSpPr>
          <p:cNvPr id="4" name="Text 2"/>
          <p:cNvSpPr txBox="1"/>
          <p:nvPr/>
        </p:nvSpPr>
        <p:spPr>
          <a:xfrm>
            <a:off x="1234440" y="502920"/>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3 — DEFINITION</a:t>
            </a:r>
            <a:endParaRPr lang="en-US" sz="1200" dirty="0"/>
          </a:p>
        </p:txBody>
      </p:sp>
      <p:sp>
        <p:nvSpPr>
          <p:cNvPr id="5" name="Text 3"/>
          <p:cNvSpPr txBox="1"/>
          <p:nvPr/>
        </p:nvSpPr>
        <p:spPr>
          <a:xfrm>
            <a:off x="1234440" y="777240"/>
            <a:ext cx="1051560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Polymorphism</a:t>
            </a:r>
            <a:endParaRPr lang="en-US" sz="3000" dirty="0"/>
          </a:p>
        </p:txBody>
      </p:sp>
      <p:sp>
        <p:nvSpPr>
          <p:cNvPr id="6" name="Text 4"/>
          <p:cNvSpPr txBox="1"/>
          <p:nvPr/>
        </p:nvSpPr>
        <p:spPr>
          <a:xfrm>
            <a:off x="548640" y="1874520"/>
            <a:ext cx="10881360" cy="173736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"Poly-morph" = many forms: the same method call behaves differently depending on the actual object.</a:t>
            </a:r>
            <a:endParaRPr lang="en-US" sz="1450" dirty="0"/>
          </a:p>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Method overriding gives runtime (dynamic) polymorphism — decided by object type.</a:t>
            </a:r>
            <a:endParaRPr lang="en-US" sz="1450" dirty="0"/>
          </a:p>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Method overloading gives compile-time polymorphism — same name, different parameters.</a:t>
            </a:r>
            <a:endParaRPr lang="en-US" sz="1450" dirty="0"/>
          </a:p>
        </p:txBody>
      </p:sp>
      <p:sp>
        <p:nvSpPr>
          <p:cNvPr id="7" name="Shape 5"/>
          <p:cNvSpPr/>
          <p:nvPr/>
        </p:nvSpPr>
        <p:spPr>
          <a:xfrm>
            <a:off x="548640" y="3749040"/>
            <a:ext cx="10881360" cy="914400"/>
          </a:xfrm>
          <a:prstGeom prst="roundRect">
            <a:avLst>
              <a:gd name="adj" fmla="val 6000"/>
            </a:avLst>
          </a:prstGeom>
          <a:solidFill>
            <a:srgbClr val="1E2761"/>
          </a:solidFill>
          <a:ln/>
        </p:spPr>
        <p:txBody>
          <a:bodyPr/>
          <a:lstStyle/>
          <a:p>
            <a:endParaRPr lang="en-US"/>
          </a:p>
        </p:txBody>
      </p:sp>
      <p:sp>
        <p:nvSpPr>
          <p:cNvPr id="8" name="Text 6"/>
          <p:cNvSpPr txBox="1"/>
          <p:nvPr/>
        </p:nvSpPr>
        <p:spPr>
          <a:xfrm>
            <a:off x="777240" y="3749040"/>
            <a:ext cx="10424160" cy="9144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Real-world analogy: the same command, "start the engine," sounds completely different on a Corolla, a BMW, and a Mercedes.</a:t>
            </a:r>
            <a:endParaRPr lang="en-US" sz="1300" dirty="0"/>
          </a:p>
        </p:txBody>
      </p:sp>
      <p:sp>
        <p:nvSpPr>
          <p:cNvPr id="9" name="Text 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3 — THE PROBLEM</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Without Polymorphism: instanceof Chains</a:t>
            </a:r>
            <a:endParaRPr lang="en-US" sz="3200" dirty="0"/>
          </a:p>
        </p:txBody>
      </p:sp>
      <p:sp>
        <p:nvSpPr>
          <p:cNvPr id="4" name="Text 2"/>
          <p:cNvSpPr txBox="1"/>
          <p:nvPr/>
        </p:nvSpPr>
        <p:spPr>
          <a:xfrm>
            <a:off x="548640" y="1645920"/>
            <a:ext cx="10881360" cy="45720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dirty="0">
                <a:solidFill>
                  <a:srgbClr val="2A2E45"/>
                </a:solidFill>
                <a:latin typeface="Calibri" pitchFamily="34" charset="0"/>
                <a:ea typeface="Calibri" pitchFamily="34" charset="-122"/>
                <a:cs typeface="Calibri" pitchFamily="34" charset="-120"/>
              </a:rPr>
              <a:t>No shared method on Car means each brand invents its own name -- the caller must check the type and downcast to reach it.</a:t>
            </a:r>
            <a:endParaRPr lang="en-US" sz="1350" dirty="0"/>
          </a:p>
        </p:txBody>
      </p:sp>
      <p:sp>
        <p:nvSpPr>
          <p:cNvPr id="5" name="Shape 3"/>
          <p:cNvSpPr/>
          <p:nvPr/>
        </p:nvSpPr>
        <p:spPr>
          <a:xfrm>
            <a:off x="548640" y="2103120"/>
            <a:ext cx="6720840" cy="4206240"/>
          </a:xfrm>
          <a:prstGeom prst="roundRect">
            <a:avLst>
              <a:gd name="adj" fmla="val 1739"/>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804672" y="2304288"/>
            <a:ext cx="6208776" cy="3803904"/>
          </a:xfrm>
          <a:prstGeom prst="rect">
            <a:avLst/>
          </a:prstGeom>
          <a:noFill/>
          <a:ln/>
        </p:spPr>
        <p:txBody>
          <a:bodyPr wrap="square" lIns="0" tIns="0" rIns="0" bIns="0" rtlCol="0" anchor="t"/>
          <a:lstStyle/>
          <a:p>
            <a:pPr marL="0" indent="0">
              <a:lnSpc>
                <a:spcPct val="120000"/>
              </a:lnSpc>
              <a:buNone/>
            </a:pPr>
            <a:r>
              <a:rPr lang="en-US" sz="1200" b="1" dirty="0">
                <a:solidFill>
                  <a:srgbClr val="F2A65A"/>
                </a:solidFill>
                <a:latin typeface="Courier New" pitchFamily="34" charset="0"/>
                <a:ea typeface="Courier New" pitchFamily="34" charset="-122"/>
                <a:cs typeface="Courier New" pitchFamily="34" charset="-120"/>
              </a:rPr>
              <a:t>class</a:t>
            </a:r>
            <a:r>
              <a:rPr lang="en-US" sz="1200" dirty="0">
                <a:solidFill>
                  <a:srgbClr val="CADCFC"/>
                </a:solidFill>
                <a:latin typeface="Courier New" pitchFamily="34" charset="0"/>
                <a:ea typeface="Courier New" pitchFamily="34" charset="-122"/>
                <a:cs typeface="Courier New" pitchFamily="34" charset="-120"/>
              </a:rPr>
              <a:t> Car {</a:t>
            </a:r>
            <a:endParaRPr lang="en-US" sz="1200" dirty="0"/>
          </a:p>
          <a:p>
            <a:pPr marL="0" indent="0">
              <a:lnSpc>
                <a:spcPct val="120000"/>
              </a:lnSpc>
              <a:buNone/>
            </a:pPr>
            <a:r>
              <a:rPr lang="en-US" sz="1200" dirty="0">
                <a:solidFill>
                  <a:srgbClr val="6FCF97"/>
                </a:solidFill>
                <a:latin typeface="Courier New" pitchFamily="34" charset="0"/>
                <a:ea typeface="Courier New" pitchFamily="34" charset="-122"/>
                <a:cs typeface="Courier New" pitchFamily="34" charset="-120"/>
              </a:rPr>
              <a:t>    // nothing here for subclasses to override</a:t>
            </a:r>
            <a:endParaRPr lang="en-US" sz="1200" dirty="0"/>
          </a:p>
          <a:p>
            <a:pPr marL="0" indent="0">
              <a:lnSpc>
                <a:spcPct val="120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dirty="0">
                <a:solidFill>
                  <a:srgbClr val="CADCFC"/>
                </a:solidFill>
                <a:latin typeface="Courier New" pitchFamily="34" charset="0"/>
                <a:ea typeface="Courier New" pitchFamily="34" charset="-122"/>
                <a:cs typeface="Courier New" pitchFamily="34" charset="-120"/>
              </a:rPr>
              <a:t> </a:t>
            </a:r>
            <a:endParaRPr lang="en-US" sz="1200" dirty="0"/>
          </a:p>
          <a:p>
            <a:pPr marL="0" indent="0">
              <a:lnSpc>
                <a:spcPct val="120000"/>
              </a:lnSpc>
              <a:buNone/>
            </a:pPr>
            <a:r>
              <a:rPr lang="en-US" sz="1200" b="1" dirty="0">
                <a:solidFill>
                  <a:srgbClr val="F2A65A"/>
                </a:solidFill>
                <a:latin typeface="Courier New" pitchFamily="34" charset="0"/>
                <a:ea typeface="Courier New" pitchFamily="34" charset="-122"/>
                <a:cs typeface="Courier New" pitchFamily="34" charset="-120"/>
              </a:rPr>
              <a:t>class</a:t>
            </a:r>
            <a:r>
              <a:rPr lang="en-US" sz="1200" dirty="0">
                <a:solidFill>
                  <a:srgbClr val="CADCFC"/>
                </a:solidFill>
                <a:latin typeface="Courier New" pitchFamily="34" charset="0"/>
                <a:ea typeface="Courier New" pitchFamily="34" charset="-122"/>
                <a:cs typeface="Courier New" pitchFamily="34" charset="-120"/>
              </a:rPr>
              <a:t> Corolla </a:t>
            </a:r>
            <a:r>
              <a:rPr lang="en-US" sz="1200" b="1" dirty="0">
                <a:solidFill>
                  <a:srgbClr val="F2A65A"/>
                </a:solidFill>
                <a:latin typeface="Courier New" pitchFamily="34" charset="0"/>
                <a:ea typeface="Courier New" pitchFamily="34" charset="-122"/>
                <a:cs typeface="Courier New" pitchFamily="34" charset="-120"/>
              </a:rPr>
              <a:t>extends</a:t>
            </a:r>
            <a:r>
              <a:rPr lang="en-US" sz="1200" dirty="0">
                <a:solidFill>
                  <a:srgbClr val="CADCFC"/>
                </a:solidFill>
                <a:latin typeface="Courier New" pitchFamily="34" charset="0"/>
                <a:ea typeface="Courier New" pitchFamily="34" charset="-122"/>
                <a:cs typeface="Courier New" pitchFamily="34" charset="-120"/>
              </a:rPr>
              <a:t> Car {</a:t>
            </a:r>
            <a:endParaRPr lang="en-US" sz="1200" dirty="0"/>
          </a:p>
          <a:p>
            <a:pPr marL="0" indent="0">
              <a:lnSpc>
                <a:spcPct val="120000"/>
              </a:lnSpc>
              <a:buNone/>
            </a:pPr>
            <a:r>
              <a:rPr lang="en-US" sz="1200" dirty="0">
                <a:solidFill>
                  <a:srgbClr val="CADCFC"/>
                </a:solidFill>
                <a:latin typeface="Courier New" pitchFamily="34" charset="0"/>
                <a:ea typeface="Courier New" pitchFamily="34" charset="-122"/>
                <a:cs typeface="Courier New" pitchFamily="34" charset="-120"/>
              </a:rPr>
              <a:t>    </a:t>
            </a:r>
            <a:r>
              <a:rPr lang="en-US" sz="1200" b="1" dirty="0">
                <a:solidFill>
                  <a:srgbClr val="F2A65A"/>
                </a:solidFill>
                <a:latin typeface="Courier New" pitchFamily="34" charset="0"/>
                <a:ea typeface="Courier New" pitchFamily="34" charset="-122"/>
                <a:cs typeface="Courier New" pitchFamily="34" charset="-120"/>
              </a:rPr>
              <a:t>void</a:t>
            </a:r>
            <a:r>
              <a:rPr lang="en-US" sz="1200" dirty="0">
                <a:solidFill>
                  <a:srgbClr val="CADCFC"/>
                </a:solidFill>
                <a:latin typeface="Courier New" pitchFamily="34" charset="0"/>
                <a:ea typeface="Courier New" pitchFamily="34" charset="-122"/>
                <a:cs typeface="Courier New" pitchFamily="34" charset="-120"/>
              </a:rPr>
              <a:t> quietHum() { System.out.println("Quiet hum"); }</a:t>
            </a:r>
            <a:endParaRPr lang="en-US" sz="1200" dirty="0"/>
          </a:p>
          <a:p>
            <a:pPr marL="0" indent="0">
              <a:lnSpc>
                <a:spcPct val="120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b="1" dirty="0">
                <a:solidFill>
                  <a:srgbClr val="F2A65A"/>
                </a:solidFill>
                <a:latin typeface="Courier New" pitchFamily="34" charset="0"/>
                <a:ea typeface="Courier New" pitchFamily="34" charset="-122"/>
                <a:cs typeface="Courier New" pitchFamily="34" charset="-120"/>
              </a:rPr>
              <a:t>class</a:t>
            </a:r>
            <a:r>
              <a:rPr lang="en-US" sz="1200" dirty="0">
                <a:solidFill>
                  <a:srgbClr val="CADCFC"/>
                </a:solidFill>
                <a:latin typeface="Courier New" pitchFamily="34" charset="0"/>
                <a:ea typeface="Courier New" pitchFamily="34" charset="-122"/>
                <a:cs typeface="Courier New" pitchFamily="34" charset="-120"/>
              </a:rPr>
              <a:t> BMW </a:t>
            </a:r>
            <a:r>
              <a:rPr lang="en-US" sz="1200" b="1" dirty="0">
                <a:solidFill>
                  <a:srgbClr val="F2A65A"/>
                </a:solidFill>
                <a:latin typeface="Courier New" pitchFamily="34" charset="0"/>
                <a:ea typeface="Courier New" pitchFamily="34" charset="-122"/>
                <a:cs typeface="Courier New" pitchFamily="34" charset="-120"/>
              </a:rPr>
              <a:t>extends</a:t>
            </a:r>
            <a:r>
              <a:rPr lang="en-US" sz="1200" dirty="0">
                <a:solidFill>
                  <a:srgbClr val="CADCFC"/>
                </a:solidFill>
                <a:latin typeface="Courier New" pitchFamily="34" charset="0"/>
                <a:ea typeface="Courier New" pitchFamily="34" charset="-122"/>
                <a:cs typeface="Courier New" pitchFamily="34" charset="-120"/>
              </a:rPr>
              <a:t> Car {</a:t>
            </a:r>
            <a:endParaRPr lang="en-US" sz="1200" dirty="0"/>
          </a:p>
          <a:p>
            <a:pPr marL="0" indent="0">
              <a:lnSpc>
                <a:spcPct val="120000"/>
              </a:lnSpc>
              <a:buNone/>
            </a:pPr>
            <a:r>
              <a:rPr lang="en-US" sz="1200" dirty="0">
                <a:solidFill>
                  <a:srgbClr val="CADCFC"/>
                </a:solidFill>
                <a:latin typeface="Courier New" pitchFamily="34" charset="0"/>
                <a:ea typeface="Courier New" pitchFamily="34" charset="-122"/>
                <a:cs typeface="Courier New" pitchFamily="34" charset="-120"/>
              </a:rPr>
              <a:t>    </a:t>
            </a:r>
            <a:r>
              <a:rPr lang="en-US" sz="1200" b="1" dirty="0">
                <a:solidFill>
                  <a:srgbClr val="F2A65A"/>
                </a:solidFill>
                <a:latin typeface="Courier New" pitchFamily="34" charset="0"/>
                <a:ea typeface="Courier New" pitchFamily="34" charset="-122"/>
                <a:cs typeface="Courier New" pitchFamily="34" charset="-120"/>
              </a:rPr>
              <a:t>void</a:t>
            </a:r>
            <a:r>
              <a:rPr lang="en-US" sz="1200" dirty="0">
                <a:solidFill>
                  <a:srgbClr val="CADCFC"/>
                </a:solidFill>
                <a:latin typeface="Courier New" pitchFamily="34" charset="0"/>
                <a:ea typeface="Courier New" pitchFamily="34" charset="-122"/>
                <a:cs typeface="Courier New" pitchFamily="34" charset="-120"/>
              </a:rPr>
              <a:t> powerfulRoar() { System.out.println("Powerful roar"); }</a:t>
            </a:r>
            <a:endParaRPr lang="en-US" sz="1200" dirty="0"/>
          </a:p>
          <a:p>
            <a:pPr marL="0" indent="0">
              <a:lnSpc>
                <a:spcPct val="120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nSpc>
                <a:spcPct val="120000"/>
              </a:lnSpc>
              <a:buNone/>
            </a:pPr>
            <a:r>
              <a:rPr lang="en-US" sz="1200" b="1" dirty="0">
                <a:solidFill>
                  <a:srgbClr val="F2A65A"/>
                </a:solidFill>
                <a:latin typeface="Courier New" pitchFamily="34" charset="0"/>
                <a:ea typeface="Courier New" pitchFamily="34" charset="-122"/>
                <a:cs typeface="Courier New" pitchFamily="34" charset="-120"/>
              </a:rPr>
              <a:t>class</a:t>
            </a:r>
            <a:r>
              <a:rPr lang="en-US" sz="1200" dirty="0">
                <a:solidFill>
                  <a:srgbClr val="CADCFC"/>
                </a:solidFill>
                <a:latin typeface="Courier New" pitchFamily="34" charset="0"/>
                <a:ea typeface="Courier New" pitchFamily="34" charset="-122"/>
                <a:cs typeface="Courier New" pitchFamily="34" charset="-120"/>
              </a:rPr>
              <a:t> Mercedes </a:t>
            </a:r>
            <a:r>
              <a:rPr lang="en-US" sz="1200" b="1" dirty="0">
                <a:solidFill>
                  <a:srgbClr val="F2A65A"/>
                </a:solidFill>
                <a:latin typeface="Courier New" pitchFamily="34" charset="0"/>
                <a:ea typeface="Courier New" pitchFamily="34" charset="-122"/>
                <a:cs typeface="Courier New" pitchFamily="34" charset="-120"/>
              </a:rPr>
              <a:t>extends</a:t>
            </a:r>
            <a:r>
              <a:rPr lang="en-US" sz="1200" dirty="0">
                <a:solidFill>
                  <a:srgbClr val="CADCFC"/>
                </a:solidFill>
                <a:latin typeface="Courier New" pitchFamily="34" charset="0"/>
                <a:ea typeface="Courier New" pitchFamily="34" charset="-122"/>
                <a:cs typeface="Courier New" pitchFamily="34" charset="-120"/>
              </a:rPr>
              <a:t> Car {</a:t>
            </a:r>
            <a:endParaRPr lang="en-US" sz="1200" dirty="0"/>
          </a:p>
          <a:p>
            <a:pPr marL="0" indent="0">
              <a:lnSpc>
                <a:spcPct val="120000"/>
              </a:lnSpc>
              <a:buNone/>
            </a:pPr>
            <a:r>
              <a:rPr lang="en-US" sz="1200" dirty="0">
                <a:solidFill>
                  <a:srgbClr val="CADCFC"/>
                </a:solidFill>
                <a:latin typeface="Courier New" pitchFamily="34" charset="0"/>
                <a:ea typeface="Courier New" pitchFamily="34" charset="-122"/>
                <a:cs typeface="Courier New" pitchFamily="34" charset="-120"/>
              </a:rPr>
              <a:t>    </a:t>
            </a:r>
            <a:r>
              <a:rPr lang="en-US" sz="1200" b="1" dirty="0">
                <a:solidFill>
                  <a:srgbClr val="F2A65A"/>
                </a:solidFill>
                <a:latin typeface="Courier New" pitchFamily="34" charset="0"/>
                <a:ea typeface="Courier New" pitchFamily="34" charset="-122"/>
                <a:cs typeface="Courier New" pitchFamily="34" charset="-120"/>
              </a:rPr>
              <a:t>void</a:t>
            </a:r>
            <a:r>
              <a:rPr lang="en-US" sz="1200" dirty="0">
                <a:solidFill>
                  <a:srgbClr val="CADCFC"/>
                </a:solidFill>
                <a:latin typeface="Courier New" pitchFamily="34" charset="0"/>
                <a:ea typeface="Courier New" pitchFamily="34" charset="-122"/>
                <a:cs typeface="Courier New" pitchFamily="34" charset="-120"/>
              </a:rPr>
              <a:t> smoothPurr() { System.out.println("Smooth purr"); }</a:t>
            </a:r>
            <a:endParaRPr lang="en-US" sz="1200" dirty="0"/>
          </a:p>
          <a:p>
            <a:pPr marL="0" indent="0">
              <a:lnSpc>
                <a:spcPct val="120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452360" y="2103120"/>
            <a:ext cx="4160520" cy="365760"/>
          </a:xfrm>
          <a:prstGeom prst="roundRect">
            <a:avLst>
              <a:gd name="adj" fmla="val 50000"/>
            </a:avLst>
          </a:prstGeom>
          <a:solidFill>
            <a:srgbClr val="E4572E"/>
          </a:solidFill>
          <a:ln/>
        </p:spPr>
        <p:txBody>
          <a:bodyPr/>
          <a:lstStyle/>
          <a:p>
            <a:endParaRPr lang="en-US"/>
          </a:p>
        </p:txBody>
      </p:sp>
      <p:sp>
        <p:nvSpPr>
          <p:cNvPr id="8" name="Text 6"/>
          <p:cNvSpPr txBox="1"/>
          <p:nvPr/>
        </p:nvSpPr>
        <p:spPr>
          <a:xfrm>
            <a:off x="7498080" y="2103120"/>
            <a:ext cx="406908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TRYING TO USE THEM</a:t>
            </a:r>
            <a:endParaRPr lang="en-US" sz="1150" dirty="0"/>
          </a:p>
        </p:txBody>
      </p:sp>
      <p:sp>
        <p:nvSpPr>
          <p:cNvPr id="9" name="Shape 7"/>
          <p:cNvSpPr/>
          <p:nvPr/>
        </p:nvSpPr>
        <p:spPr>
          <a:xfrm>
            <a:off x="7452360" y="2606040"/>
            <a:ext cx="4160520" cy="3657600"/>
          </a:xfrm>
          <a:prstGeom prst="roundRect">
            <a:avLst>
              <a:gd name="adj" fmla="val 2000"/>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10" name="Text 8"/>
          <p:cNvSpPr txBox="1"/>
          <p:nvPr/>
        </p:nvSpPr>
        <p:spPr>
          <a:xfrm>
            <a:off x="7708392" y="2807208"/>
            <a:ext cx="3648456" cy="3255264"/>
          </a:xfrm>
          <a:prstGeom prst="rect">
            <a:avLst/>
          </a:prstGeom>
          <a:noFill/>
          <a:ln/>
        </p:spPr>
        <p:txBody>
          <a:bodyPr wrap="square" lIns="0" tIns="0" rIns="0" bIns="0" rtlCol="0" anchor="t"/>
          <a:lstStyle/>
          <a:p>
            <a:pPr marL="0" indent="0">
              <a:lnSpc>
                <a:spcPct val="115000"/>
              </a:lnSpc>
              <a:buNone/>
            </a:pPr>
            <a:r>
              <a:rPr lang="en-US" sz="1050" b="1" dirty="0">
                <a:solidFill>
                  <a:srgbClr val="F2A65A"/>
                </a:solidFill>
                <a:latin typeface="Courier New" pitchFamily="34" charset="0"/>
                <a:ea typeface="Courier New" pitchFamily="34" charset="-122"/>
                <a:cs typeface="Courier New" pitchFamily="34" charset="-120"/>
              </a:rPr>
              <a:t>void</a:t>
            </a:r>
            <a:r>
              <a:rPr lang="en-US" sz="1050" dirty="0">
                <a:solidFill>
                  <a:srgbClr val="CADCFC"/>
                </a:solidFill>
                <a:latin typeface="Courier New" pitchFamily="34" charset="0"/>
                <a:ea typeface="Courier New" pitchFamily="34" charset="-122"/>
                <a:cs typeface="Courier New" pitchFamily="34" charset="-120"/>
              </a:rPr>
              <a:t> startCar(Car c) {</a:t>
            </a:r>
            <a:endParaRPr lang="en-US" sz="1050" dirty="0"/>
          </a:p>
          <a:p>
            <a:pPr marL="0" indent="0">
              <a:lnSpc>
                <a:spcPct val="115000"/>
              </a:lnSpc>
              <a:buNone/>
            </a:pPr>
            <a:r>
              <a:rPr lang="en-US" sz="1050" dirty="0">
                <a:solidFill>
                  <a:srgbClr val="CADCFC"/>
                </a:solidFill>
                <a:latin typeface="Courier New" pitchFamily="34" charset="0"/>
                <a:ea typeface="Courier New" pitchFamily="34" charset="-122"/>
                <a:cs typeface="Courier New" pitchFamily="34" charset="-120"/>
              </a:rPr>
              <a:t>    if (c instanceof Corolla) {</a:t>
            </a:r>
            <a:endParaRPr lang="en-US" sz="1050" dirty="0"/>
          </a:p>
          <a:p>
            <a:pPr marL="0" indent="0">
              <a:lnSpc>
                <a:spcPct val="115000"/>
              </a:lnSpc>
              <a:buNone/>
            </a:pPr>
            <a:r>
              <a:rPr lang="en-US" sz="1050" dirty="0">
                <a:solidFill>
                  <a:srgbClr val="CADCFC"/>
                </a:solidFill>
                <a:latin typeface="Courier New" pitchFamily="34" charset="0"/>
                <a:ea typeface="Courier New" pitchFamily="34" charset="-122"/>
                <a:cs typeface="Courier New" pitchFamily="34" charset="-120"/>
              </a:rPr>
              <a:t>        ((Corolla) c).quietHum();</a:t>
            </a:r>
            <a:endParaRPr lang="en-US" sz="1050" dirty="0"/>
          </a:p>
          <a:p>
            <a:pPr marL="0" indent="0">
              <a:lnSpc>
                <a:spcPct val="115000"/>
              </a:lnSpc>
              <a:buNone/>
            </a:pPr>
            <a:r>
              <a:rPr lang="en-US" sz="1050" dirty="0">
                <a:solidFill>
                  <a:srgbClr val="CADCFC"/>
                </a:solidFill>
                <a:latin typeface="Courier New" pitchFamily="34" charset="0"/>
                <a:ea typeface="Courier New" pitchFamily="34" charset="-122"/>
                <a:cs typeface="Courier New" pitchFamily="34" charset="-120"/>
              </a:rPr>
              <a:t>    } else if (c instanceof BMW) {</a:t>
            </a:r>
            <a:endParaRPr lang="en-US" sz="1050" dirty="0"/>
          </a:p>
          <a:p>
            <a:pPr marL="0" indent="0">
              <a:lnSpc>
                <a:spcPct val="115000"/>
              </a:lnSpc>
              <a:buNone/>
            </a:pPr>
            <a:r>
              <a:rPr lang="en-US" sz="1050" dirty="0">
                <a:solidFill>
                  <a:srgbClr val="CADCFC"/>
                </a:solidFill>
                <a:latin typeface="Courier New" pitchFamily="34" charset="0"/>
                <a:ea typeface="Courier New" pitchFamily="34" charset="-122"/>
                <a:cs typeface="Courier New" pitchFamily="34" charset="-120"/>
              </a:rPr>
              <a:t>        ((BMW) c).powerfulRoar();</a:t>
            </a:r>
            <a:endParaRPr lang="en-US" sz="1050" dirty="0"/>
          </a:p>
          <a:p>
            <a:pPr marL="0" indent="0">
              <a:lnSpc>
                <a:spcPct val="115000"/>
              </a:lnSpc>
              <a:buNone/>
            </a:pPr>
            <a:r>
              <a:rPr lang="en-US" sz="1050" dirty="0">
                <a:solidFill>
                  <a:srgbClr val="CADCFC"/>
                </a:solidFill>
                <a:latin typeface="Courier New" pitchFamily="34" charset="0"/>
                <a:ea typeface="Courier New" pitchFamily="34" charset="-122"/>
                <a:cs typeface="Courier New" pitchFamily="34" charset="-120"/>
              </a:rPr>
              <a:t>    } else if (c instanceof Mercedes) {</a:t>
            </a:r>
            <a:endParaRPr lang="en-US" sz="1050" dirty="0"/>
          </a:p>
          <a:p>
            <a:pPr marL="0" indent="0">
              <a:lnSpc>
                <a:spcPct val="115000"/>
              </a:lnSpc>
              <a:buNone/>
            </a:pPr>
            <a:r>
              <a:rPr lang="en-US" sz="1050" dirty="0">
                <a:solidFill>
                  <a:srgbClr val="CADCFC"/>
                </a:solidFill>
                <a:latin typeface="Courier New" pitchFamily="34" charset="0"/>
                <a:ea typeface="Courier New" pitchFamily="34" charset="-122"/>
                <a:cs typeface="Courier New" pitchFamily="34" charset="-120"/>
              </a:rPr>
              <a:t>        ((Mercedes) c).smoothPurr();</a:t>
            </a:r>
            <a:endParaRPr lang="en-US" sz="1050" dirty="0"/>
          </a:p>
          <a:p>
            <a:pPr marL="0" indent="0">
              <a:lnSpc>
                <a:spcPct val="115000"/>
              </a:lnSpc>
              <a:buNone/>
            </a:pPr>
            <a:r>
              <a:rPr lang="en-US" sz="1050" dirty="0">
                <a:solidFill>
                  <a:srgbClr val="CADCFC"/>
                </a:solidFill>
                <a:latin typeface="Courier New" pitchFamily="34" charset="0"/>
                <a:ea typeface="Courier New" pitchFamily="34" charset="-122"/>
                <a:cs typeface="Courier New" pitchFamily="34" charset="-120"/>
              </a:rPr>
              <a:t>    }</a:t>
            </a:r>
            <a:endParaRPr lang="en-US" sz="1050" dirty="0"/>
          </a:p>
          <a:p>
            <a:pPr marL="0" indent="0">
              <a:lnSpc>
                <a:spcPct val="115000"/>
              </a:lnSpc>
              <a:buNone/>
            </a:pPr>
            <a:r>
              <a:rPr lang="en-US" sz="1050" dirty="0">
                <a:solidFill>
                  <a:srgbClr val="6FCF97"/>
                </a:solidFill>
                <a:latin typeface="Courier New" pitchFamily="34" charset="0"/>
                <a:ea typeface="Courier New" pitchFamily="34" charset="-122"/>
                <a:cs typeface="Courier New" pitchFamily="34" charset="-120"/>
              </a:rPr>
              <a:t>    // every new brand needs a branch --</a:t>
            </a:r>
            <a:endParaRPr lang="en-US" sz="1050" dirty="0"/>
          </a:p>
          <a:p>
            <a:pPr marL="0" indent="0">
              <a:lnSpc>
                <a:spcPct val="115000"/>
              </a:lnSpc>
              <a:buNone/>
            </a:pPr>
            <a:r>
              <a:rPr lang="en-US" sz="1050" dirty="0">
                <a:solidFill>
                  <a:srgbClr val="6FCF97"/>
                </a:solidFill>
                <a:latin typeface="Courier New" pitchFamily="34" charset="0"/>
                <a:ea typeface="Courier New" pitchFamily="34" charset="-122"/>
                <a:cs typeface="Courier New" pitchFamily="34" charset="-120"/>
              </a:rPr>
              <a:t>    // nothing in common to call directly</a:t>
            </a:r>
            <a:endParaRPr lang="en-US" sz="1050" dirty="0"/>
          </a:p>
          <a:p>
            <a:pPr marL="0" indent="0">
              <a:lnSpc>
                <a:spcPct val="115000"/>
              </a:lnSpc>
              <a:buNone/>
            </a:pPr>
            <a:r>
              <a:rPr lang="en-US" sz="1050" dirty="0">
                <a:solidFill>
                  <a:srgbClr val="CADCFC"/>
                </a:solidFill>
                <a:latin typeface="Courier New" pitchFamily="34" charset="0"/>
                <a:ea typeface="Courier New" pitchFamily="34" charset="-122"/>
                <a:cs typeface="Courier New" pitchFamily="34" charset="-120"/>
              </a:rPr>
              <a:t>}</a:t>
            </a:r>
            <a:endParaRPr lang="en-US" sz="1050" dirty="0"/>
          </a:p>
        </p:txBody>
      </p:sp>
      <p:sp>
        <p:nvSpPr>
          <p:cNvPr id="11" name="Text 9"/>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3 — THE FIX</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With Polymorphism: One Call, Correct Behavior</a:t>
            </a:r>
            <a:endParaRPr lang="en-US" sz="3200" dirty="0"/>
          </a:p>
        </p:txBody>
      </p:sp>
      <p:sp>
        <p:nvSpPr>
          <p:cNvPr id="4" name="Text 2"/>
          <p:cNvSpPr txBox="1"/>
          <p:nvPr/>
        </p:nvSpPr>
        <p:spPr>
          <a:xfrm>
            <a:off x="548640" y="1600200"/>
            <a:ext cx="10881360" cy="36576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dirty="0">
                <a:solidFill>
                  <a:srgbClr val="2A2E45"/>
                </a:solidFill>
                <a:latin typeface="Calibri" pitchFamily="34" charset="0"/>
                <a:ea typeface="Calibri" pitchFamily="34" charset="-122"/>
                <a:cs typeface="Calibri" pitchFamily="34" charset="-120"/>
              </a:rPr>
              <a:t>Now every brand overrides the SAME method, engineSound() -- one call runs the correct version automatically, no instanceof, no casting.</a:t>
            </a:r>
            <a:endParaRPr lang="en-US" sz="1350" dirty="0"/>
          </a:p>
        </p:txBody>
      </p:sp>
      <p:sp>
        <p:nvSpPr>
          <p:cNvPr id="5" name="Shape 3"/>
          <p:cNvSpPr/>
          <p:nvPr/>
        </p:nvSpPr>
        <p:spPr>
          <a:xfrm>
            <a:off x="548640" y="2057400"/>
            <a:ext cx="6720840" cy="4297680"/>
          </a:xfrm>
          <a:prstGeom prst="roundRect">
            <a:avLst>
              <a:gd name="adj" fmla="val 1702"/>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804672" y="2258568"/>
            <a:ext cx="6208776" cy="3895344"/>
          </a:xfrm>
          <a:prstGeom prst="rect">
            <a:avLst/>
          </a:prstGeom>
          <a:noFill/>
          <a:ln/>
        </p:spPr>
        <p:txBody>
          <a:bodyPr wrap="square" lIns="0" tIns="0" rIns="0" bIns="0" rtlCol="0" anchor="t"/>
          <a:lstStyle/>
          <a:p>
            <a:pPr marL="0" indent="0">
              <a:lnSpc>
                <a:spcPct val="115000"/>
              </a:lnSpc>
              <a:buNone/>
            </a:pPr>
            <a:r>
              <a:rPr lang="en-US" sz="1200" b="1" dirty="0">
                <a:solidFill>
                  <a:srgbClr val="F2A65A"/>
                </a:solidFill>
                <a:latin typeface="Courier New" pitchFamily="34" charset="0"/>
                <a:ea typeface="Courier New" pitchFamily="34" charset="-122"/>
                <a:cs typeface="Courier New" pitchFamily="34" charset="-120"/>
              </a:rPr>
              <a:t>class</a:t>
            </a:r>
            <a:r>
              <a:rPr lang="en-US" sz="1200" dirty="0">
                <a:solidFill>
                  <a:srgbClr val="CADCFC"/>
                </a:solidFill>
                <a:latin typeface="Courier New" pitchFamily="34" charset="0"/>
                <a:ea typeface="Courier New" pitchFamily="34" charset="-122"/>
                <a:cs typeface="Courier New" pitchFamily="34" charset="-120"/>
              </a:rPr>
              <a:t> Car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    </a:t>
            </a:r>
            <a:r>
              <a:rPr lang="en-US" sz="1200" b="1" dirty="0">
                <a:solidFill>
                  <a:srgbClr val="F2A65A"/>
                </a:solidFill>
                <a:latin typeface="Courier New" pitchFamily="34" charset="0"/>
                <a:ea typeface="Courier New" pitchFamily="34" charset="-122"/>
                <a:cs typeface="Courier New" pitchFamily="34" charset="-120"/>
              </a:rPr>
              <a:t>void</a:t>
            </a:r>
            <a:r>
              <a:rPr lang="en-US" sz="1200" dirty="0">
                <a:solidFill>
                  <a:srgbClr val="CADCFC"/>
                </a:solidFill>
                <a:latin typeface="Courier New" pitchFamily="34" charset="0"/>
                <a:ea typeface="Courier New" pitchFamily="34" charset="-122"/>
                <a:cs typeface="Courier New" pitchFamily="34" charset="-120"/>
              </a:rPr>
              <a:t> engineSound()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        System.out.println("Generic engine sound");</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nSpc>
                <a:spcPct val="115000"/>
              </a:lnSpc>
              <a:buNone/>
            </a:pPr>
            <a:r>
              <a:rPr lang="en-US" sz="1200" b="1" dirty="0">
                <a:solidFill>
                  <a:srgbClr val="F2A65A"/>
                </a:solidFill>
                <a:latin typeface="Courier New" pitchFamily="34" charset="0"/>
                <a:ea typeface="Courier New" pitchFamily="34" charset="-122"/>
                <a:cs typeface="Courier New" pitchFamily="34" charset="-120"/>
              </a:rPr>
              <a:t>class</a:t>
            </a:r>
            <a:r>
              <a:rPr lang="en-US" sz="1200" dirty="0">
                <a:solidFill>
                  <a:srgbClr val="CADCFC"/>
                </a:solidFill>
                <a:latin typeface="Courier New" pitchFamily="34" charset="0"/>
                <a:ea typeface="Courier New" pitchFamily="34" charset="-122"/>
                <a:cs typeface="Courier New" pitchFamily="34" charset="-120"/>
              </a:rPr>
              <a:t> Corolla </a:t>
            </a:r>
            <a:r>
              <a:rPr lang="en-US" sz="1200" b="1" dirty="0">
                <a:solidFill>
                  <a:srgbClr val="F2A65A"/>
                </a:solidFill>
                <a:latin typeface="Courier New" pitchFamily="34" charset="0"/>
                <a:ea typeface="Courier New" pitchFamily="34" charset="-122"/>
                <a:cs typeface="Courier New" pitchFamily="34" charset="-120"/>
              </a:rPr>
              <a:t>extends</a:t>
            </a:r>
            <a:r>
              <a:rPr lang="en-US" sz="1200" dirty="0">
                <a:solidFill>
                  <a:srgbClr val="CADCFC"/>
                </a:solidFill>
                <a:latin typeface="Courier New" pitchFamily="34" charset="0"/>
                <a:ea typeface="Courier New" pitchFamily="34" charset="-122"/>
                <a:cs typeface="Courier New" pitchFamily="34" charset="-120"/>
              </a:rPr>
              <a:t> Car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    </a:t>
            </a:r>
            <a:r>
              <a:rPr lang="en-US" sz="1200" b="1" dirty="0">
                <a:solidFill>
                  <a:srgbClr val="F2A65A"/>
                </a:solidFill>
                <a:latin typeface="Courier New" pitchFamily="34" charset="0"/>
                <a:ea typeface="Courier New" pitchFamily="34" charset="-122"/>
                <a:cs typeface="Courier New" pitchFamily="34" charset="-120"/>
              </a:rPr>
              <a:t>void</a:t>
            </a:r>
            <a:r>
              <a:rPr lang="en-US" sz="1200" dirty="0">
                <a:solidFill>
                  <a:srgbClr val="CADCFC"/>
                </a:solidFill>
                <a:latin typeface="Courier New" pitchFamily="34" charset="0"/>
                <a:ea typeface="Courier New" pitchFamily="34" charset="-122"/>
                <a:cs typeface="Courier New" pitchFamily="34" charset="-120"/>
              </a:rPr>
              <a:t> engineSound() { System.out.println("Quiet hum");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nSpc>
                <a:spcPct val="115000"/>
              </a:lnSpc>
              <a:buNone/>
            </a:pPr>
            <a:r>
              <a:rPr lang="en-US" sz="1200" b="1" dirty="0">
                <a:solidFill>
                  <a:srgbClr val="F2A65A"/>
                </a:solidFill>
                <a:latin typeface="Courier New" pitchFamily="34" charset="0"/>
                <a:ea typeface="Courier New" pitchFamily="34" charset="-122"/>
                <a:cs typeface="Courier New" pitchFamily="34" charset="-120"/>
              </a:rPr>
              <a:t>class</a:t>
            </a:r>
            <a:r>
              <a:rPr lang="en-US" sz="1200" dirty="0">
                <a:solidFill>
                  <a:srgbClr val="CADCFC"/>
                </a:solidFill>
                <a:latin typeface="Courier New" pitchFamily="34" charset="0"/>
                <a:ea typeface="Courier New" pitchFamily="34" charset="-122"/>
                <a:cs typeface="Courier New" pitchFamily="34" charset="-120"/>
              </a:rPr>
              <a:t> BMW </a:t>
            </a:r>
            <a:r>
              <a:rPr lang="en-US" sz="1200" b="1" dirty="0">
                <a:solidFill>
                  <a:srgbClr val="F2A65A"/>
                </a:solidFill>
                <a:latin typeface="Courier New" pitchFamily="34" charset="0"/>
                <a:ea typeface="Courier New" pitchFamily="34" charset="-122"/>
                <a:cs typeface="Courier New" pitchFamily="34" charset="-120"/>
              </a:rPr>
              <a:t>extends</a:t>
            </a:r>
            <a:r>
              <a:rPr lang="en-US" sz="1200" dirty="0">
                <a:solidFill>
                  <a:srgbClr val="CADCFC"/>
                </a:solidFill>
                <a:latin typeface="Courier New" pitchFamily="34" charset="0"/>
                <a:ea typeface="Courier New" pitchFamily="34" charset="-122"/>
                <a:cs typeface="Courier New" pitchFamily="34" charset="-120"/>
              </a:rPr>
              <a:t> Car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    </a:t>
            </a:r>
            <a:r>
              <a:rPr lang="en-US" sz="1200" b="1" dirty="0">
                <a:solidFill>
                  <a:srgbClr val="F2A65A"/>
                </a:solidFill>
                <a:latin typeface="Courier New" pitchFamily="34" charset="0"/>
                <a:ea typeface="Courier New" pitchFamily="34" charset="-122"/>
                <a:cs typeface="Courier New" pitchFamily="34" charset="-120"/>
              </a:rPr>
              <a:t>void</a:t>
            </a:r>
            <a:r>
              <a:rPr lang="en-US" sz="1200" dirty="0">
                <a:solidFill>
                  <a:srgbClr val="CADCFC"/>
                </a:solidFill>
                <a:latin typeface="Courier New" pitchFamily="34" charset="0"/>
                <a:ea typeface="Courier New" pitchFamily="34" charset="-122"/>
                <a:cs typeface="Courier New" pitchFamily="34" charset="-120"/>
              </a:rPr>
              <a:t> engineSound() { System.out.println("Powerful roar");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nSpc>
                <a:spcPct val="115000"/>
              </a:lnSpc>
              <a:buNone/>
            </a:pPr>
            <a:r>
              <a:rPr lang="en-US" sz="1200" b="1" dirty="0">
                <a:solidFill>
                  <a:srgbClr val="F2A65A"/>
                </a:solidFill>
                <a:latin typeface="Courier New" pitchFamily="34" charset="0"/>
                <a:ea typeface="Courier New" pitchFamily="34" charset="-122"/>
                <a:cs typeface="Courier New" pitchFamily="34" charset="-120"/>
              </a:rPr>
              <a:t>class</a:t>
            </a:r>
            <a:r>
              <a:rPr lang="en-US" sz="1200" dirty="0">
                <a:solidFill>
                  <a:srgbClr val="CADCFC"/>
                </a:solidFill>
                <a:latin typeface="Courier New" pitchFamily="34" charset="0"/>
                <a:ea typeface="Courier New" pitchFamily="34" charset="-122"/>
                <a:cs typeface="Courier New" pitchFamily="34" charset="-120"/>
              </a:rPr>
              <a:t> Mercedes </a:t>
            </a:r>
            <a:r>
              <a:rPr lang="en-US" sz="1200" b="1" dirty="0">
                <a:solidFill>
                  <a:srgbClr val="F2A65A"/>
                </a:solidFill>
                <a:latin typeface="Courier New" pitchFamily="34" charset="0"/>
                <a:ea typeface="Courier New" pitchFamily="34" charset="-122"/>
                <a:cs typeface="Courier New" pitchFamily="34" charset="-120"/>
              </a:rPr>
              <a:t>extends</a:t>
            </a:r>
            <a:r>
              <a:rPr lang="en-US" sz="1200" dirty="0">
                <a:solidFill>
                  <a:srgbClr val="CADCFC"/>
                </a:solidFill>
                <a:latin typeface="Courier New" pitchFamily="34" charset="0"/>
                <a:ea typeface="Courier New" pitchFamily="34" charset="-122"/>
                <a:cs typeface="Courier New" pitchFamily="34" charset="-120"/>
              </a:rPr>
              <a:t> Car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    </a:t>
            </a:r>
            <a:r>
              <a:rPr lang="en-US" sz="1200" b="1" dirty="0">
                <a:solidFill>
                  <a:srgbClr val="F2A65A"/>
                </a:solidFill>
                <a:latin typeface="Courier New" pitchFamily="34" charset="0"/>
                <a:ea typeface="Courier New" pitchFamily="34" charset="-122"/>
                <a:cs typeface="Courier New" pitchFamily="34" charset="-120"/>
              </a:rPr>
              <a:t>void</a:t>
            </a:r>
            <a:r>
              <a:rPr lang="en-US" sz="1200" dirty="0">
                <a:solidFill>
                  <a:srgbClr val="CADCFC"/>
                </a:solidFill>
                <a:latin typeface="Courier New" pitchFamily="34" charset="0"/>
                <a:ea typeface="Courier New" pitchFamily="34" charset="-122"/>
                <a:cs typeface="Courier New" pitchFamily="34" charset="-120"/>
              </a:rPr>
              <a:t> engineSound() { System.out.println("Smooth purr");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 </a:t>
            </a:r>
            <a:endParaRPr lang="en-US" sz="1200" dirty="0"/>
          </a:p>
          <a:p>
            <a:pPr marL="0" indent="0">
              <a:lnSpc>
                <a:spcPct val="115000"/>
              </a:lnSpc>
              <a:buNone/>
            </a:pPr>
            <a:r>
              <a:rPr lang="en-US" sz="1200" b="1" dirty="0">
                <a:solidFill>
                  <a:srgbClr val="F2A65A"/>
                </a:solidFill>
                <a:latin typeface="Courier New" pitchFamily="34" charset="0"/>
                <a:ea typeface="Courier New" pitchFamily="34" charset="-122"/>
                <a:cs typeface="Courier New" pitchFamily="34" charset="-120"/>
              </a:rPr>
              <a:t>void</a:t>
            </a:r>
            <a:r>
              <a:rPr lang="en-US" sz="1200" dirty="0">
                <a:solidFill>
                  <a:srgbClr val="CADCFC"/>
                </a:solidFill>
                <a:latin typeface="Courier New" pitchFamily="34" charset="0"/>
                <a:ea typeface="Courier New" pitchFamily="34" charset="-122"/>
                <a:cs typeface="Courier New" pitchFamily="34" charset="-120"/>
              </a:rPr>
              <a:t> startCar(Car c) {</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    c.engineSound();</a:t>
            </a:r>
            <a:endParaRPr lang="en-US" sz="1200" dirty="0"/>
          </a:p>
          <a:p>
            <a:pPr marL="0" indent="0">
              <a:lnSpc>
                <a:spcPct val="115000"/>
              </a:lnSpc>
              <a:buNone/>
            </a:pPr>
            <a:r>
              <a:rPr lang="en-US" sz="1200" dirty="0">
                <a:solidFill>
                  <a:srgbClr val="6FCF97"/>
                </a:solidFill>
                <a:latin typeface="Courier New" pitchFamily="34" charset="0"/>
                <a:ea typeface="Courier New" pitchFamily="34" charset="-122"/>
                <a:cs typeface="Courier New" pitchFamily="34" charset="-120"/>
              </a:rPr>
              <a:t>    // the correct sound plays automatically</a:t>
            </a:r>
            <a:endParaRPr lang="en-US" sz="1200" dirty="0"/>
          </a:p>
          <a:p>
            <a:pPr marL="0" indent="0">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452360" y="2057400"/>
            <a:ext cx="4160520" cy="365760"/>
          </a:xfrm>
          <a:prstGeom prst="roundRect">
            <a:avLst>
              <a:gd name="adj" fmla="val 50000"/>
            </a:avLst>
          </a:prstGeom>
          <a:solidFill>
            <a:srgbClr val="2E7D5B"/>
          </a:solidFill>
          <a:ln/>
        </p:spPr>
        <p:txBody>
          <a:bodyPr/>
          <a:lstStyle/>
          <a:p>
            <a:endParaRPr lang="en-US"/>
          </a:p>
        </p:txBody>
      </p:sp>
      <p:sp>
        <p:nvSpPr>
          <p:cNvPr id="8" name="Text 6"/>
          <p:cNvSpPr txBox="1"/>
          <p:nvPr/>
        </p:nvSpPr>
        <p:spPr>
          <a:xfrm>
            <a:off x="7498080" y="2057400"/>
            <a:ext cx="406908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USING THEM</a:t>
            </a:r>
            <a:endParaRPr lang="en-US" sz="1150" dirty="0"/>
          </a:p>
        </p:txBody>
      </p:sp>
      <p:sp>
        <p:nvSpPr>
          <p:cNvPr id="9" name="Shape 7"/>
          <p:cNvSpPr/>
          <p:nvPr/>
        </p:nvSpPr>
        <p:spPr>
          <a:xfrm>
            <a:off x="7452360" y="2560320"/>
            <a:ext cx="4160520" cy="2377440"/>
          </a:xfrm>
          <a:prstGeom prst="roundRect">
            <a:avLst>
              <a:gd name="adj" fmla="val 3077"/>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10" name="Text 8"/>
          <p:cNvSpPr txBox="1"/>
          <p:nvPr/>
        </p:nvSpPr>
        <p:spPr>
          <a:xfrm>
            <a:off x="7708392" y="2761488"/>
            <a:ext cx="3648456" cy="1975104"/>
          </a:xfrm>
          <a:prstGeom prst="rect">
            <a:avLst/>
          </a:prstGeom>
          <a:noFill/>
          <a:ln/>
        </p:spPr>
        <p:txBody>
          <a:bodyPr wrap="square" lIns="0" tIns="0" rIns="0" bIns="0" rtlCol="0" anchor="t"/>
          <a:lstStyle/>
          <a:p>
            <a:pPr marL="0" indent="0">
              <a:lnSpc>
                <a:spcPct val="130000"/>
              </a:lnSpc>
              <a:buNone/>
            </a:pPr>
            <a:r>
              <a:rPr lang="en-US" sz="1300" dirty="0">
                <a:solidFill>
                  <a:srgbClr val="CADCFC"/>
                </a:solidFill>
                <a:latin typeface="Courier New" pitchFamily="34" charset="0"/>
                <a:ea typeface="Courier New" pitchFamily="34" charset="-122"/>
                <a:cs typeface="Courier New" pitchFamily="34" charset="-120"/>
              </a:rPr>
              <a:t>Car corolla = </a:t>
            </a:r>
            <a:r>
              <a:rPr lang="en-US" sz="1300" b="1" dirty="0">
                <a:solidFill>
                  <a:srgbClr val="F2A65A"/>
                </a:solidFill>
                <a:latin typeface="Courier New" pitchFamily="34" charset="0"/>
                <a:ea typeface="Courier New" pitchFamily="34" charset="-122"/>
                <a:cs typeface="Courier New" pitchFamily="34" charset="-120"/>
              </a:rPr>
              <a:t>new</a:t>
            </a:r>
            <a:r>
              <a:rPr lang="en-US" sz="1300" dirty="0">
                <a:solidFill>
                  <a:srgbClr val="CADCFC"/>
                </a:solidFill>
                <a:latin typeface="Courier New" pitchFamily="34" charset="0"/>
                <a:ea typeface="Courier New" pitchFamily="34" charset="-122"/>
                <a:cs typeface="Courier New" pitchFamily="34" charset="-120"/>
              </a:rPr>
              <a:t> Corolla();</a:t>
            </a:r>
            <a:endParaRPr lang="en-US" sz="1300" dirty="0"/>
          </a:p>
          <a:p>
            <a:pPr marL="0" indent="0">
              <a:lnSpc>
                <a:spcPct val="130000"/>
              </a:lnSpc>
              <a:buNone/>
            </a:pPr>
            <a:r>
              <a:rPr lang="en-US" sz="1300" dirty="0">
                <a:solidFill>
                  <a:srgbClr val="CADCFC"/>
                </a:solidFill>
                <a:latin typeface="Courier New" pitchFamily="34" charset="0"/>
                <a:ea typeface="Courier New" pitchFamily="34" charset="-122"/>
                <a:cs typeface="Courier New" pitchFamily="34" charset="-120"/>
              </a:rPr>
              <a:t>Car bmw = </a:t>
            </a:r>
            <a:r>
              <a:rPr lang="en-US" sz="1300" b="1" dirty="0">
                <a:solidFill>
                  <a:srgbClr val="F2A65A"/>
                </a:solidFill>
                <a:latin typeface="Courier New" pitchFamily="34" charset="0"/>
                <a:ea typeface="Courier New" pitchFamily="34" charset="-122"/>
                <a:cs typeface="Courier New" pitchFamily="34" charset="-120"/>
              </a:rPr>
              <a:t>new</a:t>
            </a:r>
            <a:r>
              <a:rPr lang="en-US" sz="1300" dirty="0">
                <a:solidFill>
                  <a:srgbClr val="CADCFC"/>
                </a:solidFill>
                <a:latin typeface="Courier New" pitchFamily="34" charset="0"/>
                <a:ea typeface="Courier New" pitchFamily="34" charset="-122"/>
                <a:cs typeface="Courier New" pitchFamily="34" charset="-120"/>
              </a:rPr>
              <a:t> BMW();</a:t>
            </a:r>
            <a:endParaRPr lang="en-US" sz="1300" dirty="0"/>
          </a:p>
          <a:p>
            <a:pPr marL="0" indent="0">
              <a:lnSpc>
                <a:spcPct val="130000"/>
              </a:lnSpc>
              <a:buNone/>
            </a:pPr>
            <a:r>
              <a:rPr lang="en-US" sz="1300" dirty="0">
                <a:solidFill>
                  <a:srgbClr val="CADCFC"/>
                </a:solidFill>
                <a:latin typeface="Courier New" pitchFamily="34" charset="0"/>
                <a:ea typeface="Courier New" pitchFamily="34" charset="-122"/>
                <a:cs typeface="Courier New" pitchFamily="34" charset="-120"/>
              </a:rPr>
              <a:t>Car mercedes = </a:t>
            </a:r>
            <a:r>
              <a:rPr lang="en-US" sz="1300" b="1" dirty="0">
                <a:solidFill>
                  <a:srgbClr val="F2A65A"/>
                </a:solidFill>
                <a:latin typeface="Courier New" pitchFamily="34" charset="0"/>
                <a:ea typeface="Courier New" pitchFamily="34" charset="-122"/>
                <a:cs typeface="Courier New" pitchFamily="34" charset="-120"/>
              </a:rPr>
              <a:t>new</a:t>
            </a:r>
            <a:r>
              <a:rPr lang="en-US" sz="1300" dirty="0">
                <a:solidFill>
                  <a:srgbClr val="CADCFC"/>
                </a:solidFill>
                <a:latin typeface="Courier New" pitchFamily="34" charset="0"/>
                <a:ea typeface="Courier New" pitchFamily="34" charset="-122"/>
                <a:cs typeface="Courier New" pitchFamily="34" charset="-120"/>
              </a:rPr>
              <a:t> Mercedes();</a:t>
            </a:r>
            <a:endParaRPr lang="en-US" sz="1300" dirty="0"/>
          </a:p>
          <a:p>
            <a:pPr marL="0" indent="0">
              <a:lnSpc>
                <a:spcPct val="130000"/>
              </a:lnSpc>
              <a:buNone/>
            </a:pPr>
            <a:r>
              <a:rPr lang="en-US" sz="1300" dirty="0">
                <a:solidFill>
                  <a:srgbClr val="CADCFC"/>
                </a:solidFill>
                <a:latin typeface="Courier New" pitchFamily="34" charset="0"/>
                <a:ea typeface="Courier New" pitchFamily="34" charset="-122"/>
                <a:cs typeface="Courier New" pitchFamily="34" charset="-120"/>
              </a:rPr>
              <a:t> </a:t>
            </a:r>
            <a:endParaRPr lang="en-US" sz="1300" dirty="0"/>
          </a:p>
          <a:p>
            <a:pPr marL="0" indent="0">
              <a:lnSpc>
                <a:spcPct val="130000"/>
              </a:lnSpc>
              <a:buNone/>
            </a:pPr>
            <a:r>
              <a:rPr lang="en-US" sz="1300" dirty="0">
                <a:solidFill>
                  <a:srgbClr val="CADCFC"/>
                </a:solidFill>
                <a:latin typeface="Courier New" pitchFamily="34" charset="0"/>
                <a:ea typeface="Courier New" pitchFamily="34" charset="-122"/>
                <a:cs typeface="Courier New" pitchFamily="34" charset="-120"/>
              </a:rPr>
              <a:t>startCar(corolla);</a:t>
            </a:r>
            <a:endParaRPr lang="en-US" sz="1300" dirty="0"/>
          </a:p>
          <a:p>
            <a:pPr marL="0" indent="0">
              <a:lnSpc>
                <a:spcPct val="130000"/>
              </a:lnSpc>
              <a:buNone/>
            </a:pPr>
            <a:r>
              <a:rPr lang="en-US" sz="1300" dirty="0">
                <a:solidFill>
                  <a:srgbClr val="CADCFC"/>
                </a:solidFill>
                <a:latin typeface="Courier New" pitchFamily="34" charset="0"/>
                <a:ea typeface="Courier New" pitchFamily="34" charset="-122"/>
                <a:cs typeface="Courier New" pitchFamily="34" charset="-120"/>
              </a:rPr>
              <a:t>startCar(bmw);</a:t>
            </a:r>
            <a:endParaRPr lang="en-US" sz="1300" dirty="0"/>
          </a:p>
          <a:p>
            <a:pPr marL="0" indent="0">
              <a:lnSpc>
                <a:spcPct val="130000"/>
              </a:lnSpc>
              <a:buNone/>
            </a:pPr>
            <a:r>
              <a:rPr lang="en-US" sz="1300" dirty="0">
                <a:solidFill>
                  <a:srgbClr val="CADCFC"/>
                </a:solidFill>
                <a:latin typeface="Courier New" pitchFamily="34" charset="0"/>
                <a:ea typeface="Courier New" pitchFamily="34" charset="-122"/>
                <a:cs typeface="Courier New" pitchFamily="34" charset="-120"/>
              </a:rPr>
              <a:t>startCar(mercedes);</a:t>
            </a:r>
            <a:endParaRPr lang="en-US" sz="1300" dirty="0"/>
          </a:p>
        </p:txBody>
      </p:sp>
      <p:sp>
        <p:nvSpPr>
          <p:cNvPr id="11" name="Text 9"/>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02920" cy="502920"/>
          </a:xfrm>
          <a:prstGeom prst="ellipse">
            <a:avLst/>
          </a:prstGeom>
          <a:solidFill>
            <a:srgbClr val="1E2761"/>
          </a:solidFill>
          <a:ln/>
        </p:spPr>
        <p:txBody>
          <a:bodyPr/>
          <a:lstStyle/>
          <a:p>
            <a:endParaRPr lang="en-US"/>
          </a:p>
        </p:txBody>
      </p:sp>
      <p:sp>
        <p:nvSpPr>
          <p:cNvPr id="3" name="Text 1"/>
          <p:cNvSpPr txBox="1"/>
          <p:nvPr/>
        </p:nvSpPr>
        <p:spPr>
          <a:xfrm>
            <a:off x="548640" y="50292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mbria" pitchFamily="34" charset="0"/>
                <a:ea typeface="Cambria" pitchFamily="34" charset="-122"/>
                <a:cs typeface="Cambria" pitchFamily="34" charset="-120"/>
              </a:rPr>
              <a:t>A</a:t>
            </a:r>
            <a:endParaRPr lang="en-US" sz="1430" dirty="0"/>
          </a:p>
        </p:txBody>
      </p:sp>
      <p:sp>
        <p:nvSpPr>
          <p:cNvPr id="4" name="Text 2"/>
          <p:cNvSpPr txBox="1"/>
          <p:nvPr/>
        </p:nvSpPr>
        <p:spPr>
          <a:xfrm>
            <a:off x="1234440" y="502920"/>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4 — DEFINITION</a:t>
            </a:r>
            <a:endParaRPr lang="en-US" sz="1200" dirty="0"/>
          </a:p>
        </p:txBody>
      </p:sp>
      <p:sp>
        <p:nvSpPr>
          <p:cNvPr id="5" name="Text 3"/>
          <p:cNvSpPr txBox="1"/>
          <p:nvPr/>
        </p:nvSpPr>
        <p:spPr>
          <a:xfrm>
            <a:off x="1234440" y="777240"/>
            <a:ext cx="10515600" cy="82296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Abstraction</a:t>
            </a:r>
            <a:endParaRPr lang="en-US" sz="3000" dirty="0"/>
          </a:p>
        </p:txBody>
      </p:sp>
      <p:sp>
        <p:nvSpPr>
          <p:cNvPr id="6" name="Text 4"/>
          <p:cNvSpPr txBox="1"/>
          <p:nvPr/>
        </p:nvSpPr>
        <p:spPr>
          <a:xfrm>
            <a:off x="548640" y="1691640"/>
            <a:ext cx="10881360" cy="502920"/>
          </a:xfrm>
          <a:prstGeom prst="rect">
            <a:avLst/>
          </a:prstGeom>
          <a:noFill/>
          <a:ln/>
        </p:spPr>
        <p:txBody>
          <a:bodyPr wrap="square" lIns="0" tIns="0" rIns="0" bIns="0"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Abstraction is the idea of showing what something does while hiding how it does it.</a:t>
            </a:r>
            <a:endParaRPr lang="en-US" sz="1700" dirty="0"/>
          </a:p>
        </p:txBody>
      </p:sp>
      <p:sp>
        <p:nvSpPr>
          <p:cNvPr id="7" name="Text 5"/>
          <p:cNvSpPr txBox="1"/>
          <p:nvPr/>
        </p:nvSpPr>
        <p:spPr>
          <a:xfrm>
            <a:off x="548640" y="2331720"/>
            <a:ext cx="10881360" cy="173736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Exposing only what a caller needs to know, and hiding the internal complexity behind a simple interface.</a:t>
            </a:r>
            <a:endParaRPr lang="en-US" sz="1450" dirty="0"/>
          </a:p>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Interfaces and abstract classes are Java's main abstraction tools.</a:t>
            </a:r>
            <a:endParaRPr lang="en-US" sz="1450" dirty="0"/>
          </a:p>
          <a:p>
            <a:pPr marL="342900" indent="-342900">
              <a:lnSpc>
                <a:spcPct val="125000"/>
              </a:lnSpc>
              <a:spcAft>
                <a:spcPts val="1200"/>
              </a:spcAft>
              <a:buSzPct val="100000"/>
              <a:buChar char="•"/>
            </a:pPr>
            <a:r>
              <a:rPr lang="en-US" sz="1450" dirty="0">
                <a:solidFill>
                  <a:srgbClr val="2A2E45"/>
                </a:solidFill>
                <a:latin typeface="Calibri" pitchFamily="34" charset="0"/>
                <a:ea typeface="Calibri" pitchFamily="34" charset="-122"/>
                <a:cs typeface="Calibri" pitchFamily="34" charset="-120"/>
              </a:rPr>
              <a:t>Callers depend on WHAT something does, never HOW it does it.</a:t>
            </a:r>
            <a:endParaRPr lang="en-US" sz="1450" dirty="0"/>
          </a:p>
        </p:txBody>
      </p:sp>
      <p:sp>
        <p:nvSpPr>
          <p:cNvPr id="8" name="Shape 6"/>
          <p:cNvSpPr/>
          <p:nvPr/>
        </p:nvSpPr>
        <p:spPr>
          <a:xfrm>
            <a:off x="548640" y="4206240"/>
            <a:ext cx="10881360" cy="914400"/>
          </a:xfrm>
          <a:prstGeom prst="roundRect">
            <a:avLst>
              <a:gd name="adj" fmla="val 6000"/>
            </a:avLst>
          </a:prstGeom>
          <a:solidFill>
            <a:srgbClr val="1E2761"/>
          </a:solidFill>
          <a:ln/>
        </p:spPr>
        <p:txBody>
          <a:bodyPr/>
          <a:lstStyle/>
          <a:p>
            <a:endParaRPr lang="en-US"/>
          </a:p>
        </p:txBody>
      </p:sp>
      <p:sp>
        <p:nvSpPr>
          <p:cNvPr id="9" name="Text 7"/>
          <p:cNvSpPr txBox="1"/>
          <p:nvPr/>
        </p:nvSpPr>
        <p:spPr>
          <a:xfrm>
            <a:off x="777240" y="4206240"/>
            <a:ext cx="10424160" cy="9144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Real-world analogy: being a student at 42. You only need to know the campus rules and what's expected of you — not how the Bocal or the back office runs behind the scenes.</a:t>
            </a:r>
            <a:endParaRPr lang="en-US" sz="1300" dirty="0"/>
          </a:p>
        </p:txBody>
      </p:sp>
      <p:sp>
        <p:nvSpPr>
          <p:cNvPr id="10" name="Text 8"/>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4 — THE PROBLEM</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Without Abstraction: No Contract, Just Steps</a:t>
            </a:r>
            <a:endParaRPr lang="en-US" sz="3200" dirty="0"/>
          </a:p>
        </p:txBody>
      </p:sp>
      <p:sp>
        <p:nvSpPr>
          <p:cNvPr id="4" name="Text 2"/>
          <p:cNvSpPr txBox="1"/>
          <p:nvPr/>
        </p:nvSpPr>
        <p:spPr>
          <a:xfrm>
            <a:off x="548640" y="1874520"/>
            <a:ext cx="5120640" cy="2651760"/>
          </a:xfrm>
          <a:prstGeom prst="rect">
            <a:avLst/>
          </a:prstGeom>
          <a:noFill/>
          <a:ln/>
        </p:spPr>
        <p:txBody>
          <a:bodyPr wrap="square" lIns="0" tIns="0" rIns="0" bIns="0" rtlCol="0" anchor="t"/>
          <a:lstStyle/>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There's no shared method -- just JavaStudent's raw, individual steps, all public.</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The caller has to know the exact steps AND the exact order to call them in.</a:t>
            </a:r>
            <a:endParaRPr lang="en-US" sz="1400" dirty="0"/>
          </a:p>
          <a:p>
            <a:pPr marL="342900" indent="-342900">
              <a:lnSpc>
                <a:spcPct val="125000"/>
              </a:lnSpc>
              <a:spcAft>
                <a:spcPts val="1300"/>
              </a:spcAft>
              <a:buSzPct val="100000"/>
              <a:buChar char="•"/>
            </a:pPr>
            <a:r>
              <a:rPr lang="en-US" sz="1400" dirty="0">
                <a:solidFill>
                  <a:srgbClr val="2A2E45"/>
                </a:solidFill>
                <a:latin typeface="Calibri" pitchFamily="34" charset="0"/>
                <a:ea typeface="Calibri" pitchFamily="34" charset="-122"/>
                <a:cs typeface="Calibri" pitchFamily="34" charset="-120"/>
              </a:rPr>
              <a:t>Add CppStudent later, and it needs a completely different set of calls -- nothing carries over.</a:t>
            </a:r>
            <a:endParaRPr lang="en-US" sz="1400" dirty="0"/>
          </a:p>
        </p:txBody>
      </p:sp>
      <p:sp>
        <p:nvSpPr>
          <p:cNvPr id="5" name="Shape 3"/>
          <p:cNvSpPr/>
          <p:nvPr/>
        </p:nvSpPr>
        <p:spPr>
          <a:xfrm>
            <a:off x="5989320" y="1600200"/>
            <a:ext cx="5669280" cy="384048"/>
          </a:xfrm>
          <a:prstGeom prst="roundRect">
            <a:avLst>
              <a:gd name="adj" fmla="val 50000"/>
            </a:avLst>
          </a:prstGeom>
          <a:solidFill>
            <a:srgbClr val="E4572E"/>
          </a:solidFill>
          <a:ln/>
        </p:spPr>
        <p:txBody>
          <a:bodyPr/>
          <a:lstStyle/>
          <a:p>
            <a:endParaRPr lang="en-US"/>
          </a:p>
        </p:txBody>
      </p:sp>
      <p:sp>
        <p:nvSpPr>
          <p:cNvPr id="6" name="Text 4"/>
          <p:cNvSpPr txBox="1"/>
          <p:nvPr/>
        </p:nvSpPr>
        <p:spPr>
          <a:xfrm>
            <a:off x="6035040" y="1600200"/>
            <a:ext cx="5577840" cy="384048"/>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  EVERYTHING IS EXPOSED — NO SINGLE METHOD TO CALL</a:t>
            </a:r>
            <a:endParaRPr lang="en-US" sz="1150" dirty="0"/>
          </a:p>
        </p:txBody>
      </p:sp>
      <p:sp>
        <p:nvSpPr>
          <p:cNvPr id="7" name="Shape 5"/>
          <p:cNvSpPr/>
          <p:nvPr/>
        </p:nvSpPr>
        <p:spPr>
          <a:xfrm>
            <a:off x="5989320" y="2103120"/>
            <a:ext cx="5669280" cy="3520440"/>
          </a:xfrm>
          <a:prstGeom prst="roundRect">
            <a:avLst>
              <a:gd name="adj" fmla="val 2078"/>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8" name="Text 6"/>
          <p:cNvSpPr txBox="1"/>
          <p:nvPr/>
        </p:nvSpPr>
        <p:spPr>
          <a:xfrm>
            <a:off x="6245352" y="2304288"/>
            <a:ext cx="5157216" cy="3118104"/>
          </a:xfrm>
          <a:prstGeom prst="rect">
            <a:avLst/>
          </a:prstGeom>
          <a:noFill/>
          <a:ln/>
        </p:spPr>
        <p:txBody>
          <a:bodyPr wrap="square" lIns="0" tIns="0" rIns="0" bIns="0" rtlCol="0" anchor="t"/>
          <a:lstStyle/>
          <a:p>
            <a:pPr marL="0" indent="0">
              <a:lnSpc>
                <a:spcPct val="105000"/>
              </a:lnSpc>
              <a:buNone/>
            </a:pPr>
            <a:r>
              <a:rPr lang="en-US" sz="1000" b="1" dirty="0">
                <a:solidFill>
                  <a:srgbClr val="F2A65A"/>
                </a:solidFill>
                <a:latin typeface="Courier New" pitchFamily="34" charset="0"/>
                <a:ea typeface="Courier New" pitchFamily="34" charset="-122"/>
                <a:cs typeface="Courier New" pitchFamily="34" charset="-120"/>
              </a:rPr>
              <a:t>class</a:t>
            </a:r>
            <a:r>
              <a:rPr lang="en-US" sz="1000" dirty="0">
                <a:solidFill>
                  <a:srgbClr val="CADCFC"/>
                </a:solidFill>
                <a:latin typeface="Courier New" pitchFamily="34" charset="0"/>
                <a:ea typeface="Courier New" pitchFamily="34" charset="-122"/>
                <a:cs typeface="Courier New" pitchFamily="34" charset="-120"/>
              </a:rPr>
              <a:t> JavaStudent {</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a:t>
            </a:r>
            <a:r>
              <a:rPr lang="en-US" sz="1000" b="1" dirty="0">
                <a:solidFill>
                  <a:srgbClr val="F2A65A"/>
                </a:solidFill>
                <a:latin typeface="Courier New" pitchFamily="34" charset="0"/>
                <a:ea typeface="Courier New" pitchFamily="34" charset="-122"/>
                <a:cs typeface="Courier New" pitchFamily="34" charset="-120"/>
              </a:rPr>
              <a:t>public</a:t>
            </a:r>
            <a:r>
              <a:rPr lang="en-US" sz="1000" dirty="0">
                <a:solidFill>
                  <a:srgbClr val="CADCFC"/>
                </a:solidFill>
                <a:latin typeface="Courier New" pitchFamily="34" charset="0"/>
                <a:ea typeface="Courier New" pitchFamily="34" charset="-122"/>
                <a:cs typeface="Courier New" pitchFamily="34" charset="-120"/>
              </a:rPr>
              <a:t> </a:t>
            </a:r>
            <a:r>
              <a:rPr lang="en-US" sz="1000" b="1" dirty="0">
                <a:solidFill>
                  <a:srgbClr val="F2A65A"/>
                </a:solidFill>
                <a:latin typeface="Courier New" pitchFamily="34" charset="0"/>
                <a:ea typeface="Courier New" pitchFamily="34" charset="-122"/>
                <a:cs typeface="Courier New" pitchFamily="34" charset="-120"/>
              </a:rPr>
              <a:t>void</a:t>
            </a:r>
            <a:r>
              <a:rPr lang="en-US" sz="1000" dirty="0">
                <a:solidFill>
                  <a:srgbClr val="CADCFC"/>
                </a:solidFill>
                <a:latin typeface="Courier New" pitchFamily="34" charset="0"/>
                <a:ea typeface="Courier New" pitchFamily="34" charset="-122"/>
                <a:cs typeface="Courier New" pitchFamily="34" charset="-120"/>
              </a:rPr>
              <a:t> prepareLaptop() {</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System.out.println("Preparing laptop...");</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a:t>
            </a:r>
            <a:r>
              <a:rPr lang="en-US" sz="1000" b="1" dirty="0">
                <a:solidFill>
                  <a:srgbClr val="F2A65A"/>
                </a:solidFill>
                <a:latin typeface="Courier New" pitchFamily="34" charset="0"/>
                <a:ea typeface="Courier New" pitchFamily="34" charset="-122"/>
                <a:cs typeface="Courier New" pitchFamily="34" charset="-120"/>
              </a:rPr>
              <a:t>public</a:t>
            </a:r>
            <a:r>
              <a:rPr lang="en-US" sz="1000" dirty="0">
                <a:solidFill>
                  <a:srgbClr val="CADCFC"/>
                </a:solidFill>
                <a:latin typeface="Courier New" pitchFamily="34" charset="0"/>
                <a:ea typeface="Courier New" pitchFamily="34" charset="-122"/>
                <a:cs typeface="Courier New" pitchFamily="34" charset="-120"/>
              </a:rPr>
              <a:t> </a:t>
            </a:r>
            <a:r>
              <a:rPr lang="en-US" sz="1000" b="1" dirty="0">
                <a:solidFill>
                  <a:srgbClr val="F2A65A"/>
                </a:solidFill>
                <a:latin typeface="Courier New" pitchFamily="34" charset="0"/>
                <a:ea typeface="Courier New" pitchFamily="34" charset="-122"/>
                <a:cs typeface="Courier New" pitchFamily="34" charset="-120"/>
              </a:rPr>
              <a:t>void</a:t>
            </a:r>
            <a:r>
              <a:rPr lang="en-US" sz="1000" dirty="0">
                <a:solidFill>
                  <a:srgbClr val="CADCFC"/>
                </a:solidFill>
                <a:latin typeface="Courier New" pitchFamily="34" charset="0"/>
                <a:ea typeface="Courier New" pitchFamily="34" charset="-122"/>
                <a:cs typeface="Courier New" pitchFamily="34" charset="-120"/>
              </a:rPr>
              <a:t> openIDE() {</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System.out.println("Opening IDE...");</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a:t>
            </a:r>
            <a:r>
              <a:rPr lang="en-US" sz="1000" b="1" dirty="0">
                <a:solidFill>
                  <a:srgbClr val="F2A65A"/>
                </a:solidFill>
                <a:latin typeface="Courier New" pitchFamily="34" charset="0"/>
                <a:ea typeface="Courier New" pitchFamily="34" charset="-122"/>
                <a:cs typeface="Courier New" pitchFamily="34" charset="-120"/>
              </a:rPr>
              <a:t>public</a:t>
            </a:r>
            <a:r>
              <a:rPr lang="en-US" sz="1000" dirty="0">
                <a:solidFill>
                  <a:srgbClr val="CADCFC"/>
                </a:solidFill>
                <a:latin typeface="Courier New" pitchFamily="34" charset="0"/>
                <a:ea typeface="Courier New" pitchFamily="34" charset="-122"/>
                <a:cs typeface="Courier New" pitchFamily="34" charset="-120"/>
              </a:rPr>
              <a:t> </a:t>
            </a:r>
            <a:r>
              <a:rPr lang="en-US" sz="1000" b="1" dirty="0">
                <a:solidFill>
                  <a:srgbClr val="F2A65A"/>
                </a:solidFill>
                <a:latin typeface="Courier New" pitchFamily="34" charset="0"/>
                <a:ea typeface="Courier New" pitchFamily="34" charset="-122"/>
                <a:cs typeface="Courier New" pitchFamily="34" charset="-120"/>
              </a:rPr>
              <a:t>void</a:t>
            </a:r>
            <a:r>
              <a:rPr lang="en-US" sz="1000" dirty="0">
                <a:solidFill>
                  <a:srgbClr val="CADCFC"/>
                </a:solidFill>
                <a:latin typeface="Courier New" pitchFamily="34" charset="0"/>
                <a:ea typeface="Courier New" pitchFamily="34" charset="-122"/>
                <a:cs typeface="Courier New" pitchFamily="34" charset="-120"/>
              </a:rPr>
              <a:t> writeJavaCode() {</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System.out.println("Writing Java code...");</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 </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JavaStudent student = </a:t>
            </a:r>
            <a:r>
              <a:rPr lang="en-US" sz="1000" b="1" dirty="0">
                <a:solidFill>
                  <a:srgbClr val="F2A65A"/>
                </a:solidFill>
                <a:latin typeface="Courier New" pitchFamily="34" charset="0"/>
                <a:ea typeface="Courier New" pitchFamily="34" charset="-122"/>
                <a:cs typeface="Courier New" pitchFamily="34" charset="-120"/>
              </a:rPr>
              <a:t>new</a:t>
            </a:r>
            <a:r>
              <a:rPr lang="en-US" sz="1000" dirty="0">
                <a:solidFill>
                  <a:srgbClr val="CADCFC"/>
                </a:solidFill>
                <a:latin typeface="Courier New" pitchFamily="34" charset="0"/>
                <a:ea typeface="Courier New" pitchFamily="34" charset="-122"/>
                <a:cs typeface="Courier New" pitchFamily="34" charset="-120"/>
              </a:rPr>
              <a:t> JavaStudent();</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student.prepareLaptop();</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student.openIDE();</a:t>
            </a:r>
            <a:endParaRPr lang="en-US" sz="1000" dirty="0"/>
          </a:p>
          <a:p>
            <a:pPr marL="0" indent="0">
              <a:lnSpc>
                <a:spcPct val="105000"/>
              </a:lnSpc>
              <a:buNone/>
            </a:pPr>
            <a:r>
              <a:rPr lang="en-US" sz="1000" dirty="0">
                <a:solidFill>
                  <a:srgbClr val="CADCFC"/>
                </a:solidFill>
                <a:latin typeface="Courier New" pitchFamily="34" charset="0"/>
                <a:ea typeface="Courier New" pitchFamily="34" charset="-122"/>
                <a:cs typeface="Courier New" pitchFamily="34" charset="-120"/>
              </a:rPr>
              <a:t>student.writeJavaCode();</a:t>
            </a:r>
            <a:endParaRPr lang="en-US" sz="1000" dirty="0"/>
          </a:p>
          <a:p>
            <a:pPr marL="0" indent="0">
              <a:lnSpc>
                <a:spcPct val="105000"/>
              </a:lnSpc>
              <a:buNone/>
            </a:pPr>
            <a:r>
              <a:rPr lang="en-US" sz="1000" dirty="0">
                <a:solidFill>
                  <a:srgbClr val="6FCF97"/>
                </a:solidFill>
                <a:latin typeface="Courier New" pitchFamily="34" charset="0"/>
                <a:ea typeface="Courier New" pitchFamily="34" charset="-122"/>
                <a:cs typeface="Courier New" pitchFamily="34" charset="-120"/>
              </a:rPr>
              <a:t>// the caller has to know the exact steps, in order</a:t>
            </a:r>
            <a:endParaRPr lang="en-US" sz="1000" dirty="0"/>
          </a:p>
        </p:txBody>
      </p:sp>
      <p:sp>
        <p:nvSpPr>
          <p:cNvPr id="9" name="Shape 7"/>
          <p:cNvSpPr/>
          <p:nvPr/>
        </p:nvSpPr>
        <p:spPr>
          <a:xfrm>
            <a:off x="5989320" y="5760720"/>
            <a:ext cx="5669280" cy="777240"/>
          </a:xfrm>
          <a:prstGeom prst="roundRect">
            <a:avLst>
              <a:gd name="adj" fmla="val 7059"/>
            </a:avLst>
          </a:prstGeom>
          <a:solidFill>
            <a:srgbClr val="E4572E"/>
          </a:solidFill>
          <a:ln/>
        </p:spPr>
        <p:txBody>
          <a:bodyPr/>
          <a:lstStyle/>
          <a:p>
            <a:endParaRPr lang="en-US"/>
          </a:p>
        </p:txBody>
      </p:sp>
      <p:sp>
        <p:nvSpPr>
          <p:cNvPr id="10" name="Text 8"/>
          <p:cNvSpPr txBox="1"/>
          <p:nvPr/>
        </p:nvSpPr>
        <p:spPr>
          <a:xfrm>
            <a:off x="6217920" y="5760720"/>
            <a:ext cx="5212080" cy="777240"/>
          </a:xfrm>
          <a:prstGeom prst="rect">
            <a:avLst/>
          </a:prstGeom>
          <a:noFill/>
          <a:ln/>
        </p:spPr>
        <p:txBody>
          <a:bodyPr wrap="square" lIns="0" tIns="0" rIns="0" bIns="0"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Add CppStudent, and the caller needs a totally different set of calls -- there's no shared study() to fall back on.</a:t>
            </a:r>
            <a:endParaRPr lang="en-US" sz="1150" dirty="0"/>
          </a:p>
        </p:txBody>
      </p:sp>
      <p:sp>
        <p:nvSpPr>
          <p:cNvPr id="11" name="Text 9"/>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PILLAR 4 — THE FIX</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With Abstraction: One Contract, Many Implementations</a:t>
            </a:r>
            <a:endParaRPr lang="en-US" sz="3200" dirty="0"/>
          </a:p>
        </p:txBody>
      </p:sp>
      <p:sp>
        <p:nvSpPr>
          <p:cNvPr id="4" name="Text 2"/>
          <p:cNvSpPr txBox="1"/>
          <p:nvPr/>
        </p:nvSpPr>
        <p:spPr>
          <a:xfrm>
            <a:off x="548640" y="1874520"/>
            <a:ext cx="5120640" cy="2103120"/>
          </a:xfrm>
          <a:prstGeom prst="rect">
            <a:avLst/>
          </a:prstGeom>
          <a:noFill/>
          <a:ln/>
        </p:spPr>
        <p:txBody>
          <a:bodyPr wrap="square" lIns="0" tIns="0" rIns="0" bIns="0" rtlCol="0" anchor="t"/>
          <a:lstStyle/>
          <a:p>
            <a:pPr marL="342900" indent="-342900">
              <a:lnSpc>
                <a:spcPct val="125000"/>
              </a:lnSpc>
              <a:spcAft>
                <a:spcPts val="1100"/>
              </a:spcAft>
              <a:buSzPct val="100000"/>
              <a:buChar char="•"/>
            </a:pPr>
            <a:r>
              <a:rPr lang="en-US" sz="1350" dirty="0">
                <a:solidFill>
                  <a:srgbClr val="2A2E45"/>
                </a:solidFill>
                <a:latin typeface="Calibri" pitchFamily="34" charset="0"/>
                <a:ea typeface="Calibri" pitchFamily="34" charset="-122"/>
                <a:cs typeface="Calibri" pitchFamily="34" charset="-120"/>
              </a:rPr>
              <a:t>Define the contract once: interface Student says study() exists -- not how.</a:t>
            </a:r>
            <a:endParaRPr lang="en-US" sz="1350" dirty="0"/>
          </a:p>
          <a:p>
            <a:pPr marL="342900" indent="-342900">
              <a:lnSpc>
                <a:spcPct val="125000"/>
              </a:lnSpc>
              <a:spcAft>
                <a:spcPts val="1100"/>
              </a:spcAft>
              <a:buSzPct val="100000"/>
              <a:buChar char="•"/>
            </a:pPr>
            <a:r>
              <a:rPr lang="en-US" sz="1350" dirty="0">
                <a:solidFill>
                  <a:srgbClr val="2A2E45"/>
                </a:solidFill>
                <a:latin typeface="Calibri" pitchFamily="34" charset="0"/>
                <a:ea typeface="Calibri" pitchFamily="34" charset="-122"/>
                <a:cs typeface="Calibri" pitchFamily="34" charset="-120"/>
              </a:rPr>
              <a:t>JavaStudent and CppStudent each hide their own steps behind that same method.</a:t>
            </a:r>
            <a:endParaRPr lang="en-US" sz="1350" dirty="0"/>
          </a:p>
          <a:p>
            <a:pPr marL="342900" indent="-342900">
              <a:lnSpc>
                <a:spcPct val="125000"/>
              </a:lnSpc>
              <a:spcAft>
                <a:spcPts val="1100"/>
              </a:spcAft>
              <a:buSzPct val="100000"/>
              <a:buChar char="•"/>
            </a:pPr>
            <a:r>
              <a:rPr lang="en-US" sz="1350" dirty="0">
                <a:solidFill>
                  <a:srgbClr val="2A2E45"/>
                </a:solidFill>
                <a:latin typeface="Calibri" pitchFamily="34" charset="0"/>
                <a:ea typeface="Calibri" pitchFamily="34" charset="-122"/>
                <a:cs typeface="Calibri" pitchFamily="34" charset="-120"/>
              </a:rPr>
              <a:t>The caller only ever calls student.study() -- swap the implementation, and nothing else changes.</a:t>
            </a:r>
            <a:endParaRPr lang="en-US" sz="1350" dirty="0"/>
          </a:p>
        </p:txBody>
      </p:sp>
      <p:sp>
        <p:nvSpPr>
          <p:cNvPr id="5" name="Shape 3"/>
          <p:cNvSpPr/>
          <p:nvPr/>
        </p:nvSpPr>
        <p:spPr>
          <a:xfrm>
            <a:off x="1828800" y="4114800"/>
            <a:ext cx="2377440" cy="685800"/>
          </a:xfrm>
          <a:prstGeom prst="roundRect">
            <a:avLst>
              <a:gd name="adj" fmla="val 6667"/>
            </a:avLst>
          </a:prstGeom>
          <a:solidFill>
            <a:srgbClr val="1E2761"/>
          </a:solidFill>
          <a:ln/>
        </p:spPr>
        <p:txBody>
          <a:bodyPr/>
          <a:lstStyle/>
          <a:p>
            <a:endParaRPr lang="en-US"/>
          </a:p>
        </p:txBody>
      </p:sp>
      <p:sp>
        <p:nvSpPr>
          <p:cNvPr id="6" name="Text 4"/>
          <p:cNvSpPr txBox="1"/>
          <p:nvPr/>
        </p:nvSpPr>
        <p:spPr>
          <a:xfrm>
            <a:off x="1828800" y="4114800"/>
            <a:ext cx="2377440" cy="68580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«interface» Student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study()</a:t>
            </a:r>
            <a:endParaRPr lang="en-US" sz="1100" dirty="0"/>
          </a:p>
        </p:txBody>
      </p:sp>
      <p:sp>
        <p:nvSpPr>
          <p:cNvPr id="7" name="Shape 5"/>
          <p:cNvSpPr/>
          <p:nvPr/>
        </p:nvSpPr>
        <p:spPr>
          <a:xfrm>
            <a:off x="777240" y="5349240"/>
            <a:ext cx="1874520" cy="502920"/>
          </a:xfrm>
          <a:prstGeom prst="roundRect">
            <a:avLst>
              <a:gd name="adj" fmla="val 9091"/>
            </a:avLst>
          </a:prstGeom>
          <a:solidFill>
            <a:srgbClr val="3A4593"/>
          </a:solidFill>
          <a:ln/>
        </p:spPr>
        <p:txBody>
          <a:bodyPr/>
          <a:lstStyle/>
          <a:p>
            <a:endParaRPr lang="en-US"/>
          </a:p>
        </p:txBody>
      </p:sp>
      <p:sp>
        <p:nvSpPr>
          <p:cNvPr id="8" name="Text 6"/>
          <p:cNvSpPr txBox="1"/>
          <p:nvPr/>
        </p:nvSpPr>
        <p:spPr>
          <a:xfrm>
            <a:off x="777240" y="5349240"/>
            <a:ext cx="1874520" cy="50292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JavaStudent</a:t>
            </a:r>
            <a:endParaRPr lang="en-US" sz="1100" dirty="0"/>
          </a:p>
        </p:txBody>
      </p:sp>
      <p:sp>
        <p:nvSpPr>
          <p:cNvPr id="9" name="Shape 7"/>
          <p:cNvSpPr/>
          <p:nvPr/>
        </p:nvSpPr>
        <p:spPr>
          <a:xfrm>
            <a:off x="3017520" y="5349240"/>
            <a:ext cx="1874520" cy="502920"/>
          </a:xfrm>
          <a:prstGeom prst="roundRect">
            <a:avLst>
              <a:gd name="adj" fmla="val 9091"/>
            </a:avLst>
          </a:prstGeom>
          <a:solidFill>
            <a:srgbClr val="3A4593"/>
          </a:solidFill>
          <a:ln/>
        </p:spPr>
        <p:txBody>
          <a:bodyPr/>
          <a:lstStyle/>
          <a:p>
            <a:endParaRPr lang="en-US"/>
          </a:p>
        </p:txBody>
      </p:sp>
      <p:sp>
        <p:nvSpPr>
          <p:cNvPr id="10" name="Text 8"/>
          <p:cNvSpPr txBox="1"/>
          <p:nvPr/>
        </p:nvSpPr>
        <p:spPr>
          <a:xfrm>
            <a:off x="3017520" y="5349240"/>
            <a:ext cx="1874520" cy="502920"/>
          </a:xfrm>
          <a:prstGeom prst="rect">
            <a:avLst/>
          </a:prstGeom>
          <a:noFill/>
          <a:ln/>
        </p:spPr>
        <p:txBody>
          <a:bodyPr wrap="square" lIns="25400" tIns="25400" rIns="25400" bIns="2540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CppStudent</a:t>
            </a:r>
            <a:endParaRPr lang="en-US" sz="1100" dirty="0"/>
          </a:p>
        </p:txBody>
      </p:sp>
      <p:sp>
        <p:nvSpPr>
          <p:cNvPr id="11" name="Shape 9"/>
          <p:cNvSpPr/>
          <p:nvPr/>
        </p:nvSpPr>
        <p:spPr>
          <a:xfrm flipV="1">
            <a:off x="2651760" y="4800600"/>
            <a:ext cx="274320" cy="548640"/>
          </a:xfrm>
          <a:prstGeom prst="line">
            <a:avLst/>
          </a:prstGeom>
          <a:noFill/>
          <a:ln w="19050">
            <a:solidFill>
              <a:srgbClr val="F2A65A"/>
            </a:solidFill>
            <a:prstDash val="dash"/>
            <a:tailEnd type="triangle"/>
          </a:ln>
        </p:spPr>
        <p:txBody>
          <a:bodyPr/>
          <a:lstStyle/>
          <a:p>
            <a:endParaRPr lang="en-US"/>
          </a:p>
        </p:txBody>
      </p:sp>
      <p:sp>
        <p:nvSpPr>
          <p:cNvPr id="12" name="Shape 10"/>
          <p:cNvSpPr/>
          <p:nvPr/>
        </p:nvSpPr>
        <p:spPr>
          <a:xfrm flipH="1" flipV="1">
            <a:off x="3657600" y="4800600"/>
            <a:ext cx="274320" cy="548640"/>
          </a:xfrm>
          <a:prstGeom prst="line">
            <a:avLst/>
          </a:prstGeom>
          <a:noFill/>
          <a:ln w="19050">
            <a:solidFill>
              <a:srgbClr val="F2A65A"/>
            </a:solidFill>
            <a:prstDash val="dash"/>
            <a:tailEnd type="triangle"/>
          </a:ln>
        </p:spPr>
        <p:txBody>
          <a:bodyPr/>
          <a:lstStyle/>
          <a:p>
            <a:endParaRPr lang="en-US"/>
          </a:p>
        </p:txBody>
      </p:sp>
      <p:sp>
        <p:nvSpPr>
          <p:cNvPr id="13" name="Text 11"/>
          <p:cNvSpPr txBox="1"/>
          <p:nvPr/>
        </p:nvSpPr>
        <p:spPr>
          <a:xfrm>
            <a:off x="777240" y="5897880"/>
            <a:ext cx="187452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How? Java</a:t>
            </a:r>
            <a:endParaRPr lang="en-US" sz="1050" dirty="0"/>
          </a:p>
        </p:txBody>
      </p:sp>
      <p:sp>
        <p:nvSpPr>
          <p:cNvPr id="14" name="Text 12"/>
          <p:cNvSpPr txBox="1"/>
          <p:nvPr/>
        </p:nvSpPr>
        <p:spPr>
          <a:xfrm>
            <a:off x="3017520" y="5897880"/>
            <a:ext cx="1874520" cy="2743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How? C++</a:t>
            </a:r>
            <a:endParaRPr lang="en-US" sz="1050" dirty="0"/>
          </a:p>
        </p:txBody>
      </p:sp>
      <p:sp>
        <p:nvSpPr>
          <p:cNvPr id="15" name="Shape 13"/>
          <p:cNvSpPr/>
          <p:nvPr/>
        </p:nvSpPr>
        <p:spPr>
          <a:xfrm>
            <a:off x="5989320" y="1508760"/>
            <a:ext cx="5669280" cy="329184"/>
          </a:xfrm>
          <a:prstGeom prst="roundRect">
            <a:avLst>
              <a:gd name="adj" fmla="val 50000"/>
            </a:avLst>
          </a:prstGeom>
          <a:solidFill>
            <a:srgbClr val="1E2761"/>
          </a:solidFill>
          <a:ln/>
        </p:spPr>
        <p:txBody>
          <a:bodyPr/>
          <a:lstStyle/>
          <a:p>
            <a:endParaRPr lang="en-US"/>
          </a:p>
        </p:txBody>
      </p:sp>
      <p:sp>
        <p:nvSpPr>
          <p:cNvPr id="16" name="Text 14"/>
          <p:cNvSpPr txBox="1"/>
          <p:nvPr/>
        </p:nvSpPr>
        <p:spPr>
          <a:xfrm>
            <a:off x="6035040" y="1508760"/>
            <a:ext cx="557784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  HIDDEN — EACH IMPLEMENTATION'S OWN STEPS</a:t>
            </a:r>
            <a:endParaRPr lang="en-US" sz="1050" dirty="0"/>
          </a:p>
        </p:txBody>
      </p:sp>
      <p:sp>
        <p:nvSpPr>
          <p:cNvPr id="17" name="Shape 15"/>
          <p:cNvSpPr/>
          <p:nvPr/>
        </p:nvSpPr>
        <p:spPr>
          <a:xfrm>
            <a:off x="5989320" y="1874520"/>
            <a:ext cx="5669280" cy="2834640"/>
          </a:xfrm>
          <a:prstGeom prst="roundRect">
            <a:avLst>
              <a:gd name="adj" fmla="val 2581"/>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18" name="Text 16"/>
          <p:cNvSpPr txBox="1"/>
          <p:nvPr/>
        </p:nvSpPr>
        <p:spPr>
          <a:xfrm>
            <a:off x="6245352" y="2075688"/>
            <a:ext cx="5157216" cy="2432304"/>
          </a:xfrm>
          <a:prstGeom prst="rect">
            <a:avLst/>
          </a:prstGeom>
          <a:noFill/>
          <a:ln/>
        </p:spPr>
        <p:txBody>
          <a:bodyPr wrap="square" lIns="0" tIns="0" rIns="0" bIns="0" rtlCol="0" anchor="t"/>
          <a:lstStyle/>
          <a:p>
            <a:pPr marL="0" indent="0">
              <a:lnSpc>
                <a:spcPct val="98000"/>
              </a:lnSpc>
              <a:buNone/>
            </a:pPr>
            <a:r>
              <a:rPr lang="en-US" sz="950" b="1" dirty="0">
                <a:solidFill>
                  <a:srgbClr val="F2A65A"/>
                </a:solidFill>
                <a:latin typeface="Courier New" pitchFamily="34" charset="0"/>
                <a:ea typeface="Courier New" pitchFamily="34" charset="-122"/>
                <a:cs typeface="Courier New" pitchFamily="34" charset="-120"/>
              </a:rPr>
              <a:t>interface</a:t>
            </a:r>
            <a:r>
              <a:rPr lang="en-US" sz="950" dirty="0">
                <a:solidFill>
                  <a:srgbClr val="CADCFC"/>
                </a:solidFill>
                <a:latin typeface="Courier New" pitchFamily="34" charset="0"/>
                <a:ea typeface="Courier New" pitchFamily="34" charset="-122"/>
                <a:cs typeface="Courier New" pitchFamily="34" charset="-120"/>
              </a:rPr>
              <a:t> Student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void</a:t>
            </a:r>
            <a:r>
              <a:rPr lang="en-US" sz="950" dirty="0">
                <a:solidFill>
                  <a:srgbClr val="CADCFC"/>
                </a:solidFill>
                <a:latin typeface="Courier New" pitchFamily="34" charset="0"/>
                <a:ea typeface="Courier New" pitchFamily="34" charset="-122"/>
                <a:cs typeface="Courier New" pitchFamily="34" charset="-120"/>
              </a:rPr>
              <a:t> study();</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a:p>
            <a:pPr marL="0" indent="0">
              <a:lnSpc>
                <a:spcPct val="98000"/>
              </a:lnSpc>
              <a:buNone/>
            </a:pPr>
            <a:r>
              <a:rPr lang="en-US" sz="950" b="1" dirty="0">
                <a:solidFill>
                  <a:srgbClr val="F2A65A"/>
                </a:solidFill>
                <a:latin typeface="Courier New" pitchFamily="34" charset="0"/>
                <a:ea typeface="Courier New" pitchFamily="34" charset="-122"/>
                <a:cs typeface="Courier New" pitchFamily="34" charset="-120"/>
              </a:rPr>
              <a:t>class</a:t>
            </a:r>
            <a:r>
              <a:rPr lang="en-US" sz="950" dirty="0">
                <a:solidFill>
                  <a:srgbClr val="CADCFC"/>
                </a:solidFill>
                <a:latin typeface="Courier New" pitchFamily="34" charset="0"/>
                <a:ea typeface="Courier New" pitchFamily="34" charset="-122"/>
                <a:cs typeface="Courier New" pitchFamily="34" charset="-120"/>
              </a:rPr>
              <a:t> JavaStudent </a:t>
            </a:r>
            <a:r>
              <a:rPr lang="en-US" sz="950" b="1" dirty="0">
                <a:solidFill>
                  <a:srgbClr val="F2A65A"/>
                </a:solidFill>
                <a:latin typeface="Courier New" pitchFamily="34" charset="0"/>
                <a:ea typeface="Courier New" pitchFamily="34" charset="-122"/>
                <a:cs typeface="Courier New" pitchFamily="34" charset="-120"/>
              </a:rPr>
              <a:t>implements</a:t>
            </a:r>
            <a:r>
              <a:rPr lang="en-US" sz="950" dirty="0">
                <a:solidFill>
                  <a:srgbClr val="CADCFC"/>
                </a:solidFill>
                <a:latin typeface="Courier New" pitchFamily="34" charset="0"/>
                <a:ea typeface="Courier New" pitchFamily="34" charset="-122"/>
                <a:cs typeface="Courier New" pitchFamily="34" charset="-120"/>
              </a:rPr>
              <a:t> Student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public</a:t>
            </a: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void</a:t>
            </a:r>
            <a:r>
              <a:rPr lang="en-US" sz="950" dirty="0">
                <a:solidFill>
                  <a:srgbClr val="CADCFC"/>
                </a:solidFill>
                <a:latin typeface="Courier New" pitchFamily="34" charset="0"/>
                <a:ea typeface="Courier New" pitchFamily="34" charset="-122"/>
                <a:cs typeface="Courier New" pitchFamily="34" charset="-120"/>
              </a:rPr>
              <a:t> study()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prepareLaptop(); openIDE(); writeJavaCode();</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private</a:t>
            </a: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void</a:t>
            </a:r>
            <a:r>
              <a:rPr lang="en-US" sz="950" dirty="0">
                <a:solidFill>
                  <a:srgbClr val="CADCFC"/>
                </a:solidFill>
                <a:latin typeface="Courier New" pitchFamily="34" charset="0"/>
                <a:ea typeface="Courier New" pitchFamily="34" charset="-122"/>
                <a:cs typeface="Courier New" pitchFamily="34" charset="-120"/>
              </a:rPr>
              <a:t> prepareLaptop() {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private</a:t>
            </a: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void</a:t>
            </a:r>
            <a:r>
              <a:rPr lang="en-US" sz="950" dirty="0">
                <a:solidFill>
                  <a:srgbClr val="CADCFC"/>
                </a:solidFill>
                <a:latin typeface="Courier New" pitchFamily="34" charset="0"/>
                <a:ea typeface="Courier New" pitchFamily="34" charset="-122"/>
                <a:cs typeface="Courier New" pitchFamily="34" charset="-120"/>
              </a:rPr>
              <a:t> openIDE() {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private</a:t>
            </a: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void</a:t>
            </a:r>
            <a:r>
              <a:rPr lang="en-US" sz="950" dirty="0">
                <a:solidFill>
                  <a:srgbClr val="CADCFC"/>
                </a:solidFill>
                <a:latin typeface="Courier New" pitchFamily="34" charset="0"/>
                <a:ea typeface="Courier New" pitchFamily="34" charset="-122"/>
                <a:cs typeface="Courier New" pitchFamily="34" charset="-120"/>
              </a:rPr>
              <a:t> writeJavaCode() {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a:p>
            <a:pPr marL="0" indent="0">
              <a:lnSpc>
                <a:spcPct val="98000"/>
              </a:lnSpc>
              <a:buNone/>
            </a:pPr>
            <a:r>
              <a:rPr lang="en-US" sz="950" b="1" dirty="0">
                <a:solidFill>
                  <a:srgbClr val="F2A65A"/>
                </a:solidFill>
                <a:latin typeface="Courier New" pitchFamily="34" charset="0"/>
                <a:ea typeface="Courier New" pitchFamily="34" charset="-122"/>
                <a:cs typeface="Courier New" pitchFamily="34" charset="-120"/>
              </a:rPr>
              <a:t>class</a:t>
            </a:r>
            <a:r>
              <a:rPr lang="en-US" sz="950" dirty="0">
                <a:solidFill>
                  <a:srgbClr val="CADCFC"/>
                </a:solidFill>
                <a:latin typeface="Courier New" pitchFamily="34" charset="0"/>
                <a:ea typeface="Courier New" pitchFamily="34" charset="-122"/>
                <a:cs typeface="Courier New" pitchFamily="34" charset="-120"/>
              </a:rPr>
              <a:t> CppStudent </a:t>
            </a:r>
            <a:r>
              <a:rPr lang="en-US" sz="950" b="1" dirty="0">
                <a:solidFill>
                  <a:srgbClr val="F2A65A"/>
                </a:solidFill>
                <a:latin typeface="Courier New" pitchFamily="34" charset="0"/>
                <a:ea typeface="Courier New" pitchFamily="34" charset="-122"/>
                <a:cs typeface="Courier New" pitchFamily="34" charset="-120"/>
              </a:rPr>
              <a:t>implements</a:t>
            </a:r>
            <a:r>
              <a:rPr lang="en-US" sz="950" dirty="0">
                <a:solidFill>
                  <a:srgbClr val="CADCFC"/>
                </a:solidFill>
                <a:latin typeface="Courier New" pitchFamily="34" charset="0"/>
                <a:ea typeface="Courier New" pitchFamily="34" charset="-122"/>
                <a:cs typeface="Courier New" pitchFamily="34" charset="-120"/>
              </a:rPr>
              <a:t> Student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public</a:t>
            </a: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void</a:t>
            </a:r>
            <a:r>
              <a:rPr lang="en-US" sz="950" dirty="0">
                <a:solidFill>
                  <a:srgbClr val="CADCFC"/>
                </a:solidFill>
                <a:latin typeface="Courier New" pitchFamily="34" charset="0"/>
                <a:ea typeface="Courier New" pitchFamily="34" charset="-122"/>
                <a:cs typeface="Courier New" pitchFamily="34" charset="-120"/>
              </a:rPr>
              <a:t> study()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System.out.println("Learning C++");</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    }</a:t>
            </a:r>
            <a:endParaRPr lang="en-US" sz="950" dirty="0"/>
          </a:p>
          <a:p>
            <a:pPr marL="0" indent="0">
              <a:lnSpc>
                <a:spcPct val="980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p:txBody>
      </p:sp>
      <p:sp>
        <p:nvSpPr>
          <p:cNvPr id="19" name="Text 17"/>
          <p:cNvSpPr txBox="1"/>
          <p:nvPr/>
        </p:nvSpPr>
        <p:spPr>
          <a:xfrm>
            <a:off x="5989320" y="4736592"/>
            <a:ext cx="5669280" cy="237744"/>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  the ONLY thing that crosses the wall: study()  ↓</a:t>
            </a:r>
            <a:endParaRPr lang="en-US" sz="1050" dirty="0"/>
          </a:p>
        </p:txBody>
      </p:sp>
      <p:sp>
        <p:nvSpPr>
          <p:cNvPr id="20" name="Shape 18"/>
          <p:cNvSpPr/>
          <p:nvPr/>
        </p:nvSpPr>
        <p:spPr>
          <a:xfrm>
            <a:off x="5989320" y="5001768"/>
            <a:ext cx="5669280" cy="310896"/>
          </a:xfrm>
          <a:prstGeom prst="roundRect">
            <a:avLst>
              <a:gd name="adj" fmla="val 50000"/>
            </a:avLst>
          </a:prstGeom>
          <a:solidFill>
            <a:srgbClr val="2E7D5B"/>
          </a:solidFill>
          <a:ln/>
        </p:spPr>
        <p:txBody>
          <a:bodyPr/>
          <a:lstStyle/>
          <a:p>
            <a:endParaRPr lang="en-US"/>
          </a:p>
        </p:txBody>
      </p:sp>
      <p:sp>
        <p:nvSpPr>
          <p:cNvPr id="21" name="Text 19"/>
          <p:cNvSpPr txBox="1"/>
          <p:nvPr/>
        </p:nvSpPr>
        <p:spPr>
          <a:xfrm>
            <a:off x="6035040" y="5001768"/>
            <a:ext cx="55778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ALL THE CALLER EVER SEES</a:t>
            </a:r>
            <a:endParaRPr lang="en-US" sz="1100" dirty="0"/>
          </a:p>
        </p:txBody>
      </p:sp>
      <p:sp>
        <p:nvSpPr>
          <p:cNvPr id="22" name="Shape 20"/>
          <p:cNvSpPr/>
          <p:nvPr/>
        </p:nvSpPr>
        <p:spPr>
          <a:xfrm>
            <a:off x="5989320" y="5349240"/>
            <a:ext cx="5669280" cy="960120"/>
          </a:xfrm>
          <a:prstGeom prst="roundRect">
            <a:avLst>
              <a:gd name="adj" fmla="val 7619"/>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23" name="Text 21"/>
          <p:cNvSpPr txBox="1"/>
          <p:nvPr/>
        </p:nvSpPr>
        <p:spPr>
          <a:xfrm>
            <a:off x="6245352" y="5550408"/>
            <a:ext cx="5157216" cy="557784"/>
          </a:xfrm>
          <a:prstGeom prst="rect">
            <a:avLst/>
          </a:prstGeom>
          <a:noFill/>
          <a:ln/>
        </p:spPr>
        <p:txBody>
          <a:bodyPr wrap="square" lIns="0" tIns="0" rIns="0" bIns="0" rtlCol="0" anchor="t"/>
          <a:lstStyle/>
          <a:p>
            <a:pPr marL="0" indent="0">
              <a:lnSpc>
                <a:spcPct val="115000"/>
              </a:lnSpc>
              <a:buNone/>
            </a:pPr>
            <a:r>
              <a:rPr lang="en-US" sz="1100" dirty="0">
                <a:solidFill>
                  <a:srgbClr val="CADCFC"/>
                </a:solidFill>
                <a:latin typeface="Courier New" pitchFamily="34" charset="0"/>
                <a:ea typeface="Courier New" pitchFamily="34" charset="-122"/>
                <a:cs typeface="Courier New" pitchFamily="34" charset="-120"/>
              </a:rPr>
              <a:t>Student student = </a:t>
            </a:r>
            <a:r>
              <a:rPr lang="en-US" sz="1100" b="1" dirty="0">
                <a:solidFill>
                  <a:srgbClr val="F2A65A"/>
                </a:solidFill>
                <a:latin typeface="Courier New" pitchFamily="34" charset="0"/>
                <a:ea typeface="Courier New" pitchFamily="34" charset="-122"/>
                <a:cs typeface="Courier New" pitchFamily="34" charset="-120"/>
              </a:rPr>
              <a:t>new</a:t>
            </a:r>
            <a:r>
              <a:rPr lang="en-US" sz="1100" dirty="0">
                <a:solidFill>
                  <a:srgbClr val="CADCFC"/>
                </a:solidFill>
                <a:latin typeface="Courier New" pitchFamily="34" charset="0"/>
                <a:ea typeface="Courier New" pitchFamily="34" charset="-122"/>
                <a:cs typeface="Courier New" pitchFamily="34" charset="-120"/>
              </a:rPr>
              <a:t> JavaStudent();</a:t>
            </a:r>
            <a:endParaRPr lang="en-US" sz="1100" dirty="0"/>
          </a:p>
          <a:p>
            <a:pPr marL="0" indent="0">
              <a:lnSpc>
                <a:spcPct val="115000"/>
              </a:lnSpc>
              <a:buNone/>
            </a:pPr>
            <a:r>
              <a:rPr lang="en-US" sz="1100" dirty="0">
                <a:solidFill>
                  <a:srgbClr val="CADCFC"/>
                </a:solidFill>
                <a:latin typeface="Courier New" pitchFamily="34" charset="0"/>
                <a:ea typeface="Courier New" pitchFamily="34" charset="-122"/>
                <a:cs typeface="Courier New" pitchFamily="34" charset="-120"/>
              </a:rPr>
              <a:t>student.study();</a:t>
            </a:r>
            <a:endParaRPr lang="en-US" sz="1100" dirty="0"/>
          </a:p>
          <a:p>
            <a:pPr marL="0" indent="0">
              <a:lnSpc>
                <a:spcPct val="115000"/>
              </a:lnSpc>
              <a:buNone/>
            </a:pPr>
            <a:r>
              <a:rPr lang="en-US" sz="1100" dirty="0">
                <a:solidFill>
                  <a:srgbClr val="6FCF97"/>
                </a:solidFill>
                <a:latin typeface="Courier New" pitchFamily="34" charset="0"/>
                <a:ea typeface="Courier New" pitchFamily="34" charset="-122"/>
                <a:cs typeface="Courier New" pitchFamily="34" charset="-120"/>
              </a:rPr>
              <a:t>// caller only needs to know study() exists</a:t>
            </a:r>
            <a:endParaRPr lang="en-US" sz="1100" dirty="0"/>
          </a:p>
        </p:txBody>
      </p:sp>
      <p:sp>
        <p:nvSpPr>
          <p:cNvPr id="24" name="Text 22"/>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BEFORE WE DEFINE IT</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One Example, Four Pillars Working Together</a:t>
            </a:r>
            <a:endParaRPr lang="en-US" sz="3200" dirty="0"/>
          </a:p>
        </p:txBody>
      </p:sp>
      <p:sp>
        <p:nvSpPr>
          <p:cNvPr id="4" name="Shape 2"/>
          <p:cNvSpPr/>
          <p:nvPr/>
        </p:nvSpPr>
        <p:spPr>
          <a:xfrm>
            <a:off x="594360" y="1645920"/>
            <a:ext cx="2560320" cy="365760"/>
          </a:xfrm>
          <a:prstGeom prst="roundRect">
            <a:avLst>
              <a:gd name="adj" fmla="val 50000"/>
            </a:avLst>
          </a:prstGeom>
          <a:solidFill>
            <a:srgbClr val="1E2761"/>
          </a:solidFill>
          <a:ln/>
        </p:spPr>
        <p:txBody>
          <a:bodyPr/>
          <a:lstStyle/>
          <a:p>
            <a:endParaRPr lang="en-US"/>
          </a:p>
        </p:txBody>
      </p:sp>
      <p:sp>
        <p:nvSpPr>
          <p:cNvPr id="5" name="Text 3"/>
          <p:cNvSpPr txBox="1"/>
          <p:nvPr/>
        </p:nvSpPr>
        <p:spPr>
          <a:xfrm>
            <a:off x="640080" y="1645920"/>
            <a:ext cx="246888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ABSTRACTION</a:t>
            </a:r>
            <a:endParaRPr lang="en-US" sz="1050" dirty="0"/>
          </a:p>
        </p:txBody>
      </p:sp>
      <p:sp>
        <p:nvSpPr>
          <p:cNvPr id="6" name="Text 4"/>
          <p:cNvSpPr txBox="1"/>
          <p:nvPr/>
        </p:nvSpPr>
        <p:spPr>
          <a:xfrm>
            <a:off x="594360" y="2084832"/>
            <a:ext cx="2560320" cy="5029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“What can a Student do?”</a:t>
            </a:r>
            <a:endParaRPr lang="en-US" sz="1050" dirty="0"/>
          </a:p>
        </p:txBody>
      </p:sp>
      <p:sp>
        <p:nvSpPr>
          <p:cNvPr id="7" name="Shape 5"/>
          <p:cNvSpPr/>
          <p:nvPr/>
        </p:nvSpPr>
        <p:spPr>
          <a:xfrm>
            <a:off x="594360" y="2606040"/>
            <a:ext cx="2560320" cy="1691640"/>
          </a:xfrm>
          <a:prstGeom prst="roundRect">
            <a:avLst>
              <a:gd name="adj" fmla="val 4324"/>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8" name="Text 6"/>
          <p:cNvSpPr txBox="1"/>
          <p:nvPr/>
        </p:nvSpPr>
        <p:spPr>
          <a:xfrm>
            <a:off x="850392" y="2807208"/>
            <a:ext cx="2048256" cy="1289304"/>
          </a:xfrm>
          <a:prstGeom prst="rect">
            <a:avLst/>
          </a:prstGeom>
          <a:noFill/>
          <a:ln/>
        </p:spPr>
        <p:txBody>
          <a:bodyPr wrap="square" lIns="0" tIns="0" rIns="0" bIns="0" rtlCol="0" anchor="t"/>
          <a:lstStyle/>
          <a:p>
            <a:pPr marL="0" indent="0">
              <a:lnSpc>
                <a:spcPct val="115000"/>
              </a:lnSpc>
              <a:buNone/>
            </a:pPr>
            <a:r>
              <a:rPr lang="en-US" sz="950" b="1" dirty="0">
                <a:solidFill>
                  <a:srgbClr val="F2A65A"/>
                </a:solidFill>
                <a:latin typeface="Courier New" pitchFamily="34" charset="0"/>
                <a:ea typeface="Courier New" pitchFamily="34" charset="-122"/>
                <a:cs typeface="Courier New" pitchFamily="34" charset="-120"/>
              </a:rPr>
              <a:t>interface</a:t>
            </a:r>
            <a:r>
              <a:rPr lang="en-US" sz="950" dirty="0">
                <a:solidFill>
                  <a:srgbClr val="CADCFC"/>
                </a:solidFill>
                <a:latin typeface="Courier New" pitchFamily="34" charset="0"/>
                <a:ea typeface="Courier New" pitchFamily="34" charset="-122"/>
                <a:cs typeface="Courier New" pitchFamily="34" charset="-120"/>
              </a:rPr>
              <a:t> Student {</a:t>
            </a:r>
            <a:endParaRPr lang="en-US" sz="950" dirty="0"/>
          </a:p>
          <a:p>
            <a:pPr marL="0" indent="0">
              <a:lnSpc>
                <a:spcPct val="115000"/>
              </a:lnSpc>
              <a:buNone/>
            </a:pPr>
            <a:r>
              <a:rPr lang="en-US" sz="950" dirty="0">
                <a:solidFill>
                  <a:srgbClr val="CADCFC"/>
                </a:solidFill>
                <a:latin typeface="Courier New" pitchFamily="34" charset="0"/>
                <a:ea typeface="Courier New" pitchFamily="34" charset="-122"/>
                <a:cs typeface="Courier New" pitchFamily="34" charset="-120"/>
              </a:rPr>
              <a:t>    </a:t>
            </a:r>
            <a:r>
              <a:rPr lang="en-US" sz="950" b="1" dirty="0">
                <a:solidFill>
                  <a:srgbClr val="F2A65A"/>
                </a:solidFill>
                <a:latin typeface="Courier New" pitchFamily="34" charset="0"/>
                <a:ea typeface="Courier New" pitchFamily="34" charset="-122"/>
                <a:cs typeface="Courier New" pitchFamily="34" charset="-120"/>
              </a:rPr>
              <a:t>void</a:t>
            </a:r>
            <a:r>
              <a:rPr lang="en-US" sz="950" dirty="0">
                <a:solidFill>
                  <a:srgbClr val="CADCFC"/>
                </a:solidFill>
                <a:latin typeface="Courier New" pitchFamily="34" charset="0"/>
                <a:ea typeface="Courier New" pitchFamily="34" charset="-122"/>
                <a:cs typeface="Courier New" pitchFamily="34" charset="-120"/>
              </a:rPr>
              <a:t> study();</a:t>
            </a:r>
            <a:endParaRPr lang="en-US" sz="950" dirty="0"/>
          </a:p>
          <a:p>
            <a:pPr marL="0" indent="0">
              <a:lnSpc>
                <a:spcPct val="1150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p:txBody>
      </p:sp>
      <p:sp>
        <p:nvSpPr>
          <p:cNvPr id="9" name="Shape 7"/>
          <p:cNvSpPr/>
          <p:nvPr/>
        </p:nvSpPr>
        <p:spPr>
          <a:xfrm>
            <a:off x="3337560" y="1645920"/>
            <a:ext cx="2560320" cy="365760"/>
          </a:xfrm>
          <a:prstGeom prst="roundRect">
            <a:avLst>
              <a:gd name="adj" fmla="val 50000"/>
            </a:avLst>
          </a:prstGeom>
          <a:solidFill>
            <a:srgbClr val="F2A65A"/>
          </a:solidFill>
          <a:ln/>
        </p:spPr>
        <p:txBody>
          <a:bodyPr/>
          <a:lstStyle/>
          <a:p>
            <a:endParaRPr lang="en-US"/>
          </a:p>
        </p:txBody>
      </p:sp>
      <p:sp>
        <p:nvSpPr>
          <p:cNvPr id="10" name="Text 8"/>
          <p:cNvSpPr txBox="1"/>
          <p:nvPr/>
        </p:nvSpPr>
        <p:spPr>
          <a:xfrm>
            <a:off x="3383280" y="1645920"/>
            <a:ext cx="246888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INHERITANCE</a:t>
            </a:r>
            <a:endParaRPr lang="en-US" sz="1050" dirty="0"/>
          </a:p>
        </p:txBody>
      </p:sp>
      <p:sp>
        <p:nvSpPr>
          <p:cNvPr id="11" name="Text 9"/>
          <p:cNvSpPr txBox="1"/>
          <p:nvPr/>
        </p:nvSpPr>
        <p:spPr>
          <a:xfrm>
            <a:off x="3337560" y="2084832"/>
            <a:ext cx="2560320" cy="5029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“Reuse what's common.”</a:t>
            </a:r>
            <a:endParaRPr lang="en-US" sz="1050" dirty="0"/>
          </a:p>
        </p:txBody>
      </p:sp>
      <p:sp>
        <p:nvSpPr>
          <p:cNvPr id="12" name="Shape 10"/>
          <p:cNvSpPr/>
          <p:nvPr/>
        </p:nvSpPr>
        <p:spPr>
          <a:xfrm>
            <a:off x="3337560" y="2606040"/>
            <a:ext cx="2560320" cy="1691640"/>
          </a:xfrm>
          <a:prstGeom prst="roundRect">
            <a:avLst>
              <a:gd name="adj" fmla="val 4324"/>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13" name="Text 11"/>
          <p:cNvSpPr txBox="1"/>
          <p:nvPr/>
        </p:nvSpPr>
        <p:spPr>
          <a:xfrm>
            <a:off x="3593592" y="2807208"/>
            <a:ext cx="2048256" cy="1289304"/>
          </a:xfrm>
          <a:prstGeom prst="rect">
            <a:avLst/>
          </a:prstGeom>
          <a:noFill/>
          <a:ln/>
        </p:spPr>
        <p:txBody>
          <a:bodyPr wrap="square" lIns="0" tIns="0" rIns="0" bIns="0" rtlCol="0" anchor="t"/>
          <a:lstStyle/>
          <a:p>
            <a:pPr marL="0" indent="0">
              <a:lnSpc>
                <a:spcPct val="110000"/>
              </a:lnSpc>
              <a:buNone/>
            </a:pPr>
            <a:r>
              <a:rPr lang="en-US" sz="850" b="1" dirty="0">
                <a:solidFill>
                  <a:srgbClr val="F2A65A"/>
                </a:solidFill>
                <a:latin typeface="Courier New" pitchFamily="34" charset="0"/>
                <a:ea typeface="Courier New" pitchFamily="34" charset="-122"/>
                <a:cs typeface="Courier New" pitchFamily="34" charset="-120"/>
              </a:rPr>
              <a:t>class</a:t>
            </a:r>
            <a:r>
              <a:rPr lang="en-US" sz="850" dirty="0">
                <a:solidFill>
                  <a:srgbClr val="CADCFC"/>
                </a:solidFill>
                <a:latin typeface="Courier New" pitchFamily="34" charset="0"/>
                <a:ea typeface="Courier New" pitchFamily="34" charset="-122"/>
                <a:cs typeface="Courier New" pitchFamily="34" charset="-120"/>
              </a:rPr>
              <a:t> Person {</a:t>
            </a:r>
            <a:endParaRPr lang="en-US" sz="850" dirty="0"/>
          </a:p>
          <a:p>
            <a:pPr marL="0" indent="0">
              <a:lnSpc>
                <a:spcPct val="110000"/>
              </a:lnSpc>
              <a:buNone/>
            </a:pPr>
            <a:r>
              <a:rPr lang="en-US" sz="850" dirty="0">
                <a:solidFill>
                  <a:srgbClr val="CADCFC"/>
                </a:solidFill>
                <a:latin typeface="Courier New" pitchFamily="34" charset="0"/>
                <a:ea typeface="Courier New" pitchFamily="34" charset="-122"/>
                <a:cs typeface="Courier New" pitchFamily="34" charset="-120"/>
              </a:rPr>
              <a:t>    </a:t>
            </a:r>
            <a:r>
              <a:rPr lang="en-US" sz="850" b="1" dirty="0">
                <a:solidFill>
                  <a:srgbClr val="F2A65A"/>
                </a:solidFill>
                <a:latin typeface="Courier New" pitchFamily="34" charset="0"/>
                <a:ea typeface="Courier New" pitchFamily="34" charset="-122"/>
                <a:cs typeface="Courier New" pitchFamily="34" charset="-120"/>
              </a:rPr>
              <a:t>protected</a:t>
            </a:r>
            <a:r>
              <a:rPr lang="en-US" sz="850" dirty="0">
                <a:solidFill>
                  <a:srgbClr val="CADCFC"/>
                </a:solidFill>
                <a:latin typeface="Courier New" pitchFamily="34" charset="0"/>
                <a:ea typeface="Courier New" pitchFamily="34" charset="-122"/>
                <a:cs typeface="Courier New" pitchFamily="34" charset="-120"/>
              </a:rPr>
              <a:t> String</a:t>
            </a:r>
            <a:endParaRPr lang="en-US" sz="850" dirty="0"/>
          </a:p>
          <a:p>
            <a:pPr marL="0" indent="0">
              <a:lnSpc>
                <a:spcPct val="110000"/>
              </a:lnSpc>
              <a:buNone/>
            </a:pPr>
            <a:r>
              <a:rPr lang="en-US" sz="850" dirty="0">
                <a:solidFill>
                  <a:srgbClr val="CADCFC"/>
                </a:solidFill>
                <a:latin typeface="Courier New" pitchFamily="34" charset="0"/>
                <a:ea typeface="Courier New" pitchFamily="34" charset="-122"/>
                <a:cs typeface="Courier New" pitchFamily="34" charset="-120"/>
              </a:rPr>
              <a:t>        name;</a:t>
            </a:r>
            <a:endParaRPr lang="en-US" sz="850" dirty="0"/>
          </a:p>
          <a:p>
            <a:pPr marL="0" indent="0">
              <a:lnSpc>
                <a:spcPct val="110000"/>
              </a:lnSpc>
              <a:buNone/>
            </a:pPr>
            <a:r>
              <a:rPr lang="en-US" sz="850" dirty="0">
                <a:solidFill>
                  <a:srgbClr val="CADCFC"/>
                </a:solidFill>
                <a:latin typeface="Courier New" pitchFamily="34" charset="0"/>
                <a:ea typeface="Courier New" pitchFamily="34" charset="-122"/>
                <a:cs typeface="Courier New" pitchFamily="34" charset="-120"/>
              </a:rPr>
              <a:t>}</a:t>
            </a:r>
            <a:endParaRPr lang="en-US" sz="850" dirty="0"/>
          </a:p>
          <a:p>
            <a:pPr marL="0" indent="0">
              <a:lnSpc>
                <a:spcPct val="110000"/>
              </a:lnSpc>
              <a:buNone/>
            </a:pPr>
            <a:r>
              <a:rPr lang="en-US" sz="850" dirty="0">
                <a:solidFill>
                  <a:srgbClr val="CADCFC"/>
                </a:solidFill>
                <a:latin typeface="Courier New" pitchFamily="34" charset="0"/>
                <a:ea typeface="Courier New" pitchFamily="34" charset="-122"/>
                <a:cs typeface="Courier New" pitchFamily="34" charset="-120"/>
              </a:rPr>
              <a:t> </a:t>
            </a:r>
            <a:endParaRPr lang="en-US" sz="850" dirty="0"/>
          </a:p>
          <a:p>
            <a:pPr marL="0" indent="0">
              <a:lnSpc>
                <a:spcPct val="110000"/>
              </a:lnSpc>
              <a:buNone/>
            </a:pPr>
            <a:r>
              <a:rPr lang="en-US" sz="850" b="1" dirty="0">
                <a:solidFill>
                  <a:srgbClr val="F2A65A"/>
                </a:solidFill>
                <a:latin typeface="Courier New" pitchFamily="34" charset="0"/>
                <a:ea typeface="Courier New" pitchFamily="34" charset="-122"/>
                <a:cs typeface="Courier New" pitchFamily="34" charset="-120"/>
              </a:rPr>
              <a:t>class</a:t>
            </a:r>
            <a:r>
              <a:rPr lang="en-US" sz="850" dirty="0">
                <a:solidFill>
                  <a:srgbClr val="CADCFC"/>
                </a:solidFill>
                <a:latin typeface="Courier New" pitchFamily="34" charset="0"/>
                <a:ea typeface="Courier New" pitchFamily="34" charset="-122"/>
                <a:cs typeface="Courier New" pitchFamily="34" charset="-120"/>
              </a:rPr>
              <a:t> JavaStudent</a:t>
            </a:r>
            <a:endParaRPr lang="en-US" sz="850" dirty="0"/>
          </a:p>
          <a:p>
            <a:pPr marL="0" indent="0">
              <a:lnSpc>
                <a:spcPct val="110000"/>
              </a:lnSpc>
              <a:buNone/>
            </a:pPr>
            <a:r>
              <a:rPr lang="en-US" sz="850" dirty="0">
                <a:solidFill>
                  <a:srgbClr val="CADCFC"/>
                </a:solidFill>
                <a:latin typeface="Courier New" pitchFamily="34" charset="0"/>
                <a:ea typeface="Courier New" pitchFamily="34" charset="-122"/>
                <a:cs typeface="Courier New" pitchFamily="34" charset="-120"/>
              </a:rPr>
              <a:t>    </a:t>
            </a:r>
            <a:r>
              <a:rPr lang="en-US" sz="850" b="1" dirty="0">
                <a:solidFill>
                  <a:srgbClr val="F2A65A"/>
                </a:solidFill>
                <a:latin typeface="Courier New" pitchFamily="34" charset="0"/>
                <a:ea typeface="Courier New" pitchFamily="34" charset="-122"/>
                <a:cs typeface="Courier New" pitchFamily="34" charset="-120"/>
              </a:rPr>
              <a:t>extends</a:t>
            </a:r>
            <a:r>
              <a:rPr lang="en-US" sz="850" dirty="0">
                <a:solidFill>
                  <a:srgbClr val="CADCFC"/>
                </a:solidFill>
                <a:latin typeface="Courier New" pitchFamily="34" charset="0"/>
                <a:ea typeface="Courier New" pitchFamily="34" charset="-122"/>
                <a:cs typeface="Courier New" pitchFamily="34" charset="-120"/>
              </a:rPr>
              <a:t> Person</a:t>
            </a:r>
            <a:endParaRPr lang="en-US" sz="850" dirty="0"/>
          </a:p>
          <a:p>
            <a:pPr marL="0" indent="0">
              <a:lnSpc>
                <a:spcPct val="110000"/>
              </a:lnSpc>
              <a:buNone/>
            </a:pPr>
            <a:r>
              <a:rPr lang="en-US" sz="850" dirty="0">
                <a:solidFill>
                  <a:srgbClr val="CADCFC"/>
                </a:solidFill>
                <a:latin typeface="Courier New" pitchFamily="34" charset="0"/>
                <a:ea typeface="Courier New" pitchFamily="34" charset="-122"/>
                <a:cs typeface="Courier New" pitchFamily="34" charset="-120"/>
              </a:rPr>
              <a:t>    </a:t>
            </a:r>
            <a:r>
              <a:rPr lang="en-US" sz="850" b="1" dirty="0">
                <a:solidFill>
                  <a:srgbClr val="F2A65A"/>
                </a:solidFill>
                <a:latin typeface="Courier New" pitchFamily="34" charset="0"/>
                <a:ea typeface="Courier New" pitchFamily="34" charset="-122"/>
                <a:cs typeface="Courier New" pitchFamily="34" charset="-120"/>
              </a:rPr>
              <a:t>implements</a:t>
            </a:r>
            <a:r>
              <a:rPr lang="en-US" sz="850" dirty="0">
                <a:solidFill>
                  <a:srgbClr val="CADCFC"/>
                </a:solidFill>
                <a:latin typeface="Courier New" pitchFamily="34" charset="0"/>
                <a:ea typeface="Courier New" pitchFamily="34" charset="-122"/>
                <a:cs typeface="Courier New" pitchFamily="34" charset="-120"/>
              </a:rPr>
              <a:t> Student {</a:t>
            </a:r>
            <a:endParaRPr lang="en-US" sz="850" dirty="0"/>
          </a:p>
        </p:txBody>
      </p:sp>
      <p:sp>
        <p:nvSpPr>
          <p:cNvPr id="14" name="Shape 12"/>
          <p:cNvSpPr/>
          <p:nvPr/>
        </p:nvSpPr>
        <p:spPr>
          <a:xfrm>
            <a:off x="6080760" y="1645920"/>
            <a:ext cx="2560320" cy="365760"/>
          </a:xfrm>
          <a:prstGeom prst="roundRect">
            <a:avLst>
              <a:gd name="adj" fmla="val 50000"/>
            </a:avLst>
          </a:prstGeom>
          <a:solidFill>
            <a:srgbClr val="E4572E"/>
          </a:solidFill>
          <a:ln/>
        </p:spPr>
        <p:txBody>
          <a:bodyPr/>
          <a:lstStyle/>
          <a:p>
            <a:endParaRPr lang="en-US"/>
          </a:p>
        </p:txBody>
      </p:sp>
      <p:sp>
        <p:nvSpPr>
          <p:cNvPr id="15" name="Text 13"/>
          <p:cNvSpPr txBox="1"/>
          <p:nvPr/>
        </p:nvSpPr>
        <p:spPr>
          <a:xfrm>
            <a:off x="6126480" y="1645920"/>
            <a:ext cx="246888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ENCAPSULATION</a:t>
            </a:r>
            <a:endParaRPr lang="en-US" sz="1050" dirty="0"/>
          </a:p>
        </p:txBody>
      </p:sp>
      <p:sp>
        <p:nvSpPr>
          <p:cNvPr id="16" name="Text 14"/>
          <p:cNvSpPr txBox="1"/>
          <p:nvPr/>
        </p:nvSpPr>
        <p:spPr>
          <a:xfrm>
            <a:off x="6080760" y="2084832"/>
            <a:ext cx="2560320" cy="5029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“Hide how it works.”</a:t>
            </a:r>
            <a:endParaRPr lang="en-US" sz="1050" dirty="0"/>
          </a:p>
        </p:txBody>
      </p:sp>
      <p:sp>
        <p:nvSpPr>
          <p:cNvPr id="17" name="Shape 15"/>
          <p:cNvSpPr/>
          <p:nvPr/>
        </p:nvSpPr>
        <p:spPr>
          <a:xfrm>
            <a:off x="6080760" y="2606040"/>
            <a:ext cx="2560320" cy="1691640"/>
          </a:xfrm>
          <a:prstGeom prst="roundRect">
            <a:avLst>
              <a:gd name="adj" fmla="val 4324"/>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18" name="Text 16"/>
          <p:cNvSpPr txBox="1"/>
          <p:nvPr/>
        </p:nvSpPr>
        <p:spPr>
          <a:xfrm>
            <a:off x="6336792" y="2807208"/>
            <a:ext cx="2048256" cy="1289304"/>
          </a:xfrm>
          <a:prstGeom prst="rect">
            <a:avLst/>
          </a:prstGeom>
          <a:noFill/>
          <a:ln/>
        </p:spPr>
        <p:txBody>
          <a:bodyPr wrap="square" lIns="0" tIns="0" rIns="0" bIns="0" rtlCol="0" anchor="t"/>
          <a:lstStyle/>
          <a:p>
            <a:pPr marL="0" indent="0">
              <a:lnSpc>
                <a:spcPct val="105000"/>
              </a:lnSpc>
              <a:buNone/>
            </a:pPr>
            <a:r>
              <a:rPr lang="en-US" sz="800" b="1" dirty="0">
                <a:solidFill>
                  <a:srgbClr val="F2A65A"/>
                </a:solidFill>
                <a:latin typeface="Courier New" pitchFamily="34" charset="0"/>
                <a:ea typeface="Courier New" pitchFamily="34" charset="-122"/>
                <a:cs typeface="Courier New" pitchFamily="34" charset="-120"/>
              </a:rPr>
              <a:t>private</a:t>
            </a:r>
            <a:r>
              <a:rPr lang="en-US" sz="800" dirty="0">
                <a:solidFill>
                  <a:srgbClr val="CADCFC"/>
                </a:solidFill>
                <a:latin typeface="Courier New" pitchFamily="34" charset="0"/>
                <a:ea typeface="Courier New" pitchFamily="34" charset="-122"/>
                <a:cs typeface="Courier New" pitchFamily="34" charset="-120"/>
              </a:rPr>
              <a:t> String ide;</a:t>
            </a:r>
            <a:endParaRPr lang="en-US" sz="800" dirty="0"/>
          </a:p>
          <a:p>
            <a:pPr marL="0" indent="0">
              <a:lnSpc>
                <a:spcPct val="105000"/>
              </a:lnSpc>
              <a:buNone/>
            </a:pPr>
            <a:r>
              <a:rPr lang="en-US" sz="800" dirty="0">
                <a:solidFill>
                  <a:srgbClr val="CADCFC"/>
                </a:solidFill>
                <a:latin typeface="Courier New" pitchFamily="34" charset="0"/>
                <a:ea typeface="Courier New" pitchFamily="34" charset="-122"/>
                <a:cs typeface="Courier New" pitchFamily="34" charset="-120"/>
              </a:rPr>
              <a:t> </a:t>
            </a:r>
            <a:endParaRPr lang="en-US" sz="800" dirty="0"/>
          </a:p>
          <a:p>
            <a:pPr marL="0" indent="0">
              <a:lnSpc>
                <a:spcPct val="105000"/>
              </a:lnSpc>
              <a:buNone/>
            </a:pPr>
            <a:r>
              <a:rPr lang="en-US" sz="800" b="1" dirty="0">
                <a:solidFill>
                  <a:srgbClr val="F2A65A"/>
                </a:solidFill>
                <a:latin typeface="Courier New" pitchFamily="34" charset="0"/>
                <a:ea typeface="Courier New" pitchFamily="34" charset="-122"/>
                <a:cs typeface="Courier New" pitchFamily="34" charset="-120"/>
              </a:rPr>
              <a:t>public</a:t>
            </a:r>
            <a:r>
              <a:rPr lang="en-US" sz="800" dirty="0">
                <a:solidFill>
                  <a:srgbClr val="CADCFC"/>
                </a:solidFill>
                <a:latin typeface="Courier New" pitchFamily="34" charset="0"/>
                <a:ea typeface="Courier New" pitchFamily="34" charset="-122"/>
                <a:cs typeface="Courier New" pitchFamily="34" charset="-120"/>
              </a:rPr>
              <a:t> String getIde() {</a:t>
            </a:r>
            <a:endParaRPr lang="en-US" sz="800" dirty="0"/>
          </a:p>
          <a:p>
            <a:pPr marL="0" indent="0">
              <a:lnSpc>
                <a:spcPct val="105000"/>
              </a:lnSpc>
              <a:buNone/>
            </a:pPr>
            <a:r>
              <a:rPr lang="en-US" sz="800" dirty="0">
                <a:solidFill>
                  <a:srgbClr val="CADCFC"/>
                </a:solidFill>
                <a:latin typeface="Courier New" pitchFamily="34" charset="0"/>
                <a:ea typeface="Courier New" pitchFamily="34" charset="-122"/>
                <a:cs typeface="Courier New" pitchFamily="34" charset="-120"/>
              </a:rPr>
              <a:t>    </a:t>
            </a:r>
            <a:r>
              <a:rPr lang="en-US" sz="800" b="1" dirty="0">
                <a:solidFill>
                  <a:srgbClr val="F2A65A"/>
                </a:solidFill>
                <a:latin typeface="Courier New" pitchFamily="34" charset="0"/>
                <a:ea typeface="Courier New" pitchFamily="34" charset="-122"/>
                <a:cs typeface="Courier New" pitchFamily="34" charset="-120"/>
              </a:rPr>
              <a:t>return</a:t>
            </a:r>
            <a:r>
              <a:rPr lang="en-US" sz="800" dirty="0">
                <a:solidFill>
                  <a:srgbClr val="CADCFC"/>
                </a:solidFill>
                <a:latin typeface="Courier New" pitchFamily="34" charset="0"/>
                <a:ea typeface="Courier New" pitchFamily="34" charset="-122"/>
                <a:cs typeface="Courier New" pitchFamily="34" charset="-120"/>
              </a:rPr>
              <a:t> ide;</a:t>
            </a:r>
            <a:endParaRPr lang="en-US" sz="800" dirty="0"/>
          </a:p>
          <a:p>
            <a:pPr marL="0" indent="0">
              <a:lnSpc>
                <a:spcPct val="105000"/>
              </a:lnSpc>
              <a:buNone/>
            </a:pPr>
            <a:r>
              <a:rPr lang="en-US" sz="800" dirty="0">
                <a:solidFill>
                  <a:srgbClr val="CADCFC"/>
                </a:solidFill>
                <a:latin typeface="Courier New" pitchFamily="34" charset="0"/>
                <a:ea typeface="Courier New" pitchFamily="34" charset="-122"/>
                <a:cs typeface="Courier New" pitchFamily="34" charset="-120"/>
              </a:rPr>
              <a:t>}</a:t>
            </a:r>
            <a:endParaRPr lang="en-US" sz="800" dirty="0"/>
          </a:p>
          <a:p>
            <a:pPr marL="0" indent="0">
              <a:lnSpc>
                <a:spcPct val="105000"/>
              </a:lnSpc>
              <a:buNone/>
            </a:pPr>
            <a:r>
              <a:rPr lang="en-US" sz="800" b="1" dirty="0">
                <a:solidFill>
                  <a:srgbClr val="F2A65A"/>
                </a:solidFill>
                <a:latin typeface="Courier New" pitchFamily="34" charset="0"/>
                <a:ea typeface="Courier New" pitchFamily="34" charset="-122"/>
                <a:cs typeface="Courier New" pitchFamily="34" charset="-120"/>
              </a:rPr>
              <a:t>public</a:t>
            </a:r>
            <a:r>
              <a:rPr lang="en-US" sz="800" dirty="0">
                <a:solidFill>
                  <a:srgbClr val="CADCFC"/>
                </a:solidFill>
                <a:latin typeface="Courier New" pitchFamily="34" charset="0"/>
                <a:ea typeface="Courier New" pitchFamily="34" charset="-122"/>
                <a:cs typeface="Courier New" pitchFamily="34" charset="-120"/>
              </a:rPr>
              <a:t> </a:t>
            </a:r>
            <a:r>
              <a:rPr lang="en-US" sz="800" b="1" dirty="0">
                <a:solidFill>
                  <a:srgbClr val="F2A65A"/>
                </a:solidFill>
                <a:latin typeface="Courier New" pitchFamily="34" charset="0"/>
                <a:ea typeface="Courier New" pitchFamily="34" charset="-122"/>
                <a:cs typeface="Courier New" pitchFamily="34" charset="-120"/>
              </a:rPr>
              <a:t>void</a:t>
            </a:r>
            <a:r>
              <a:rPr lang="en-US" sz="800" dirty="0">
                <a:solidFill>
                  <a:srgbClr val="CADCFC"/>
                </a:solidFill>
                <a:latin typeface="Courier New" pitchFamily="34" charset="0"/>
                <a:ea typeface="Courier New" pitchFamily="34" charset="-122"/>
                <a:cs typeface="Courier New" pitchFamily="34" charset="-120"/>
              </a:rPr>
              <a:t> setIde(</a:t>
            </a:r>
            <a:endParaRPr lang="en-US" sz="800" dirty="0"/>
          </a:p>
          <a:p>
            <a:pPr marL="0" indent="0">
              <a:lnSpc>
                <a:spcPct val="105000"/>
              </a:lnSpc>
              <a:buNone/>
            </a:pPr>
            <a:r>
              <a:rPr lang="en-US" sz="800" dirty="0">
                <a:solidFill>
                  <a:srgbClr val="CADCFC"/>
                </a:solidFill>
                <a:latin typeface="Courier New" pitchFamily="34" charset="0"/>
                <a:ea typeface="Courier New" pitchFamily="34" charset="-122"/>
                <a:cs typeface="Courier New" pitchFamily="34" charset="-120"/>
              </a:rPr>
              <a:t>        String v) {</a:t>
            </a:r>
            <a:endParaRPr lang="en-US" sz="800" dirty="0"/>
          </a:p>
          <a:p>
            <a:pPr marL="0" indent="0">
              <a:lnSpc>
                <a:spcPct val="105000"/>
              </a:lnSpc>
              <a:buNone/>
            </a:pPr>
            <a:r>
              <a:rPr lang="en-US" sz="800" dirty="0">
                <a:solidFill>
                  <a:srgbClr val="CADCFC"/>
                </a:solidFill>
                <a:latin typeface="Courier New" pitchFamily="34" charset="0"/>
                <a:ea typeface="Courier New" pitchFamily="34" charset="-122"/>
                <a:cs typeface="Courier New" pitchFamily="34" charset="-120"/>
              </a:rPr>
              <a:t>    ide = v;</a:t>
            </a:r>
            <a:endParaRPr lang="en-US" sz="800" dirty="0"/>
          </a:p>
          <a:p>
            <a:pPr marL="0" indent="0">
              <a:lnSpc>
                <a:spcPct val="105000"/>
              </a:lnSpc>
              <a:buNone/>
            </a:pPr>
            <a:r>
              <a:rPr lang="en-US" sz="800" dirty="0">
                <a:solidFill>
                  <a:srgbClr val="CADCFC"/>
                </a:solidFill>
                <a:latin typeface="Courier New" pitchFamily="34" charset="0"/>
                <a:ea typeface="Courier New" pitchFamily="34" charset="-122"/>
                <a:cs typeface="Courier New" pitchFamily="34" charset="-120"/>
              </a:rPr>
              <a:t>}</a:t>
            </a:r>
            <a:endParaRPr lang="en-US" sz="800" dirty="0"/>
          </a:p>
          <a:p>
            <a:pPr marL="0" indent="0">
              <a:lnSpc>
                <a:spcPct val="105000"/>
              </a:lnSpc>
              <a:buNone/>
            </a:pPr>
            <a:r>
              <a:rPr lang="en-US" sz="800" b="1" dirty="0">
                <a:solidFill>
                  <a:srgbClr val="F2A65A"/>
                </a:solidFill>
                <a:latin typeface="Courier New" pitchFamily="34" charset="0"/>
                <a:ea typeface="Courier New" pitchFamily="34" charset="-122"/>
                <a:cs typeface="Courier New" pitchFamily="34" charset="-120"/>
              </a:rPr>
              <a:t>private</a:t>
            </a:r>
            <a:r>
              <a:rPr lang="en-US" sz="800" dirty="0">
                <a:solidFill>
                  <a:srgbClr val="CADCFC"/>
                </a:solidFill>
                <a:latin typeface="Courier New" pitchFamily="34" charset="0"/>
                <a:ea typeface="Courier New" pitchFamily="34" charset="-122"/>
                <a:cs typeface="Courier New" pitchFamily="34" charset="-120"/>
              </a:rPr>
              <a:t> </a:t>
            </a:r>
            <a:r>
              <a:rPr lang="en-US" sz="800" b="1" dirty="0">
                <a:solidFill>
                  <a:srgbClr val="F2A65A"/>
                </a:solidFill>
                <a:latin typeface="Courier New" pitchFamily="34" charset="0"/>
                <a:ea typeface="Courier New" pitchFamily="34" charset="-122"/>
                <a:cs typeface="Courier New" pitchFamily="34" charset="-120"/>
              </a:rPr>
              <a:t>void</a:t>
            </a:r>
            <a:endParaRPr lang="en-US" sz="800" dirty="0"/>
          </a:p>
          <a:p>
            <a:pPr marL="0" indent="0">
              <a:lnSpc>
                <a:spcPct val="105000"/>
              </a:lnSpc>
              <a:buNone/>
            </a:pPr>
            <a:r>
              <a:rPr lang="en-US" sz="800" dirty="0">
                <a:solidFill>
                  <a:srgbClr val="CADCFC"/>
                </a:solidFill>
                <a:latin typeface="Courier New" pitchFamily="34" charset="0"/>
                <a:ea typeface="Courier New" pitchFamily="34" charset="-122"/>
                <a:cs typeface="Courier New" pitchFamily="34" charset="-120"/>
              </a:rPr>
              <a:t>    prepareLaptop() {}</a:t>
            </a:r>
            <a:endParaRPr lang="en-US" sz="800" dirty="0"/>
          </a:p>
        </p:txBody>
      </p:sp>
      <p:sp>
        <p:nvSpPr>
          <p:cNvPr id="19" name="Shape 17"/>
          <p:cNvSpPr/>
          <p:nvPr/>
        </p:nvSpPr>
        <p:spPr>
          <a:xfrm>
            <a:off x="8823960" y="1645920"/>
            <a:ext cx="2560320" cy="365760"/>
          </a:xfrm>
          <a:prstGeom prst="roundRect">
            <a:avLst>
              <a:gd name="adj" fmla="val 50000"/>
            </a:avLst>
          </a:prstGeom>
          <a:solidFill>
            <a:srgbClr val="2E7D5B"/>
          </a:solidFill>
          <a:ln/>
        </p:spPr>
        <p:txBody>
          <a:bodyPr/>
          <a:lstStyle/>
          <a:p>
            <a:endParaRPr lang="en-US"/>
          </a:p>
        </p:txBody>
      </p:sp>
      <p:sp>
        <p:nvSpPr>
          <p:cNvPr id="20" name="Text 18"/>
          <p:cNvSpPr txBox="1"/>
          <p:nvPr/>
        </p:nvSpPr>
        <p:spPr>
          <a:xfrm>
            <a:off x="8869680" y="1645920"/>
            <a:ext cx="246888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POLYMORPHISM</a:t>
            </a:r>
            <a:endParaRPr lang="en-US" sz="1050" dirty="0"/>
          </a:p>
        </p:txBody>
      </p:sp>
      <p:sp>
        <p:nvSpPr>
          <p:cNvPr id="21" name="Text 19"/>
          <p:cNvSpPr txBox="1"/>
          <p:nvPr/>
        </p:nvSpPr>
        <p:spPr>
          <a:xfrm>
            <a:off x="8823960" y="2084832"/>
            <a:ext cx="2560320" cy="502920"/>
          </a:xfrm>
          <a:prstGeom prst="rect">
            <a:avLst/>
          </a:prstGeom>
          <a:noFill/>
          <a:ln/>
        </p:spPr>
        <p:txBody>
          <a:bodyPr wrap="square" lIns="0" tIns="0" rIns="0" bIns="0" rtlCol="0" anchor="ctr"/>
          <a:lstStyle/>
          <a:p>
            <a:pPr marL="0" indent="0" algn="ctr">
              <a:buNone/>
            </a:pPr>
            <a:r>
              <a:rPr lang="en-US" sz="1050" i="1" dirty="0">
                <a:solidFill>
                  <a:srgbClr val="6B7280"/>
                </a:solidFill>
                <a:latin typeface="Calibri" pitchFamily="34" charset="0"/>
                <a:ea typeface="Calibri" pitchFamily="34" charset="-122"/>
                <a:cs typeface="Calibri" pitchFamily="34" charset="-120"/>
              </a:rPr>
              <a:t>“Different students study differently.”</a:t>
            </a:r>
            <a:endParaRPr lang="en-US" sz="1050" dirty="0"/>
          </a:p>
        </p:txBody>
      </p:sp>
      <p:sp>
        <p:nvSpPr>
          <p:cNvPr id="22" name="Shape 20"/>
          <p:cNvSpPr/>
          <p:nvPr/>
        </p:nvSpPr>
        <p:spPr>
          <a:xfrm>
            <a:off x="8823960" y="2606040"/>
            <a:ext cx="2560320" cy="1691640"/>
          </a:xfrm>
          <a:prstGeom prst="roundRect">
            <a:avLst>
              <a:gd name="adj" fmla="val 4324"/>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23" name="Text 21"/>
          <p:cNvSpPr txBox="1"/>
          <p:nvPr/>
        </p:nvSpPr>
        <p:spPr>
          <a:xfrm>
            <a:off x="9079992" y="2807208"/>
            <a:ext cx="2048256" cy="1289304"/>
          </a:xfrm>
          <a:prstGeom prst="rect">
            <a:avLst/>
          </a:prstGeom>
          <a:noFill/>
          <a:ln/>
        </p:spPr>
        <p:txBody>
          <a:bodyPr wrap="square" lIns="0" tIns="0" rIns="0" bIns="0" rtlCol="0" anchor="t"/>
          <a:lstStyle/>
          <a:p>
            <a:pPr marL="0" indent="0">
              <a:lnSpc>
                <a:spcPct val="115000"/>
              </a:lnSpc>
              <a:buNone/>
            </a:pPr>
            <a:r>
              <a:rPr lang="en-US" sz="850" dirty="0">
                <a:solidFill>
                  <a:srgbClr val="CADCFC"/>
                </a:solidFill>
                <a:latin typeface="Courier New" pitchFamily="34" charset="0"/>
                <a:ea typeface="Courier New" pitchFamily="34" charset="-122"/>
                <a:cs typeface="Courier New" pitchFamily="34" charset="-120"/>
              </a:rPr>
              <a:t>Student s =</a:t>
            </a:r>
            <a:endParaRPr lang="en-US" sz="850" dirty="0"/>
          </a:p>
          <a:p>
            <a:pPr marL="0" indent="0">
              <a:lnSpc>
                <a:spcPct val="115000"/>
              </a:lnSpc>
              <a:buNone/>
            </a:pPr>
            <a:r>
              <a:rPr lang="en-US" sz="850" dirty="0">
                <a:solidFill>
                  <a:srgbClr val="CADCFC"/>
                </a:solidFill>
                <a:latin typeface="Courier New" pitchFamily="34" charset="0"/>
                <a:ea typeface="Courier New" pitchFamily="34" charset="-122"/>
                <a:cs typeface="Courier New" pitchFamily="34" charset="-120"/>
              </a:rPr>
              <a:t>    </a:t>
            </a:r>
            <a:r>
              <a:rPr lang="en-US" sz="850" b="1" dirty="0">
                <a:solidFill>
                  <a:srgbClr val="F2A65A"/>
                </a:solidFill>
                <a:latin typeface="Courier New" pitchFamily="34" charset="0"/>
                <a:ea typeface="Courier New" pitchFamily="34" charset="-122"/>
                <a:cs typeface="Courier New" pitchFamily="34" charset="-120"/>
              </a:rPr>
              <a:t>new</a:t>
            </a:r>
            <a:r>
              <a:rPr lang="en-US" sz="850" dirty="0">
                <a:solidFill>
                  <a:srgbClr val="CADCFC"/>
                </a:solidFill>
                <a:latin typeface="Courier New" pitchFamily="34" charset="0"/>
                <a:ea typeface="Courier New" pitchFamily="34" charset="-122"/>
                <a:cs typeface="Courier New" pitchFamily="34" charset="-120"/>
              </a:rPr>
              <a:t> JavaStudent();</a:t>
            </a:r>
            <a:endParaRPr lang="en-US" sz="850" dirty="0"/>
          </a:p>
          <a:p>
            <a:pPr marL="0" indent="0">
              <a:lnSpc>
                <a:spcPct val="115000"/>
              </a:lnSpc>
              <a:buNone/>
            </a:pPr>
            <a:r>
              <a:rPr lang="en-US" sz="850" dirty="0">
                <a:solidFill>
                  <a:srgbClr val="CADCFC"/>
                </a:solidFill>
                <a:latin typeface="Courier New" pitchFamily="34" charset="0"/>
                <a:ea typeface="Courier New" pitchFamily="34" charset="-122"/>
                <a:cs typeface="Courier New" pitchFamily="34" charset="-120"/>
              </a:rPr>
              <a:t> </a:t>
            </a:r>
            <a:endParaRPr lang="en-US" sz="850" dirty="0"/>
          </a:p>
          <a:p>
            <a:pPr marL="0" indent="0">
              <a:lnSpc>
                <a:spcPct val="115000"/>
              </a:lnSpc>
              <a:buNone/>
            </a:pPr>
            <a:r>
              <a:rPr lang="en-US" sz="850" dirty="0">
                <a:solidFill>
                  <a:srgbClr val="CADCFC"/>
                </a:solidFill>
                <a:latin typeface="Courier New" pitchFamily="34" charset="0"/>
                <a:ea typeface="Courier New" pitchFamily="34" charset="-122"/>
                <a:cs typeface="Courier New" pitchFamily="34" charset="-120"/>
              </a:rPr>
              <a:t>Student s =</a:t>
            </a:r>
            <a:endParaRPr lang="en-US" sz="850" dirty="0"/>
          </a:p>
          <a:p>
            <a:pPr marL="0" indent="0">
              <a:lnSpc>
                <a:spcPct val="115000"/>
              </a:lnSpc>
              <a:buNone/>
            </a:pPr>
            <a:r>
              <a:rPr lang="en-US" sz="850" dirty="0">
                <a:solidFill>
                  <a:srgbClr val="CADCFC"/>
                </a:solidFill>
                <a:latin typeface="Courier New" pitchFamily="34" charset="0"/>
                <a:ea typeface="Courier New" pitchFamily="34" charset="-122"/>
                <a:cs typeface="Courier New" pitchFamily="34" charset="-120"/>
              </a:rPr>
              <a:t>    </a:t>
            </a:r>
            <a:r>
              <a:rPr lang="en-US" sz="850" b="1" dirty="0">
                <a:solidFill>
                  <a:srgbClr val="F2A65A"/>
                </a:solidFill>
                <a:latin typeface="Courier New" pitchFamily="34" charset="0"/>
                <a:ea typeface="Courier New" pitchFamily="34" charset="-122"/>
                <a:cs typeface="Courier New" pitchFamily="34" charset="-120"/>
              </a:rPr>
              <a:t>new</a:t>
            </a:r>
            <a:r>
              <a:rPr lang="en-US" sz="850" dirty="0">
                <a:solidFill>
                  <a:srgbClr val="CADCFC"/>
                </a:solidFill>
                <a:latin typeface="Courier New" pitchFamily="34" charset="0"/>
                <a:ea typeface="Courier New" pitchFamily="34" charset="-122"/>
                <a:cs typeface="Courier New" pitchFamily="34" charset="-120"/>
              </a:rPr>
              <a:t> CppStudent();</a:t>
            </a:r>
            <a:endParaRPr lang="en-US" sz="850" dirty="0"/>
          </a:p>
        </p:txBody>
      </p:sp>
      <p:sp>
        <p:nvSpPr>
          <p:cNvPr id="24" name="Shape 22"/>
          <p:cNvSpPr/>
          <p:nvPr/>
        </p:nvSpPr>
        <p:spPr>
          <a:xfrm flipV="1">
            <a:off x="3154680" y="1828800"/>
            <a:ext cx="182880" cy="9144"/>
          </a:xfrm>
          <a:prstGeom prst="line">
            <a:avLst/>
          </a:prstGeom>
          <a:noFill/>
          <a:ln w="19050">
            <a:solidFill>
              <a:srgbClr val="6B7280"/>
            </a:solidFill>
            <a:prstDash val="solid"/>
            <a:tailEnd type="triangle"/>
          </a:ln>
        </p:spPr>
        <p:txBody>
          <a:bodyPr/>
          <a:lstStyle/>
          <a:p>
            <a:endParaRPr lang="en-US"/>
          </a:p>
        </p:txBody>
      </p:sp>
      <p:sp>
        <p:nvSpPr>
          <p:cNvPr id="25" name="Shape 23"/>
          <p:cNvSpPr/>
          <p:nvPr/>
        </p:nvSpPr>
        <p:spPr>
          <a:xfrm flipV="1">
            <a:off x="5897880" y="1828800"/>
            <a:ext cx="182880" cy="9144"/>
          </a:xfrm>
          <a:prstGeom prst="line">
            <a:avLst/>
          </a:prstGeom>
          <a:noFill/>
          <a:ln w="19050">
            <a:solidFill>
              <a:srgbClr val="6B7280"/>
            </a:solidFill>
            <a:prstDash val="solid"/>
            <a:tailEnd type="triangle"/>
          </a:ln>
        </p:spPr>
        <p:txBody>
          <a:bodyPr/>
          <a:lstStyle/>
          <a:p>
            <a:endParaRPr lang="en-US"/>
          </a:p>
        </p:txBody>
      </p:sp>
      <p:sp>
        <p:nvSpPr>
          <p:cNvPr id="26" name="Shape 24"/>
          <p:cNvSpPr/>
          <p:nvPr/>
        </p:nvSpPr>
        <p:spPr>
          <a:xfrm flipV="1">
            <a:off x="8641080" y="1828800"/>
            <a:ext cx="182880" cy="9144"/>
          </a:xfrm>
          <a:prstGeom prst="line">
            <a:avLst/>
          </a:prstGeom>
          <a:noFill/>
          <a:ln w="19050">
            <a:solidFill>
              <a:srgbClr val="6B7280"/>
            </a:solidFill>
            <a:prstDash val="solid"/>
            <a:tailEnd type="triangle"/>
          </a:ln>
        </p:spPr>
        <p:txBody>
          <a:bodyPr/>
          <a:lstStyle/>
          <a:p>
            <a:endParaRPr lang="en-US"/>
          </a:p>
        </p:txBody>
      </p:sp>
      <p:sp>
        <p:nvSpPr>
          <p:cNvPr id="27" name="Shape 25"/>
          <p:cNvSpPr/>
          <p:nvPr/>
        </p:nvSpPr>
        <p:spPr>
          <a:xfrm>
            <a:off x="548640" y="4663440"/>
            <a:ext cx="11064240" cy="960120"/>
          </a:xfrm>
          <a:prstGeom prst="roundRect">
            <a:avLst>
              <a:gd name="adj" fmla="val 5714"/>
            </a:avLst>
          </a:prstGeom>
          <a:solidFill>
            <a:srgbClr val="1E2761"/>
          </a:solidFill>
          <a:ln/>
        </p:spPr>
        <p:txBody>
          <a:bodyPr/>
          <a:lstStyle/>
          <a:p>
            <a:endParaRPr lang="en-US"/>
          </a:p>
        </p:txBody>
      </p:sp>
      <p:sp>
        <p:nvSpPr>
          <p:cNvPr id="28" name="Text 26"/>
          <p:cNvSpPr txBox="1"/>
          <p:nvPr/>
        </p:nvSpPr>
        <p:spPr>
          <a:xfrm>
            <a:off x="777240" y="4663440"/>
            <a:ext cx="10607040" cy="96012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One interface says WHAT a Student can do. A shared parent (Person) gives every student the basics. Private fields and methods hide HOW each one works. Two interchangeable classes decide WHICH version runs. That's all four pillars, in one small example.</a:t>
            </a:r>
            <a:endParaRPr lang="en-US" sz="1250" dirty="0"/>
          </a:p>
        </p:txBody>
      </p:sp>
      <p:sp>
        <p:nvSpPr>
          <p:cNvPr id="29" name="Text 27"/>
          <p:cNvSpPr txBox="1"/>
          <p:nvPr/>
        </p:nvSpPr>
        <p:spPr>
          <a:xfrm>
            <a:off x="548640" y="5760720"/>
            <a:ext cx="11064240" cy="54864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200" dirty="0">
                <a:solidFill>
                  <a:srgbClr val="6B7280"/>
                </a:solidFill>
                <a:latin typeface="Calibri" pitchFamily="34" charset="0"/>
                <a:ea typeface="Calibri" pitchFamily="34" charset="-122"/>
                <a:cs typeface="Calibri" pitchFamily="34" charset="-120"/>
              </a:rPr>
              <a:t>Just writing a method and calling it isn't abstraction by itself -- study() only becomes abstraction once it's a contract other classes implement differently.</a:t>
            </a:r>
            <a:endParaRPr lang="en-US" sz="1200" dirty="0"/>
          </a:p>
        </p:txBody>
      </p:sp>
      <p:sp>
        <p:nvSpPr>
          <p:cNvPr id="30" name="Text 28"/>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Tree>
    <p:extLst>
      <p:ext uri="{BB962C8B-B14F-4D97-AF65-F5344CB8AC3E}">
        <p14:creationId xmlns:p14="http://schemas.microsoft.com/office/powerpoint/2010/main" val="1773459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LIVE DEMO — SETUP</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Installing Java on Ubuntu (No sudo Needed)</a:t>
            </a:r>
            <a:endParaRPr lang="en-US" sz="3200" dirty="0"/>
          </a:p>
        </p:txBody>
      </p:sp>
      <p:sp>
        <p:nvSpPr>
          <p:cNvPr id="4" name="Text 2"/>
          <p:cNvSpPr txBox="1"/>
          <p:nvPr/>
        </p:nvSpPr>
        <p:spPr>
          <a:xfrm>
            <a:off x="548640" y="1554480"/>
            <a:ext cx="10881360" cy="45720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00" dirty="0">
                <a:solidFill>
                  <a:srgbClr val="2A2E45"/>
                </a:solidFill>
                <a:latin typeface="Calibri" pitchFamily="34" charset="0"/>
                <a:ea typeface="Calibri" pitchFamily="34" charset="-122"/>
                <a:cs typeface="Calibri" pitchFamily="34" charset="-120"/>
              </a:rPr>
              <a:t>No sudo access? Download a JDK into your own home folder and add it to PATH -- nothing outside your account changes.</a:t>
            </a:r>
            <a:endParaRPr lang="en-US" sz="1300" dirty="0"/>
          </a:p>
        </p:txBody>
      </p:sp>
      <p:sp>
        <p:nvSpPr>
          <p:cNvPr id="5" name="Shape 3"/>
          <p:cNvSpPr/>
          <p:nvPr/>
        </p:nvSpPr>
        <p:spPr>
          <a:xfrm>
            <a:off x="548640" y="2148840"/>
            <a:ext cx="11064240" cy="4160520"/>
          </a:xfrm>
          <a:prstGeom prst="roundRect">
            <a:avLst>
              <a:gd name="adj" fmla="val 1758"/>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6" name="Text 4"/>
          <p:cNvSpPr txBox="1"/>
          <p:nvPr/>
        </p:nvSpPr>
        <p:spPr>
          <a:xfrm>
            <a:off x="804672" y="2350008"/>
            <a:ext cx="10552176" cy="3758184"/>
          </a:xfrm>
          <a:prstGeom prst="rect">
            <a:avLst/>
          </a:prstGeom>
          <a:noFill/>
          <a:ln/>
        </p:spPr>
        <p:txBody>
          <a:bodyPr wrap="square" lIns="0" tIns="0" rIns="0" bIns="0" rtlCol="0" anchor="t"/>
          <a:lstStyle/>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 1. Download and unpack the JDK into your home folder</a:t>
            </a:r>
            <a:endParaRPr lang="en-US" sz="1050" dirty="0"/>
          </a:p>
          <a:p>
            <a:pPr marL="0" indent="0">
              <a:lnSpc>
                <a:spcPct val="108000"/>
              </a:lnSpc>
              <a:buNone/>
            </a:pPr>
            <a:r>
              <a:rPr lang="en-US" sz="1050" dirty="0" err="1">
                <a:solidFill>
                  <a:srgbClr val="CADCFC"/>
                </a:solidFill>
                <a:latin typeface="Courier New" pitchFamily="34" charset="0"/>
                <a:ea typeface="Courier New" pitchFamily="34" charset="-122"/>
                <a:cs typeface="Courier New" pitchFamily="34" charset="-120"/>
              </a:rPr>
              <a:t>mkdir</a:t>
            </a:r>
            <a:r>
              <a:rPr lang="en-US" sz="1050" dirty="0">
                <a:solidFill>
                  <a:srgbClr val="CADCFC"/>
                </a:solidFill>
                <a:latin typeface="Courier New" pitchFamily="34" charset="0"/>
                <a:ea typeface="Courier New" pitchFamily="34" charset="-122"/>
                <a:cs typeface="Courier New" pitchFamily="34" charset="-120"/>
              </a:rPr>
              <a:t> -p "$HOME/java"</a:t>
            </a: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cd "$HOME/java"</a:t>
            </a:r>
          </a:p>
          <a:p>
            <a:pPr marL="0" indent="0">
              <a:lnSpc>
                <a:spcPct val="108000"/>
              </a:lnSpc>
              <a:buNone/>
            </a:pPr>
            <a:endParaRPr lang="en-US" sz="1050" dirty="0">
              <a:solidFill>
                <a:srgbClr val="CADCFC"/>
              </a:solidFill>
              <a:latin typeface="Courier New" pitchFamily="34" charset="0"/>
              <a:ea typeface="Courier New" pitchFamily="34" charset="-122"/>
              <a:cs typeface="Courier New" pitchFamily="34" charset="-120"/>
            </a:endParaRPr>
          </a:p>
          <a:p>
            <a:pPr marL="0" indent="0">
              <a:lnSpc>
                <a:spcPct val="108000"/>
              </a:lnSpc>
              <a:buNone/>
            </a:pPr>
            <a:r>
              <a:rPr lang="en-US" sz="1050" dirty="0" err="1">
                <a:solidFill>
                  <a:srgbClr val="CADCFC"/>
                </a:solidFill>
                <a:latin typeface="Courier New" pitchFamily="34" charset="0"/>
                <a:ea typeface="Courier New" pitchFamily="34" charset="-122"/>
                <a:cs typeface="Courier New" pitchFamily="34" charset="-120"/>
              </a:rPr>
              <a:t>wget</a:t>
            </a:r>
            <a:r>
              <a:rPr lang="en-US" sz="1050" dirty="0">
                <a:solidFill>
                  <a:srgbClr val="CADCFC"/>
                </a:solidFill>
                <a:latin typeface="Courier New" pitchFamily="34" charset="0"/>
                <a:ea typeface="Courier New" pitchFamily="34" charset="-122"/>
                <a:cs typeface="Courier New" pitchFamily="34" charset="-120"/>
              </a:rPr>
              <a:t> -O jdk.tar.gz \</a:t>
            </a: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  "https://api.adoptium.net/v3/binary/latest/21/ga/</a:t>
            </a:r>
            <a:r>
              <a:rPr lang="en-US" sz="1050" dirty="0" err="1">
                <a:solidFill>
                  <a:srgbClr val="CADCFC"/>
                </a:solidFill>
                <a:latin typeface="Courier New" pitchFamily="34" charset="0"/>
                <a:ea typeface="Courier New" pitchFamily="34" charset="-122"/>
                <a:cs typeface="Courier New" pitchFamily="34" charset="-120"/>
              </a:rPr>
              <a:t>linux</a:t>
            </a:r>
            <a:r>
              <a:rPr lang="en-US" sz="1050" dirty="0">
                <a:solidFill>
                  <a:srgbClr val="CADCFC"/>
                </a:solidFill>
                <a:latin typeface="Courier New" pitchFamily="34" charset="0"/>
                <a:ea typeface="Courier New" pitchFamily="34" charset="-122"/>
                <a:cs typeface="Courier New" pitchFamily="34" charset="-120"/>
              </a:rPr>
              <a:t>/x64/</a:t>
            </a:r>
            <a:r>
              <a:rPr lang="en-US" sz="1050" dirty="0" err="1">
                <a:solidFill>
                  <a:srgbClr val="CADCFC"/>
                </a:solidFill>
                <a:latin typeface="Courier New" pitchFamily="34" charset="0"/>
                <a:ea typeface="Courier New" pitchFamily="34" charset="-122"/>
                <a:cs typeface="Courier New" pitchFamily="34" charset="-120"/>
              </a:rPr>
              <a:t>jdk</a:t>
            </a:r>
            <a:r>
              <a:rPr lang="en-US" sz="1050" dirty="0">
                <a:solidFill>
                  <a:srgbClr val="CADCFC"/>
                </a:solidFill>
                <a:latin typeface="Courier New" pitchFamily="34" charset="0"/>
                <a:ea typeface="Courier New" pitchFamily="34" charset="-122"/>
                <a:cs typeface="Courier New" pitchFamily="34" charset="-120"/>
              </a:rPr>
              <a:t>/hotspot/normal/eclipse"</a:t>
            </a:r>
          </a:p>
          <a:p>
            <a:pPr marL="0" indent="0">
              <a:lnSpc>
                <a:spcPct val="108000"/>
              </a:lnSpc>
              <a:buNone/>
            </a:pPr>
            <a:endParaRPr lang="en-US" sz="1050" dirty="0">
              <a:solidFill>
                <a:srgbClr val="CADCFC"/>
              </a:solidFill>
              <a:latin typeface="Courier New" pitchFamily="34" charset="0"/>
              <a:ea typeface="Courier New" pitchFamily="34" charset="-122"/>
              <a:cs typeface="Courier New" pitchFamily="34" charset="-120"/>
            </a:endParaRP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tar -</a:t>
            </a:r>
            <a:r>
              <a:rPr lang="en-US" sz="1050" dirty="0" err="1">
                <a:solidFill>
                  <a:srgbClr val="CADCFC"/>
                </a:solidFill>
                <a:latin typeface="Courier New" pitchFamily="34" charset="0"/>
                <a:ea typeface="Courier New" pitchFamily="34" charset="-122"/>
                <a:cs typeface="Courier New" pitchFamily="34" charset="-120"/>
              </a:rPr>
              <a:t>xzf</a:t>
            </a:r>
            <a:r>
              <a:rPr lang="en-US" sz="1050" dirty="0">
                <a:solidFill>
                  <a:srgbClr val="CADCFC"/>
                </a:solidFill>
                <a:latin typeface="Courier New" pitchFamily="34" charset="0"/>
                <a:ea typeface="Courier New" pitchFamily="34" charset="-122"/>
                <a:cs typeface="Courier New" pitchFamily="34" charset="-120"/>
              </a:rPr>
              <a:t> jdk.tar.gz</a:t>
            </a:r>
          </a:p>
          <a:p>
            <a:pPr marL="0" indent="0">
              <a:lnSpc>
                <a:spcPct val="108000"/>
              </a:lnSpc>
              <a:buNone/>
            </a:pPr>
            <a:endParaRPr lang="en-US" sz="1050" dirty="0">
              <a:solidFill>
                <a:srgbClr val="CADCFC"/>
              </a:solidFill>
              <a:latin typeface="Courier New" pitchFamily="34" charset="0"/>
              <a:ea typeface="Courier New" pitchFamily="34" charset="-122"/>
              <a:cs typeface="Courier New" pitchFamily="34" charset="-120"/>
            </a:endParaRP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rm jdk.tar.gz</a:t>
            </a:r>
          </a:p>
          <a:p>
            <a:pPr marL="0" indent="0">
              <a:lnSpc>
                <a:spcPct val="108000"/>
              </a:lnSpc>
              <a:buNone/>
            </a:pPr>
            <a:endParaRPr lang="en-US" sz="1050" dirty="0">
              <a:solidFill>
                <a:srgbClr val="CADCFC"/>
              </a:solidFill>
              <a:latin typeface="Courier New" pitchFamily="34" charset="0"/>
              <a:ea typeface="Courier New" pitchFamily="34" charset="-122"/>
              <a:cs typeface="Courier New" pitchFamily="34" charset="-120"/>
            </a:endParaRP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JDK_DIR=$(find "$HOME/java" -</a:t>
            </a:r>
            <a:r>
              <a:rPr lang="en-US" sz="1050" dirty="0" err="1">
                <a:solidFill>
                  <a:srgbClr val="CADCFC"/>
                </a:solidFill>
                <a:latin typeface="Courier New" pitchFamily="34" charset="0"/>
                <a:ea typeface="Courier New" pitchFamily="34" charset="-122"/>
                <a:cs typeface="Courier New" pitchFamily="34" charset="-120"/>
              </a:rPr>
              <a:t>maxdepth</a:t>
            </a:r>
            <a:r>
              <a:rPr lang="en-US" sz="1050" dirty="0">
                <a:solidFill>
                  <a:srgbClr val="CADCFC"/>
                </a:solidFill>
                <a:latin typeface="Courier New" pitchFamily="34" charset="0"/>
                <a:ea typeface="Courier New" pitchFamily="34" charset="-122"/>
                <a:cs typeface="Courier New" pitchFamily="34" charset="-120"/>
              </a:rPr>
              <a:t> 1 -type d -name "</a:t>
            </a:r>
            <a:r>
              <a:rPr lang="en-US" sz="1050" dirty="0" err="1">
                <a:solidFill>
                  <a:srgbClr val="CADCFC"/>
                </a:solidFill>
                <a:latin typeface="Courier New" pitchFamily="34" charset="0"/>
                <a:ea typeface="Courier New" pitchFamily="34" charset="-122"/>
                <a:cs typeface="Courier New" pitchFamily="34" charset="-120"/>
              </a:rPr>
              <a:t>jdk</a:t>
            </a:r>
            <a:r>
              <a:rPr lang="en-US" sz="1050" dirty="0">
                <a:solidFill>
                  <a:srgbClr val="CADCFC"/>
                </a:solidFill>
                <a:latin typeface="Courier New" pitchFamily="34" charset="0"/>
                <a:ea typeface="Courier New" pitchFamily="34" charset="-122"/>
                <a:cs typeface="Courier New" pitchFamily="34" charset="-120"/>
              </a:rPr>
              <a:t>-*" | head -n 1)</a:t>
            </a:r>
          </a:p>
          <a:p>
            <a:pPr marL="0" indent="0">
              <a:lnSpc>
                <a:spcPct val="108000"/>
              </a:lnSpc>
              <a:buNone/>
            </a:pPr>
            <a:endParaRPr lang="en-US" sz="1050" dirty="0">
              <a:solidFill>
                <a:srgbClr val="CADCFC"/>
              </a:solidFill>
              <a:latin typeface="Courier New" pitchFamily="34" charset="0"/>
              <a:ea typeface="Courier New" pitchFamily="34" charset="-122"/>
              <a:cs typeface="Courier New" pitchFamily="34" charset="-120"/>
            </a:endParaRP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echo "$JAVA_HOME"</a:t>
            </a:r>
          </a:p>
          <a:p>
            <a:pPr marL="0" indent="0">
              <a:lnSpc>
                <a:spcPct val="108000"/>
              </a:lnSpc>
              <a:buNone/>
            </a:pPr>
            <a:endParaRPr lang="en-US" sz="1050" dirty="0">
              <a:solidFill>
                <a:srgbClr val="CADCFC"/>
              </a:solidFill>
              <a:latin typeface="Courier New" pitchFamily="34" charset="0"/>
              <a:ea typeface="Courier New" pitchFamily="34" charset="-122"/>
              <a:cs typeface="Courier New" pitchFamily="34" charset="-120"/>
            </a:endParaRP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export JAVA_HOME="/</a:t>
            </a:r>
            <a:r>
              <a:rPr lang="en-US" sz="1050" dirty="0" err="1">
                <a:solidFill>
                  <a:srgbClr val="CADCFC"/>
                </a:solidFill>
                <a:latin typeface="Courier New" pitchFamily="34" charset="0"/>
                <a:ea typeface="Courier New" pitchFamily="34" charset="-122"/>
                <a:cs typeface="Courier New" pitchFamily="34" charset="-120"/>
              </a:rPr>
              <a:t>nfs</a:t>
            </a:r>
            <a:r>
              <a:rPr lang="en-US" sz="1050" dirty="0">
                <a:solidFill>
                  <a:srgbClr val="CADCFC"/>
                </a:solidFill>
                <a:latin typeface="Courier New" pitchFamily="34" charset="0"/>
                <a:ea typeface="Courier New" pitchFamily="34" charset="-122"/>
                <a:cs typeface="Courier New" pitchFamily="34" charset="-120"/>
              </a:rPr>
              <a:t>/homes/</a:t>
            </a:r>
            <a:r>
              <a:rPr lang="en-US" sz="1050" dirty="0" err="1">
                <a:solidFill>
                  <a:srgbClr val="CADCFC"/>
                </a:solidFill>
                <a:latin typeface="Courier New" pitchFamily="34" charset="0"/>
                <a:ea typeface="Courier New" pitchFamily="34" charset="-122"/>
                <a:cs typeface="Courier New" pitchFamily="34" charset="-120"/>
              </a:rPr>
              <a:t>cgatabaz</a:t>
            </a:r>
            <a:r>
              <a:rPr lang="en-US" sz="1050" dirty="0">
                <a:solidFill>
                  <a:srgbClr val="CADCFC"/>
                </a:solidFill>
                <a:latin typeface="Courier New" pitchFamily="34" charset="0"/>
                <a:ea typeface="Courier New" pitchFamily="34" charset="-122"/>
                <a:cs typeface="Courier New" pitchFamily="34" charset="-120"/>
              </a:rPr>
              <a:t>/java/jdk-21.0.12.1+1"</a:t>
            </a: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export PATH="$JAVA_HOME/bin:$PATH"</a:t>
            </a:r>
          </a:p>
          <a:p>
            <a:pPr marL="0" indent="0">
              <a:lnSpc>
                <a:spcPct val="108000"/>
              </a:lnSpc>
              <a:buNone/>
            </a:pPr>
            <a:endParaRPr lang="en-US" sz="1050" dirty="0">
              <a:solidFill>
                <a:srgbClr val="CADCFC"/>
              </a:solidFill>
              <a:latin typeface="Courier New" pitchFamily="34" charset="0"/>
              <a:ea typeface="Courier New" pitchFamily="34" charset="-122"/>
              <a:cs typeface="Courier New" pitchFamily="34" charset="-120"/>
            </a:endParaRPr>
          </a:p>
          <a:p>
            <a:pPr marL="0" indent="0">
              <a:lnSpc>
                <a:spcPct val="108000"/>
              </a:lnSpc>
              <a:buNone/>
            </a:pPr>
            <a:r>
              <a:rPr lang="en-US" sz="1050" dirty="0">
                <a:solidFill>
                  <a:srgbClr val="CADCFC"/>
                </a:solidFill>
                <a:latin typeface="Courier New" pitchFamily="34" charset="0"/>
                <a:ea typeface="Courier New" pitchFamily="34" charset="-122"/>
                <a:cs typeface="Courier New" pitchFamily="34" charset="-120"/>
              </a:rPr>
              <a:t>echo "$JAVA_HOME"</a:t>
            </a:r>
          </a:p>
          <a:p>
            <a:pPr marL="0" indent="0">
              <a:lnSpc>
                <a:spcPct val="108000"/>
              </a:lnSpc>
              <a:buNone/>
            </a:pPr>
            <a:endParaRPr lang="en-US" sz="1050" dirty="0">
              <a:solidFill>
                <a:srgbClr val="CADCFC"/>
              </a:solidFill>
              <a:latin typeface="Courier New" pitchFamily="34" charset="0"/>
              <a:ea typeface="Courier New" pitchFamily="34" charset="-122"/>
              <a:cs typeface="Courier New" pitchFamily="34" charset="-120"/>
            </a:endParaRPr>
          </a:p>
        </p:txBody>
      </p:sp>
      <p:sp>
        <p:nvSpPr>
          <p:cNvPr id="7" name="Shape 5"/>
          <p:cNvSpPr/>
          <p:nvPr/>
        </p:nvSpPr>
        <p:spPr>
          <a:xfrm>
            <a:off x="548640" y="6400800"/>
            <a:ext cx="11064240" cy="384048"/>
          </a:xfrm>
          <a:prstGeom prst="roundRect">
            <a:avLst>
              <a:gd name="adj" fmla="val 14286"/>
            </a:avLst>
          </a:prstGeom>
          <a:solidFill>
            <a:srgbClr val="1E2761"/>
          </a:solidFill>
          <a:ln/>
        </p:spPr>
        <p:txBody>
          <a:bodyPr/>
          <a:lstStyle/>
          <a:p>
            <a:endParaRPr lang="en-US"/>
          </a:p>
        </p:txBody>
      </p:sp>
      <p:sp>
        <p:nvSpPr>
          <p:cNvPr id="8" name="Text 6"/>
          <p:cNvSpPr txBox="1"/>
          <p:nvPr/>
        </p:nvSpPr>
        <p:spPr>
          <a:xfrm>
            <a:off x="777240" y="6400800"/>
            <a:ext cx="10607040" cy="384048"/>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Have sudo instead? sudo apt update &amp;&amp; sudo apt install openjdk-21-jdk -y does the same thing in one line.</a:t>
            </a:r>
            <a:endParaRPr lang="en-US" sz="1050" dirty="0"/>
          </a:p>
        </p:txBody>
      </p:sp>
      <p:sp>
        <p:nvSpPr>
          <p:cNvPr id="9" name="Text 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LIVE DEMO — SETUP</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Setting Up VS Code for Java</a:t>
            </a:r>
            <a:endParaRPr lang="en-US" sz="3200" dirty="0"/>
          </a:p>
        </p:txBody>
      </p:sp>
      <p:sp>
        <p:nvSpPr>
          <p:cNvPr id="4" name="Text 2"/>
          <p:cNvSpPr txBox="1"/>
          <p:nvPr/>
        </p:nvSpPr>
        <p:spPr>
          <a:xfrm>
            <a:off x="548640" y="1691640"/>
            <a:ext cx="10881360" cy="192024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400" dirty="0">
                <a:solidFill>
                  <a:srgbClr val="2A2E45"/>
                </a:solidFill>
                <a:latin typeface="Calibri" pitchFamily="34" charset="0"/>
                <a:ea typeface="Calibri" pitchFamily="34" charset="-122"/>
                <a:cs typeface="Calibri" pitchFamily="34" charset="-120"/>
              </a:rPr>
              <a:t>VS Code doesn't understand Java out of the box -- one extension pack adds it all: syntax highlighting, debugging, and a Run button.</a:t>
            </a:r>
            <a:endParaRPr lang="en-US" sz="1400" dirty="0"/>
          </a:p>
          <a:p>
            <a:pPr marL="342900" indent="-342900">
              <a:lnSpc>
                <a:spcPct val="125000"/>
              </a:lnSpc>
              <a:spcAft>
                <a:spcPts val="1200"/>
              </a:spcAft>
              <a:buSzPct val="100000"/>
              <a:buChar char="•"/>
            </a:pPr>
            <a:r>
              <a:rPr lang="en-US" sz="1400" dirty="0">
                <a:solidFill>
                  <a:srgbClr val="2A2E45"/>
                </a:solidFill>
                <a:latin typeface="Calibri" pitchFamily="34" charset="0"/>
                <a:ea typeface="Calibri" pitchFamily="34" charset="-122"/>
                <a:cs typeface="Calibri" pitchFamily="34" charset="-120"/>
              </a:rPr>
              <a:t>Open VS Code and click the Extensions icon in the left sidebar -- the one that looks like four squares.</a:t>
            </a:r>
            <a:endParaRPr lang="en-US" sz="1400" dirty="0"/>
          </a:p>
          <a:p>
            <a:pPr marL="342900" indent="-342900">
              <a:lnSpc>
                <a:spcPct val="125000"/>
              </a:lnSpc>
              <a:spcAft>
                <a:spcPts val="1200"/>
              </a:spcAft>
              <a:buSzPct val="100000"/>
              <a:buChar char="•"/>
            </a:pPr>
            <a:r>
              <a:rPr lang="en-US" sz="1400" dirty="0">
                <a:solidFill>
                  <a:srgbClr val="2A2E45"/>
                </a:solidFill>
                <a:latin typeface="Calibri" pitchFamily="34" charset="0"/>
                <a:ea typeface="Calibri" pitchFamily="34" charset="-122"/>
                <a:cs typeface="Calibri" pitchFamily="34" charset="-120"/>
              </a:rPr>
              <a:t>Search for "Extension Pack for Java" and install the one published by Microsoft.</a:t>
            </a:r>
            <a:endParaRPr lang="en-US" sz="1400" dirty="0"/>
          </a:p>
        </p:txBody>
      </p:sp>
      <p:sp>
        <p:nvSpPr>
          <p:cNvPr id="5" name="Shape 3"/>
          <p:cNvSpPr/>
          <p:nvPr/>
        </p:nvSpPr>
        <p:spPr>
          <a:xfrm>
            <a:off x="548640" y="3840480"/>
            <a:ext cx="10881360" cy="777240"/>
          </a:xfrm>
          <a:prstGeom prst="roundRect">
            <a:avLst>
              <a:gd name="adj" fmla="val 7059"/>
            </a:avLst>
          </a:prstGeom>
          <a:solidFill>
            <a:srgbClr val="F4F6FB"/>
          </a:solidFill>
          <a:ln/>
          <a:effectLst>
            <a:outerShdw blurRad="76200" dist="25400" dir="5400000" algn="bl" rotWithShape="0">
              <a:srgbClr val="6B7280">
                <a:alpha val="18000"/>
              </a:srgbClr>
            </a:outerShdw>
          </a:effectLst>
        </p:spPr>
        <p:txBody>
          <a:bodyPr/>
          <a:lstStyle/>
          <a:p>
            <a:endParaRPr lang="en-US"/>
          </a:p>
        </p:txBody>
      </p:sp>
      <p:sp>
        <p:nvSpPr>
          <p:cNvPr id="6" name="Text 4"/>
          <p:cNvSpPr txBox="1"/>
          <p:nvPr/>
        </p:nvSpPr>
        <p:spPr>
          <a:xfrm>
            <a:off x="868680" y="3840480"/>
            <a:ext cx="7772400" cy="777240"/>
          </a:xfrm>
          <a:prstGeom prst="rect">
            <a:avLst/>
          </a:prstGeom>
          <a:noFill/>
          <a:ln/>
        </p:spPr>
        <p:txBody>
          <a:bodyPr wrap="square" lIns="0" tIns="0" rIns="0" bIns="0" rtlCol="0" anchor="ctr"/>
          <a:lstStyle/>
          <a:p>
            <a:pPr marL="0" indent="0">
              <a:buNone/>
            </a:pPr>
            <a:r>
              <a:rPr lang="en-US" sz="1500" dirty="0">
                <a:solidFill>
                  <a:srgbClr val="2A2E45"/>
                </a:solidFill>
                <a:latin typeface="Calibri" pitchFamily="34" charset="0"/>
                <a:ea typeface="Calibri" pitchFamily="34" charset="-122"/>
                <a:cs typeface="Calibri" pitchFamily="34" charset="-120"/>
              </a:rPr>
              <a:t>🔍  Extension Pack for Java</a:t>
            </a:r>
            <a:endParaRPr lang="en-US" sz="1500" dirty="0"/>
          </a:p>
        </p:txBody>
      </p:sp>
      <p:sp>
        <p:nvSpPr>
          <p:cNvPr id="7" name="Shape 5"/>
          <p:cNvSpPr/>
          <p:nvPr/>
        </p:nvSpPr>
        <p:spPr>
          <a:xfrm>
            <a:off x="9692640" y="4041648"/>
            <a:ext cx="1371600" cy="384048"/>
          </a:xfrm>
          <a:prstGeom prst="roundRect">
            <a:avLst>
              <a:gd name="adj" fmla="val 50000"/>
            </a:avLst>
          </a:prstGeom>
          <a:solidFill>
            <a:srgbClr val="007ACC"/>
          </a:solidFill>
          <a:ln/>
        </p:spPr>
        <p:txBody>
          <a:bodyPr/>
          <a:lstStyle/>
          <a:p>
            <a:endParaRPr lang="en-US"/>
          </a:p>
        </p:txBody>
      </p:sp>
      <p:sp>
        <p:nvSpPr>
          <p:cNvPr id="8" name="Text 6"/>
          <p:cNvSpPr txBox="1"/>
          <p:nvPr/>
        </p:nvSpPr>
        <p:spPr>
          <a:xfrm>
            <a:off x="9738360" y="4041648"/>
            <a:ext cx="128016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Install</a:t>
            </a:r>
            <a:endParaRPr lang="en-US" sz="1200" dirty="0"/>
          </a:p>
        </p:txBody>
      </p:sp>
      <p:sp>
        <p:nvSpPr>
          <p:cNvPr id="9" name="Text 7"/>
          <p:cNvSpPr txBox="1"/>
          <p:nvPr/>
        </p:nvSpPr>
        <p:spPr>
          <a:xfrm>
            <a:off x="868680" y="4709160"/>
            <a:ext cx="77724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Published by Microsoft  ✓</a:t>
            </a:r>
            <a:endParaRPr lang="en-US" sz="1200" dirty="0"/>
          </a:p>
        </p:txBody>
      </p:sp>
      <p:sp>
        <p:nvSpPr>
          <p:cNvPr id="10" name="Shape 8"/>
          <p:cNvSpPr/>
          <p:nvPr/>
        </p:nvSpPr>
        <p:spPr>
          <a:xfrm>
            <a:off x="548640" y="5349240"/>
            <a:ext cx="10881360" cy="777240"/>
          </a:xfrm>
          <a:prstGeom prst="roundRect">
            <a:avLst>
              <a:gd name="adj" fmla="val 7059"/>
            </a:avLst>
          </a:prstGeom>
          <a:solidFill>
            <a:srgbClr val="1E2761"/>
          </a:solidFill>
          <a:ln/>
        </p:spPr>
        <p:txBody>
          <a:bodyPr/>
          <a:lstStyle/>
          <a:p>
            <a:endParaRPr lang="en-US"/>
          </a:p>
        </p:txBody>
      </p:sp>
      <p:sp>
        <p:nvSpPr>
          <p:cNvPr id="11" name="Text 9"/>
          <p:cNvSpPr txBox="1"/>
          <p:nvPr/>
        </p:nvSpPr>
        <p:spPr>
          <a:xfrm>
            <a:off x="777240" y="5349240"/>
            <a:ext cx="10424160" cy="77724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Once it's installed, VS Code shows a Run button right above main() -- click it to compile and run without touching the terminal.</a:t>
            </a:r>
            <a:endParaRPr lang="en-US" sz="1300" dirty="0"/>
          </a:p>
        </p:txBody>
      </p:sp>
      <p:sp>
        <p:nvSpPr>
          <p:cNvPr id="12" name="Text 10"/>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LIVE DEMO — RUN IT</a:t>
            </a:r>
            <a:endParaRPr lang="en-US" sz="1200" dirty="0"/>
          </a:p>
        </p:txBody>
      </p:sp>
      <p:sp>
        <p:nvSpPr>
          <p:cNvPr id="3" name="Text 1"/>
          <p:cNvSpPr txBox="1"/>
          <p:nvPr/>
        </p:nvSpPr>
        <p:spPr>
          <a:xfrm>
            <a:off x="548640" y="658368"/>
            <a:ext cx="1051560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Run It Yourself</a:t>
            </a:r>
            <a:endParaRPr lang="en-US" sz="3200" dirty="0"/>
          </a:p>
        </p:txBody>
      </p:sp>
      <p:sp>
        <p:nvSpPr>
          <p:cNvPr id="4" name="Text 2"/>
          <p:cNvSpPr txBox="1"/>
          <p:nvPr/>
        </p:nvSpPr>
        <p:spPr>
          <a:xfrm>
            <a:off x="548640" y="1874520"/>
            <a:ext cx="5120640" cy="292608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400" dirty="0">
                <a:solidFill>
                  <a:srgbClr val="2A2E45"/>
                </a:solidFill>
                <a:latin typeface="Calibri" pitchFamily="34" charset="0"/>
                <a:ea typeface="Calibri" pitchFamily="34" charset="-122"/>
                <a:cs typeface="Calibri" pitchFamily="34" charset="-120"/>
              </a:rPr>
              <a:t>https://github.com/afzal-1002/OOP_JAVA</a:t>
            </a:r>
          </a:p>
          <a:p>
            <a:pPr marL="342900" indent="-342900">
              <a:lnSpc>
                <a:spcPct val="125000"/>
              </a:lnSpc>
              <a:spcAft>
                <a:spcPts val="1200"/>
              </a:spcAft>
              <a:buSzPct val="100000"/>
              <a:buChar char="•"/>
            </a:pPr>
            <a:r>
              <a:rPr lang="en-US" sz="1400" dirty="0">
                <a:solidFill>
                  <a:srgbClr val="2A2E45"/>
                </a:solidFill>
                <a:latin typeface="Calibri" pitchFamily="34" charset="0"/>
                <a:ea typeface="Calibri" pitchFamily="34" charset="-122"/>
                <a:cs typeface="Calibri" pitchFamily="34" charset="-120"/>
              </a:rPr>
              <a:t>A complete, ready-to-compile Java project comes with this deck.</a:t>
            </a:r>
            <a:endParaRPr lang="en-US" sz="1400" dirty="0"/>
          </a:p>
          <a:p>
            <a:pPr marL="342900" indent="-342900">
              <a:lnSpc>
                <a:spcPct val="125000"/>
              </a:lnSpc>
              <a:spcAft>
                <a:spcPts val="1200"/>
              </a:spcAft>
              <a:buSzPct val="100000"/>
              <a:buChar char="•"/>
            </a:pPr>
            <a:r>
              <a:rPr lang="en-US" sz="1400" dirty="0">
                <a:solidFill>
                  <a:srgbClr val="2A2E45"/>
                </a:solidFill>
                <a:latin typeface="Calibri" pitchFamily="34" charset="0"/>
                <a:ea typeface="Calibri" pitchFamily="34" charset="-122"/>
                <a:cs typeface="Calibri" pitchFamily="34" charset="-120"/>
              </a:rPr>
              <a:t>Get it either way: clone your Git repo, or unzip the file that came with the deck.</a:t>
            </a:r>
            <a:endParaRPr lang="en-US" sz="1400" dirty="0"/>
          </a:p>
          <a:p>
            <a:pPr marL="342900" indent="-342900">
              <a:lnSpc>
                <a:spcPct val="125000"/>
              </a:lnSpc>
              <a:spcAft>
                <a:spcPts val="1200"/>
              </a:spcAft>
              <a:buSzPct val="100000"/>
              <a:buChar char="•"/>
            </a:pPr>
            <a:r>
              <a:rPr lang="en-US" sz="1400" dirty="0">
                <a:solidFill>
                  <a:srgbClr val="2A2E45"/>
                </a:solidFill>
                <a:latin typeface="Calibri" pitchFamily="34" charset="0"/>
                <a:ea typeface="Calibri" pitchFamily="34" charset="-122"/>
                <a:cs typeface="Calibri" pitchFamily="34" charset="-120"/>
              </a:rPr>
              <a:t>Code lives under src/main/java -- the standard layout real Maven/Gradle projects use.</a:t>
            </a:r>
            <a:endParaRPr lang="en-US" sz="1400" dirty="0"/>
          </a:p>
          <a:p>
            <a:pPr marL="342900" indent="-342900">
              <a:lnSpc>
                <a:spcPct val="125000"/>
              </a:lnSpc>
              <a:spcAft>
                <a:spcPts val="1200"/>
              </a:spcAft>
              <a:buSzPct val="100000"/>
              <a:buChar char="•"/>
            </a:pPr>
            <a:r>
              <a:rPr lang="en-US" sz="1400" dirty="0">
                <a:solidFill>
                  <a:srgbClr val="2A2E45"/>
                </a:solidFill>
                <a:latin typeface="Calibri" pitchFamily="34" charset="0"/>
                <a:ea typeface="Calibri" pitchFamily="34" charset="-122"/>
                <a:cs typeface="Calibri" pitchFamily="34" charset="-120"/>
              </a:rPr>
              <a:t>Main.java runs all four pillars back to back and prints the result.</a:t>
            </a:r>
            <a:endParaRPr lang="en-US" sz="1400" dirty="0"/>
          </a:p>
        </p:txBody>
      </p:sp>
      <p:sp>
        <p:nvSpPr>
          <p:cNvPr id="7" name="Shape 5"/>
          <p:cNvSpPr/>
          <p:nvPr/>
        </p:nvSpPr>
        <p:spPr>
          <a:xfrm>
            <a:off x="5989320" y="1828800"/>
            <a:ext cx="5669280" cy="4206240"/>
          </a:xfrm>
          <a:prstGeom prst="roundRect">
            <a:avLst>
              <a:gd name="adj" fmla="val 1739"/>
            </a:avLst>
          </a:prstGeom>
          <a:solidFill>
            <a:srgbClr val="15193B"/>
          </a:solidFill>
          <a:ln/>
          <a:effectLst>
            <a:outerShdw blurRad="101600" dist="38100" dir="5400000" algn="bl" rotWithShape="0">
              <a:srgbClr val="000000">
                <a:alpha val="25000"/>
              </a:srgbClr>
            </a:outerShdw>
          </a:effectLst>
        </p:spPr>
        <p:txBody>
          <a:bodyPr/>
          <a:lstStyle/>
          <a:p>
            <a:endParaRPr lang="en-US"/>
          </a:p>
        </p:txBody>
      </p:sp>
      <p:sp>
        <p:nvSpPr>
          <p:cNvPr id="8" name="Text 6"/>
          <p:cNvSpPr txBox="1"/>
          <p:nvPr/>
        </p:nvSpPr>
        <p:spPr>
          <a:xfrm>
            <a:off x="6245352" y="2029968"/>
            <a:ext cx="5157216" cy="3803904"/>
          </a:xfrm>
          <a:prstGeom prst="rect">
            <a:avLst/>
          </a:prstGeom>
          <a:noFill/>
          <a:ln/>
        </p:spPr>
        <p:txBody>
          <a:bodyPr wrap="square" lIns="0" tIns="0" rIns="0" bIns="0" rtlCol="0" anchor="t"/>
          <a:lstStyle/>
          <a:p>
            <a:pPr marL="0" indent="0">
              <a:lnSpc>
                <a:spcPct val="125000"/>
              </a:lnSpc>
              <a:buNone/>
            </a:pPr>
            <a:endParaRPr lang="en-US" sz="1150" dirty="0">
              <a:solidFill>
                <a:srgbClr val="CADCFC"/>
              </a:solidFill>
              <a:latin typeface="Courier New" pitchFamily="34" charset="0"/>
              <a:ea typeface="Courier New" pitchFamily="34" charset="-122"/>
              <a:cs typeface="Courier New" pitchFamily="34" charset="-120"/>
            </a:endParaRPr>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Open VS Code :</a:t>
            </a:r>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Click the Extensions icon on the left (the four squares).</a:t>
            </a:r>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Search for Extension Pack for Java.</a:t>
            </a:r>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Install the extension published by Microsoft.</a:t>
            </a:r>
            <a:br>
              <a:rPr lang="en-US" sz="1150" dirty="0">
                <a:solidFill>
                  <a:srgbClr val="CADCFC"/>
                </a:solidFill>
                <a:latin typeface="Courier New" pitchFamily="34" charset="0"/>
                <a:ea typeface="Courier New" pitchFamily="34" charset="-122"/>
                <a:cs typeface="Courier New" pitchFamily="34" charset="-120"/>
              </a:rPr>
            </a:br>
            <a:br>
              <a:rPr lang="en-US" sz="1150" dirty="0">
                <a:solidFill>
                  <a:srgbClr val="CADCFC"/>
                </a:solidFill>
                <a:latin typeface="Courier New" pitchFamily="34" charset="0"/>
                <a:ea typeface="Courier New" pitchFamily="34" charset="-122"/>
                <a:cs typeface="Courier New" pitchFamily="34" charset="-120"/>
              </a:rPr>
            </a:br>
            <a:br>
              <a:rPr lang="en-US" sz="1150" dirty="0">
                <a:solidFill>
                  <a:srgbClr val="CADCFC"/>
                </a:solidFill>
                <a:latin typeface="Courier New" pitchFamily="34" charset="0"/>
                <a:ea typeface="Courier New" pitchFamily="34" charset="-122"/>
                <a:cs typeface="Courier New" pitchFamily="34" charset="-120"/>
              </a:rPr>
            </a:br>
            <a:r>
              <a:rPr lang="en-US" sz="1150" dirty="0">
                <a:solidFill>
                  <a:srgbClr val="CADCFC"/>
                </a:solidFill>
                <a:latin typeface="Courier New" pitchFamily="34" charset="0"/>
                <a:ea typeface="Courier New" pitchFamily="34" charset="-122"/>
                <a:cs typeface="Courier New" pitchFamily="34" charset="-120"/>
              </a:rPr>
              <a:t>git clone </a:t>
            </a:r>
            <a:r>
              <a:rPr lang="en-US" sz="1150" dirty="0">
                <a:solidFill>
                  <a:srgbClr val="CADCFC"/>
                </a:solidFill>
                <a:latin typeface="Courier New" pitchFamily="34" charset="0"/>
                <a:ea typeface="Courier New" pitchFamily="34" charset="-122"/>
                <a:cs typeface="Courier New" pitchFamily="34" charset="-120"/>
                <a:hlinkClick r:id="rId3"/>
              </a:rPr>
              <a:t>https://github.com/afzal-1002/OOP_JAVA</a:t>
            </a:r>
            <a:endParaRPr lang="en-US" sz="1150" dirty="0">
              <a:solidFill>
                <a:srgbClr val="CADCFC"/>
              </a:solidFill>
              <a:latin typeface="Courier New" pitchFamily="34" charset="0"/>
              <a:ea typeface="Courier New" pitchFamily="34" charset="-122"/>
              <a:cs typeface="Courier New" pitchFamily="34" charset="-120"/>
            </a:endParaRPr>
          </a:p>
          <a:p>
            <a:pPr marL="0" indent="0">
              <a:lnSpc>
                <a:spcPct val="125000"/>
              </a:lnSpc>
              <a:buNone/>
            </a:pPr>
            <a:br>
              <a:rPr lang="en-US" sz="1150" dirty="0">
                <a:solidFill>
                  <a:srgbClr val="CADCFC"/>
                </a:solidFill>
                <a:latin typeface="Courier New" pitchFamily="34" charset="0"/>
                <a:ea typeface="Courier New" pitchFamily="34" charset="-122"/>
                <a:cs typeface="Courier New" pitchFamily="34" charset="-120"/>
              </a:rPr>
            </a:br>
            <a:br>
              <a:rPr lang="en-US" sz="1150" dirty="0">
                <a:solidFill>
                  <a:srgbClr val="CADCFC"/>
                </a:solidFill>
                <a:latin typeface="Courier New" pitchFamily="34" charset="0"/>
                <a:ea typeface="Courier New" pitchFamily="34" charset="-122"/>
                <a:cs typeface="Courier New" pitchFamily="34" charset="-120"/>
              </a:rPr>
            </a:br>
            <a:r>
              <a:rPr lang="en-US" sz="1150" dirty="0">
                <a:solidFill>
                  <a:srgbClr val="CADCFC"/>
                </a:solidFill>
                <a:latin typeface="Courier New" pitchFamily="34" charset="0"/>
                <a:ea typeface="Courier New" pitchFamily="34" charset="-122"/>
                <a:cs typeface="Courier New" pitchFamily="34" charset="-120"/>
              </a:rPr>
              <a:t>$ git clone &lt;your-repo-</a:t>
            </a:r>
            <a:r>
              <a:rPr lang="en-US" sz="1150" dirty="0" err="1">
                <a:solidFill>
                  <a:srgbClr val="CADCFC"/>
                </a:solidFill>
                <a:latin typeface="Courier New" pitchFamily="34" charset="0"/>
                <a:ea typeface="Courier New" pitchFamily="34" charset="-122"/>
                <a:cs typeface="Courier New" pitchFamily="34" charset="-120"/>
              </a:rPr>
              <a:t>url</a:t>
            </a:r>
            <a:r>
              <a:rPr lang="en-US" sz="1150" dirty="0">
                <a:solidFill>
                  <a:srgbClr val="CADCFC"/>
                </a:solidFill>
                <a:latin typeface="Courier New" pitchFamily="34" charset="0"/>
                <a:ea typeface="Courier New" pitchFamily="34" charset="-122"/>
                <a:cs typeface="Courier New" pitchFamily="34" charset="-120"/>
              </a:rPr>
              <a:t>&gt;   # or unzip the .zip</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cd */src/main/java</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javac *.java</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java Main</a:t>
            </a:r>
            <a:endParaRPr lang="en-US" sz="1150" dirty="0"/>
          </a:p>
          <a:p>
            <a:pPr marL="0" indent="0">
              <a:lnSpc>
                <a:spcPct val="125000"/>
              </a:lnSpc>
              <a:buNone/>
            </a:pPr>
            <a:r>
              <a:rPr lang="en-US" sz="1150" dirty="0">
                <a:solidFill>
                  <a:srgbClr val="CADCFC"/>
                </a:solidFill>
                <a:latin typeface="Courier New" pitchFamily="34" charset="0"/>
                <a:ea typeface="Courier New" pitchFamily="34" charset="-122"/>
                <a:cs typeface="Courier New" pitchFamily="34" charset="-120"/>
              </a:rPr>
              <a:t> </a:t>
            </a:r>
            <a:endParaRPr lang="en-US" sz="1150" dirty="0"/>
          </a:p>
        </p:txBody>
      </p:sp>
      <p:sp>
        <p:nvSpPr>
          <p:cNvPr id="9" name="Text 7"/>
          <p:cNvSpPr txBox="1"/>
          <p:nvPr/>
        </p:nvSpPr>
        <p:spPr>
          <a:xfrm>
            <a:off x="11365992" y="6400800"/>
            <a:ext cx="548640" cy="27432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5193B"/>
          </a:solidFill>
          <a:ln/>
        </p:spPr>
        <p:txBody>
          <a:bodyPr/>
          <a:lstStyle/>
          <a:p>
            <a:endParaRPr lang="en-US"/>
          </a:p>
        </p:txBody>
      </p:sp>
      <p:sp>
        <p:nvSpPr>
          <p:cNvPr id="3" name="Text 1"/>
          <p:cNvSpPr txBox="1"/>
          <p:nvPr/>
        </p:nvSpPr>
        <p:spPr>
          <a:xfrm>
            <a:off x="548640" y="502920"/>
            <a:ext cx="9144000" cy="320040"/>
          </a:xfrm>
          <a:prstGeom prst="rect">
            <a:avLst/>
          </a:prstGeom>
          <a:noFill/>
          <a:ln/>
        </p:spPr>
        <p:txBody>
          <a:bodyPr wrap="square" lIns="0" tIns="0" rIns="0" bIns="0" rtlCol="0" anchor="ctr"/>
          <a:lstStyle/>
          <a:p>
            <a:pPr marL="0" indent="0">
              <a:buNone/>
            </a:pPr>
            <a:r>
              <a:rPr lang="en-US" sz="1200" b="1" kern="0" spc="200" dirty="0">
                <a:solidFill>
                  <a:srgbClr val="F2A65A"/>
                </a:solidFill>
                <a:latin typeface="Calibri" pitchFamily="34" charset="0"/>
                <a:ea typeface="Calibri" pitchFamily="34" charset="-122"/>
                <a:cs typeface="Calibri" pitchFamily="34" charset="-120"/>
              </a:rPr>
              <a:t>KEY TAKEAWAYS</a:t>
            </a:r>
            <a:endParaRPr lang="en-US" sz="1200" dirty="0"/>
          </a:p>
        </p:txBody>
      </p:sp>
      <p:sp>
        <p:nvSpPr>
          <p:cNvPr id="4" name="Text 2"/>
          <p:cNvSpPr txBox="1"/>
          <p:nvPr/>
        </p:nvSpPr>
        <p:spPr>
          <a:xfrm>
            <a:off x="548640" y="804672"/>
            <a:ext cx="91440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to Remember</a:t>
            </a:r>
            <a:endParaRPr lang="en-US" sz="3200" dirty="0"/>
          </a:p>
        </p:txBody>
      </p:sp>
      <p:sp>
        <p:nvSpPr>
          <p:cNvPr id="5" name="Text 3"/>
          <p:cNvSpPr txBox="1"/>
          <p:nvPr/>
        </p:nvSpPr>
        <p:spPr>
          <a:xfrm>
            <a:off x="594360" y="1828800"/>
            <a:ext cx="10881360" cy="4206240"/>
          </a:xfrm>
          <a:prstGeom prst="rect">
            <a:avLst/>
          </a:prstGeom>
          <a:noFill/>
          <a:ln/>
        </p:spPr>
        <p:txBody>
          <a:bodyPr wrap="square" lIns="0" tIns="0" rIns="0" bIns="0" rtlCol="0" anchor="ctr"/>
          <a:lstStyle/>
          <a:p>
            <a:pPr marL="342900" indent="-342900">
              <a:lnSpc>
                <a:spcPct val="130000"/>
              </a:lnSpc>
              <a:spcAft>
                <a:spcPts val="1600"/>
              </a:spcAft>
              <a:buSzPct val="100000"/>
              <a:buChar char="•"/>
            </a:pPr>
            <a:r>
              <a:rPr lang="en-US" sz="1650" dirty="0">
                <a:solidFill>
                  <a:srgbClr val="FFFFFF"/>
                </a:solidFill>
                <a:latin typeface="Calibri" pitchFamily="34" charset="0"/>
                <a:ea typeface="Calibri" pitchFamily="34" charset="-122"/>
                <a:cs typeface="Calibri" pitchFamily="34" charset="-120"/>
              </a:rPr>
              <a:t>Classes, interfaces, and abstract classes are the vocabulary everything else is built from.</a:t>
            </a:r>
            <a:endParaRPr lang="en-US" sz="1650" dirty="0"/>
          </a:p>
          <a:p>
            <a:pPr marL="342900" indent="-342900">
              <a:lnSpc>
                <a:spcPct val="130000"/>
              </a:lnSpc>
              <a:spcAft>
                <a:spcPts val="1600"/>
              </a:spcAft>
              <a:buSzPct val="100000"/>
              <a:buChar char="•"/>
            </a:pPr>
            <a:r>
              <a:rPr lang="en-US" sz="1650" dirty="0">
                <a:solidFill>
                  <a:srgbClr val="CADCFC"/>
                </a:solidFill>
                <a:latin typeface="Calibri" pitchFamily="34" charset="0"/>
                <a:ea typeface="Calibri" pitchFamily="34" charset="-122"/>
                <a:cs typeface="Calibri" pitchFamily="34" charset="-120"/>
              </a:rPr>
              <a:t>Encapsulation protects an object's data behind methods it controls.</a:t>
            </a:r>
            <a:endParaRPr lang="en-US" sz="1650" dirty="0"/>
          </a:p>
          <a:p>
            <a:pPr marL="342900" indent="-342900">
              <a:lnSpc>
                <a:spcPct val="130000"/>
              </a:lnSpc>
              <a:spcAft>
                <a:spcPts val="1600"/>
              </a:spcAft>
              <a:buSzPct val="100000"/>
              <a:buChar char="•"/>
            </a:pPr>
            <a:r>
              <a:rPr lang="en-US" sz="1650" dirty="0">
                <a:solidFill>
                  <a:srgbClr val="FFFFFF"/>
                </a:solidFill>
                <a:latin typeface="Calibri" pitchFamily="34" charset="0"/>
                <a:ea typeface="Calibri" pitchFamily="34" charset="-122"/>
                <a:cs typeface="Calibri" pitchFamily="34" charset="-120"/>
              </a:rPr>
              <a:t>Inheritance reuses code — but a class can extend only one parent; interfaces fill the gap.</a:t>
            </a:r>
            <a:endParaRPr lang="en-US" sz="1650" dirty="0"/>
          </a:p>
          <a:p>
            <a:pPr marL="342900" indent="-342900">
              <a:lnSpc>
                <a:spcPct val="130000"/>
              </a:lnSpc>
              <a:spcAft>
                <a:spcPts val="1600"/>
              </a:spcAft>
              <a:buSzPct val="100000"/>
              <a:buChar char="•"/>
            </a:pPr>
            <a:r>
              <a:rPr lang="en-US" sz="1650" dirty="0">
                <a:solidFill>
                  <a:srgbClr val="CADCFC"/>
                </a:solidFill>
                <a:latin typeface="Calibri" pitchFamily="34" charset="0"/>
                <a:ea typeface="Calibri" pitchFamily="34" charset="-122"/>
                <a:cs typeface="Calibri" pitchFamily="34" charset="-120"/>
              </a:rPr>
              <a:t>Reference type limits which methods you can call; object type decides which version actually runs.</a:t>
            </a:r>
            <a:endParaRPr lang="en-US" sz="1650" dirty="0"/>
          </a:p>
          <a:p>
            <a:pPr marL="342900" indent="-342900">
              <a:lnSpc>
                <a:spcPct val="130000"/>
              </a:lnSpc>
              <a:spcAft>
                <a:spcPts val="1600"/>
              </a:spcAft>
              <a:buSzPct val="100000"/>
              <a:buChar char="•"/>
            </a:pPr>
            <a:r>
              <a:rPr lang="en-US" sz="1650" dirty="0">
                <a:solidFill>
                  <a:srgbClr val="FFFFFF"/>
                </a:solidFill>
                <a:latin typeface="Calibri" pitchFamily="34" charset="0"/>
                <a:ea typeface="Calibri" pitchFamily="34" charset="-122"/>
                <a:cs typeface="Calibri" pitchFamily="34" charset="-120"/>
              </a:rPr>
              <a:t>Upcasting is automatic; downcasting needs a cast, and is checked again at runtime.</a:t>
            </a:r>
            <a:endParaRPr lang="en-US" sz="1650" dirty="0"/>
          </a:p>
          <a:p>
            <a:pPr marL="342900" indent="-342900">
              <a:lnSpc>
                <a:spcPct val="130000"/>
              </a:lnSpc>
              <a:spcAft>
                <a:spcPts val="1600"/>
              </a:spcAft>
              <a:buSzPct val="100000"/>
              <a:buChar char="•"/>
            </a:pPr>
            <a:r>
              <a:rPr lang="en-US" sz="1650" dirty="0">
                <a:solidFill>
                  <a:srgbClr val="CADCFC"/>
                </a:solidFill>
                <a:latin typeface="Calibri" pitchFamily="34" charset="0"/>
                <a:ea typeface="Calibri" pitchFamily="34" charset="-122"/>
                <a:cs typeface="Calibri" pitchFamily="34" charset="-120"/>
              </a:rPr>
              <a:t>Polymorphism + abstraction let you write code against the contract, not the implementation detail.</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4016</Words>
  <Application>Microsoft Office PowerPoint</Application>
  <PresentationFormat>Widescreen</PresentationFormat>
  <Paragraphs>645</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Muhammad Afzal</cp:lastModifiedBy>
  <cp:revision>13</cp:revision>
  <dcterms:created xsi:type="dcterms:W3CDTF">2026-09-16T10:04:03Z</dcterms:created>
  <dcterms:modified xsi:type="dcterms:W3CDTF">2026-09-16T10:21:29Z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2026-09-16T10:09:35Z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047ff62d-439b-48b7-a172-9d620c965d2c</vt:lpwstr>
  </property>
  <property fmtid="{D5CDD505-2E9C-101B-9397-08002B2CF9AE}" pid="8" name="MSIP_Label_e463cba9-5f6c-478d-9329-7b2295e4e8ed_ContentBits">
    <vt:lpwstr>0</vt:lpwstr>
  </property>
  <property fmtid="{D5CDD505-2E9C-101B-9397-08002B2CF9AE}" pid="9" name="MSIP_Label_e463cba9-5f6c-478d-9329-7b2295e4e8ed_Tag">
    <vt:lpwstr>10, 3, 0, 1</vt:lpwstr>
  </property>
</Properties>
</file>